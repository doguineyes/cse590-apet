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studies ApET, a training-free method that compresses the visual tokens of a vision-language model. LLaVA-1.5 turns every image into 576 tokens, and ApET keeps only the ones that are hard to reconstruct from a small basis, merging the rest into similar kept tokens. Our question is whether this geometric criterion really matches what the language model needs to answer a question — and where ApET’s success actually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asked three questions. RQ1: how does ApET’s notion of redundancy relate to what a token contributes to the answer? RQ2: how much of ApET’s success comes from its error-based selection, and how much from merging? RQ3: can this analysis support a small improvement? For the first half, I committed to three things: a reproducible environment running native ApET, prepared datasets with baselines and scoring, and instrumentation of errors, selections, merges and answer responses. All three are done. RQ1’s planned diagnostics are largely complete, RQ2’s main comparisons are done but we cannot yet say which component is responsible, and RQ3 is still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The image goes through the CLIP encoder and becomes 576 tokens. ApET compresses twice: once before the language model, and again after block 16 of 32. Inside each stage it does three things: pick 10 basis tokens, keep the tokens with the highest reconstruction error, and merge each dropped token into its most similar kept token. We ask two questions. RQ1: does the error E actually rank tokens by how much they matter for the answer? We test this on 30 questions by zeroing one token, or keeping only one token. RQ2: how does complete ApET compare with simple random pruning at the same token budget? We added this comparison because early small tests suggested random could keep some answers ApET lost, and the ApET paper only randomizes the basis, not which tokens are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asks whether ApET’s reconstruction error ranks tokens by how much they matter for the answer. For each of the 576 tokens we measured its effect two ways: set it to zero, or keep only that token, and watch the probability of the answer. The top plot shows one dot per question. The median correlations with E are close to zero in every dataset, between minus 0.14 and plus 0.01. Individual questions range from about minus 0.5 to plus 0.4, so E is not useless, but its relationship to the answer is inconsistent. Even our two measures disagree with each other. The bottom figure makes this concrete: two questions about the same image share exactly the same E map, because E is computed before the question is seen, yet the tokens that matter differ by question. This is a 30-question diagnostic set, so these are descriptive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result. At an average budget of 64 tokens, ApET beats random pruning by about 21 points on TextVQA, by 2.5 points on GQA, and there is no detectable difference on MMStar, where the model itself is close to chance. The advantage comes mainly from losing fewer answers that were already correct: on TextVQA, ApET loses 10 of 44 correct answers, random loses about 29. But RQ1 showed that reconstruction error does not consistently rank individual tokens by their effect on the answer — the median correlations are about zero. So ApET works better than random, but we don’t yet know which part of it — the error-based selection, the basis, or the merging — is responsible. Note: the small 30-question set first suggested random might be as good, but that set was chosen from ApET’s own failures; the large comparison corrects that impression.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test random pruning at all? It was not in the proposal. During the RQ2 component tests, random retention sometimes kept answers that ApET lost, for example on text questions. The ApET paper only compares different ways of choosing the basis; it never compares against randomly choosing which tokens to keep. So we ran that comparison at scale, and ApET won on average. But random pruning differs from ApET in three things at once: selection, the basis, and merging. So there are two open explanations. H1: the error-based selection itself is useful, perhaps because it throws away padding and plain background, even though it ranks single tokens poorly. H2: keeping the basis and merging dropped tokens preserves information. Both could be true. Our small 30-question set cannot tell them apart, because it was chosen from ApET’s own failures, which builds in an advantage for any other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RQ3 we did a quick feasibility check using saved data only: can simple image-level statistics of E predict which images ApET will fail on? That would be needed for an adaptive token budget. The answer was no: out-of-fold AUROC was 0.41 to 0.57, close to chance, and no better than predicting the base rate. A telling detail: on GQA, 56 of 100 images had some questions ApET lost and others it kept, with exactly the same compressed input, so failures depend on the question, not just the image. On the right is the summary. What worked: ApET clearly beats random on TextVQA. What did not: E does not rank tokens by their answer effect, and the image-level predictor failed. A surprising failure: merging turned the wine brand Brolio into Bottoli, and undoing the merge for a single kept token fixed it. Still open: which component drives the gain, and whether any improvement is justified. Our validity checks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separate problems, each with its own fix. First, integration: package updates on Kaggle broke compatibility; we locked the environment, and this is resolved. Second, run-to-run variation: re-running the same compressed setting from scratch changed a few answers, while replays from saved features did not. A targeted diagnostic showed everything was identical until the merge step, so the likely cause is that the GPU adds merged tokens in a different order each run, which slightly changes 16-bit results. We keep the first runs as official results and repeat any case a conclusion depends on. Third, selection bias: our small diagnostic set was chosen from ApET’s own outcomes, which favors other methods, so we use it only for RQ1 and case studies. Finally, a planning risk: we may not fully pin down which component matters, and if so we will report a careful negative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second half, the likely focus is one question: when ApET calls a token “easy to reconstruct” and merges it away, can the language model still use that information? The model never actually rebuilds the token — it only receives a merged average. So, first, we test ApET’s assumption directly: for low-error tokens, compare the answer when the token is kept, merged, dropped, or replaced by its linear reconstruction. Second, we look inside merging: how different are the averaged tokens from the originals, and does the merge rule matter when the kept tokens are fixed? The direction is still being finalized. The timeline: choose the comparison by November 6, a pilot by the 13th, the main run by the 20th, and an RQ3 go/no-go by the 24th. The success criterion is modest and measurable: one controlled comparison on at least 100 unselected questions, with matched budgets, three seeds and paired intervals; a clear negative result counts. We are not spending time on better basis selection, because ApET’s own ablation shows random and FPS bases perform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1" cy="888972"/>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6572"/>
            <a:ext cx="10566400" cy="4038628"/>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1" cy="888972"/>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6572"/>
            <a:ext cx="10566400" cy="4038628"/>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A55C"/>
                </a:solidFill>
                <a:latin typeface="Arial" pitchFamily="34" charset="0"/>
                <a:ea typeface="Arial" pitchFamily="34" charset="-122"/>
                <a:cs typeface="Arial" pitchFamily="34" charset="-120"/>
              </a:rPr>
              <a:t>CSE590 · MIDTERM PROGRESS</a:t>
            </a:r>
            <a:endParaRPr lang="en-US" sz="1400" dirty="0"/>
          </a:p>
        </p:txBody>
      </p:sp>
      <p:sp>
        <p:nvSpPr>
          <p:cNvPr id="3" name="Text 1"/>
          <p:cNvSpPr/>
          <p:nvPr>
            <p:ph type="title"/>
          </p:nvPr>
        </p:nvSpPr>
        <p:spPr>
          <a:xfrm>
            <a:off x="812800" y="1239497"/>
            <a:ext cx="11379200" cy="695949"/>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4F1EA"/>
                </a:solidFill>
                <a:latin typeface="Georgia" pitchFamily="18" charset="0"/>
                <a:ea typeface="Georgia" pitchFamily="18" charset="-122"/>
                <a:cs typeface="Georgia" pitchFamily="18" charset="-120"/>
              </a:rPr>
              <a:t>When and why does ApET work?</a:t>
            </a:r>
            <a:endParaRPr lang="en-US" sz="4800" dirty="0"/>
          </a:p>
        </p:txBody>
      </p:sp>
      <p:sp>
        <p:nvSpPr>
          <p:cNvPr id="4" name="Text 2"/>
          <p:cNvSpPr/>
          <p:nvPr/>
        </p:nvSpPr>
        <p:spPr>
          <a:xfrm>
            <a:off x="812800" y="2087846"/>
            <a:ext cx="9156701" cy="345423"/>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F"/>
                </a:solidFill>
                <a:latin typeface="Arial" pitchFamily="34" charset="0"/>
                <a:ea typeface="Arial" pitchFamily="34" charset="-122"/>
                <a:cs typeface="Arial" pitchFamily="34" charset="-120"/>
              </a:rPr>
              <a:t>Understanding reconstruction-based visual token compression in LLaVA-1.5-7B</a:t>
            </a:r>
            <a:endParaRPr lang="en-US" sz="1800" dirty="0"/>
          </a:p>
        </p:txBody>
      </p:sp>
      <p:sp>
        <p:nvSpPr>
          <p:cNvPr id="5" name="Shape 3"/>
          <p:cNvSpPr/>
          <p:nvPr/>
        </p:nvSpPr>
        <p:spPr>
          <a:xfrm>
            <a:off x="825500" y="3512854"/>
            <a:ext cx="0" cy="1214041"/>
          </a:xfrm>
          <a:prstGeom prst="line">
            <a:avLst/>
          </a:prstGeom>
          <a:noFill/>
          <a:ln w="25400">
            <a:solidFill>
              <a:srgbClr val="E8A55C"/>
            </a:solidFill>
            <a:prstDash val="solid"/>
          </a:ln>
        </p:spPr>
      </p:sp>
      <p:sp>
        <p:nvSpPr>
          <p:cNvPr id="6" name="Text 4"/>
          <p:cNvSpPr/>
          <p:nvPr/>
        </p:nvSpPr>
        <p:spPr>
          <a:xfrm>
            <a:off x="1041400" y="3563654"/>
            <a:ext cx="3183034"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55C"/>
                </a:solidFill>
                <a:latin typeface="Arial" pitchFamily="34" charset="0"/>
                <a:ea typeface="Arial" pitchFamily="34" charset="-122"/>
                <a:cs typeface="Arial" pitchFamily="34" charset="-120"/>
              </a:rPr>
              <a:t>THE COST</a:t>
            </a:r>
            <a:endParaRPr lang="en-US" sz="1200" dirty="0"/>
          </a:p>
        </p:txBody>
      </p:sp>
      <p:sp>
        <p:nvSpPr>
          <p:cNvPr id="7" name="Text 5"/>
          <p:cNvSpPr/>
          <p:nvPr/>
        </p:nvSpPr>
        <p:spPr>
          <a:xfrm>
            <a:off x="1041400" y="3853203"/>
            <a:ext cx="3183034" cy="84829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1EA"/>
                </a:solidFill>
                <a:latin typeface="Arial" pitchFamily="34" charset="0"/>
                <a:ea typeface="Arial" pitchFamily="34" charset="-122"/>
                <a:cs typeface="Arial" pitchFamily="34" charset="-120"/>
              </a:rPr>
              <a:t>Each image becomes 576 visual tokens, which dominate inference cost.</a:t>
            </a:r>
            <a:endParaRPr lang="en-US" sz="1600" dirty="0"/>
          </a:p>
        </p:txBody>
      </p:sp>
      <p:sp>
        <p:nvSpPr>
          <p:cNvPr id="8" name="Shape 6"/>
          <p:cNvSpPr/>
          <p:nvPr/>
        </p:nvSpPr>
        <p:spPr>
          <a:xfrm>
            <a:off x="4449224" y="3512854"/>
            <a:ext cx="0" cy="1214041"/>
          </a:xfrm>
          <a:prstGeom prst="line">
            <a:avLst/>
          </a:prstGeom>
          <a:noFill/>
          <a:ln w="25400">
            <a:solidFill>
              <a:srgbClr val="E8A55C"/>
            </a:solidFill>
            <a:prstDash val="solid"/>
          </a:ln>
        </p:spPr>
      </p:sp>
      <p:sp>
        <p:nvSpPr>
          <p:cNvPr id="9" name="Text 7"/>
          <p:cNvSpPr/>
          <p:nvPr/>
        </p:nvSpPr>
        <p:spPr>
          <a:xfrm>
            <a:off x="4665124" y="3563654"/>
            <a:ext cx="318306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55C"/>
                </a:solidFill>
                <a:latin typeface="Arial" pitchFamily="34" charset="0"/>
                <a:ea typeface="Arial" pitchFamily="34" charset="-122"/>
                <a:cs typeface="Arial" pitchFamily="34" charset="-120"/>
              </a:rPr>
              <a:t>APET’S IDEA</a:t>
            </a:r>
            <a:endParaRPr lang="en-US" sz="1200" dirty="0"/>
          </a:p>
        </p:txBody>
      </p:sp>
      <p:sp>
        <p:nvSpPr>
          <p:cNvPr id="10" name="Text 8"/>
          <p:cNvSpPr/>
          <p:nvPr/>
        </p:nvSpPr>
        <p:spPr>
          <a:xfrm>
            <a:off x="4665124" y="3853203"/>
            <a:ext cx="3183063" cy="84829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1EA"/>
                </a:solidFill>
                <a:latin typeface="Arial" pitchFamily="34" charset="0"/>
                <a:ea typeface="Arial" pitchFamily="34" charset="-122"/>
                <a:cs typeface="Arial" pitchFamily="34" charset="-120"/>
              </a:rPr>
              <a:t>Keep tokens that are hard to reconstruct linearly; merge the easy ones away.</a:t>
            </a:r>
            <a:endParaRPr lang="en-US" sz="1600" dirty="0"/>
          </a:p>
        </p:txBody>
      </p:sp>
      <p:sp>
        <p:nvSpPr>
          <p:cNvPr id="11" name="Shape 9"/>
          <p:cNvSpPr/>
          <p:nvPr/>
        </p:nvSpPr>
        <p:spPr>
          <a:xfrm>
            <a:off x="8072976" y="3512854"/>
            <a:ext cx="0" cy="1214041"/>
          </a:xfrm>
          <a:prstGeom prst="line">
            <a:avLst/>
          </a:prstGeom>
          <a:noFill/>
          <a:ln w="25400">
            <a:solidFill>
              <a:srgbClr val="E8A55C"/>
            </a:solidFill>
            <a:prstDash val="solid"/>
          </a:ln>
        </p:spPr>
      </p:sp>
      <p:sp>
        <p:nvSpPr>
          <p:cNvPr id="12" name="Text 10"/>
          <p:cNvSpPr/>
          <p:nvPr/>
        </p:nvSpPr>
        <p:spPr>
          <a:xfrm>
            <a:off x="8288876" y="3563654"/>
            <a:ext cx="3183034"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55C"/>
                </a:solidFill>
                <a:latin typeface="Arial" pitchFamily="34" charset="0"/>
                <a:ea typeface="Arial" pitchFamily="34" charset="-122"/>
                <a:cs typeface="Arial" pitchFamily="34" charset="-120"/>
              </a:rPr>
              <a:t>OUR QUESTION</a:t>
            </a:r>
            <a:endParaRPr lang="en-US" sz="1200" dirty="0"/>
          </a:p>
        </p:txBody>
      </p:sp>
      <p:sp>
        <p:nvSpPr>
          <p:cNvPr id="13" name="Text 11"/>
          <p:cNvSpPr/>
          <p:nvPr/>
        </p:nvSpPr>
        <p:spPr>
          <a:xfrm>
            <a:off x="8288876" y="3853203"/>
            <a:ext cx="3183034" cy="573995"/>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1EA"/>
                </a:solidFill>
                <a:latin typeface="Arial" pitchFamily="34" charset="0"/>
                <a:ea typeface="Arial" pitchFamily="34" charset="-122"/>
                <a:cs typeface="Arial" pitchFamily="34" charset="-120"/>
              </a:rPr>
              <a:t>Does “hard to reconstruct” match what the model needs to answer?</a:t>
            </a:r>
            <a:endParaRPr lang="en-US" sz="1600" dirty="0"/>
          </a:p>
        </p:txBody>
      </p:sp>
      <p:sp>
        <p:nvSpPr>
          <p:cNvPr id="14" name="Text 12"/>
          <p:cNvSpPr/>
          <p:nvPr/>
        </p:nvSpPr>
        <p:spPr>
          <a:xfrm>
            <a:off x="812800" y="58318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F"/>
                </a:solidFill>
                <a:latin typeface="Arial" pitchFamily="34" charset="0"/>
                <a:ea typeface="Arial" pitchFamily="34" charset="-122"/>
                <a:cs typeface="Arial" pitchFamily="34" charset="-120"/>
              </a:rPr>
              <a:t>Peng Chen · SBU ID 117702477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7242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Georgia" pitchFamily="18" charset="0"/>
                <a:ea typeface="Georgia" pitchFamily="18" charset="-122"/>
                <a:cs typeface="Georgia" pitchFamily="18" charset="-120"/>
              </a:rPr>
              <a:t>Three research questions; first-half goals met</a:t>
            </a:r>
            <a:endParaRPr lang="en-US" sz="3200" dirty="0"/>
          </a:p>
        </p:txBody>
      </p:sp>
      <p:sp>
        <p:nvSpPr>
          <p:cNvPr id="3" name="Shape 1"/>
          <p:cNvSpPr/>
          <p:nvPr/>
        </p:nvSpPr>
        <p:spPr>
          <a:xfrm>
            <a:off x="815975" y="1491598"/>
            <a:ext cx="5845799" cy="1104333"/>
          </a:xfrm>
          <a:prstGeom prst="roundRect">
            <a:avLst>
              <a:gd name="adj" fmla="val 6613"/>
            </a:avLst>
          </a:prstGeom>
          <a:solidFill>
            <a:srgbClr val="FDFCF9"/>
          </a:solidFill>
          <a:ln w="6350">
            <a:solidFill>
              <a:srgbClr val="DDD8CE"/>
            </a:solidFill>
            <a:prstDash val="solid"/>
          </a:ln>
        </p:spPr>
      </p:sp>
      <p:sp>
        <p:nvSpPr>
          <p:cNvPr id="4" name="Text 2"/>
          <p:cNvSpPr/>
          <p:nvPr/>
        </p:nvSpPr>
        <p:spPr>
          <a:xfrm>
            <a:off x="1021443" y="1664040"/>
            <a:ext cx="4700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RQ1</a:t>
            </a:r>
            <a:endParaRPr lang="en-US" sz="1500" dirty="0"/>
          </a:p>
        </p:txBody>
      </p:sp>
      <p:sp>
        <p:nvSpPr>
          <p:cNvPr id="5" name="Text 3"/>
          <p:cNvSpPr/>
          <p:nvPr/>
        </p:nvSpPr>
        <p:spPr>
          <a:xfrm>
            <a:off x="1540159" y="1646266"/>
            <a:ext cx="2337509" cy="264149"/>
          </a:xfrm>
          <a:custGeom>
            <a:avLst/>
            <a:gdLst/>
            <a:ahLst/>
            <a:cxnLst/>
            <a:rect l="l" t="t" r="r" b="b"/>
            <a:pathLst>
              <a:path w="2337509" h="264149">
                <a:moveTo>
                  <a:pt x="132074" y="0"/>
                </a:moveTo>
                <a:lnTo>
                  <a:pt x="2205435" y="0"/>
                </a:lnTo>
                <a:arcTo hR="132074" wR="132074" stAng="16200000" swAng="5400000"/>
                <a:lnTo>
                  <a:pt x="2337509" y="132074"/>
                </a:lnTo>
                <a:arcTo hR="132074" wR="132074" stAng="0" swAng="5400000"/>
                <a:lnTo>
                  <a:pt x="132074" y="264149"/>
                </a:lnTo>
                <a:arcTo hR="132074" wR="132074" stAng="5400000" swAng="5400000"/>
                <a:lnTo>
                  <a:pt x="0" y="132074"/>
                </a:lnTo>
                <a:arcTo hR="132074" wR="132074" stAng="10800000" swAng="5400000"/>
                <a:close/>
              </a:path>
            </a:pathLst>
          </a:custGeom>
          <a:solidFill>
            <a:srgbClr val="D5E8DA"/>
          </a:solidFill>
          <a:ln/>
        </p:spPr>
        <p:txBody>
          <a:bodyPr wrap="none" lIns="0" tIns="0" rIns="0" bIns="0" rtlCol="0" anchor="ctr">
            <a:normAutofit/>
          </a:bodyPr>
          <a:lstStyle/>
          <a:p>
            <a:pPr algn="ctr" indent="0" marL="0">
              <a:lnSpc>
                <a:spcPts val="1680"/>
              </a:lnSpc>
              <a:buNone/>
            </a:pPr>
            <a:r>
              <a:rPr lang="en-US" sz="1200" b="1" dirty="0">
                <a:solidFill>
                  <a:srgbClr val="1F4E35"/>
                </a:solidFill>
                <a:latin typeface="Arial" pitchFamily="34" charset="0"/>
                <a:ea typeface="Arial" pitchFamily="34" charset="-122"/>
                <a:cs typeface="Arial" pitchFamily="34" charset="-120"/>
              </a:rPr>
              <a:t>Diagnostics largely complete</a:t>
            </a:r>
            <a:endParaRPr lang="en-US" sz="1200" dirty="0"/>
          </a:p>
        </p:txBody>
      </p:sp>
      <p:sp>
        <p:nvSpPr>
          <p:cNvPr id="6" name="Text 4"/>
          <p:cNvSpPr/>
          <p:nvPr/>
        </p:nvSpPr>
        <p:spPr>
          <a:xfrm>
            <a:off x="1021443" y="1961215"/>
            <a:ext cx="5597909" cy="50544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Arial" pitchFamily="34" charset="0"/>
                <a:ea typeface="Arial" pitchFamily="34" charset="-122"/>
                <a:cs typeface="Arial" pitchFamily="34" charset="-120"/>
              </a:rPr>
              <a:t>How does reconstruction-based redundancy relate to a token’s contribution to the answer, across tasks and layers?</a:t>
            </a:r>
            <a:endParaRPr lang="en-US" sz="1400" dirty="0"/>
          </a:p>
        </p:txBody>
      </p:sp>
      <p:sp>
        <p:nvSpPr>
          <p:cNvPr id="7" name="Shape 5"/>
          <p:cNvSpPr/>
          <p:nvPr/>
        </p:nvSpPr>
        <p:spPr>
          <a:xfrm>
            <a:off x="815975" y="2729281"/>
            <a:ext cx="5845799" cy="1104333"/>
          </a:xfrm>
          <a:prstGeom prst="roundRect">
            <a:avLst>
              <a:gd name="adj" fmla="val 6613"/>
            </a:avLst>
          </a:prstGeom>
          <a:solidFill>
            <a:srgbClr val="FDFCF9"/>
          </a:solidFill>
          <a:ln w="6350">
            <a:solidFill>
              <a:srgbClr val="DDD8CE"/>
            </a:solidFill>
            <a:prstDash val="solid"/>
          </a:ln>
        </p:spPr>
      </p:sp>
      <p:sp>
        <p:nvSpPr>
          <p:cNvPr id="8" name="Text 6"/>
          <p:cNvSpPr/>
          <p:nvPr/>
        </p:nvSpPr>
        <p:spPr>
          <a:xfrm>
            <a:off x="1021443" y="2901724"/>
            <a:ext cx="4700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RQ2</a:t>
            </a:r>
            <a:endParaRPr lang="en-US" sz="1500" dirty="0"/>
          </a:p>
        </p:txBody>
      </p:sp>
      <p:sp>
        <p:nvSpPr>
          <p:cNvPr id="9" name="Text 7"/>
          <p:cNvSpPr/>
          <p:nvPr/>
        </p:nvSpPr>
        <p:spPr>
          <a:xfrm>
            <a:off x="1540159" y="2883950"/>
            <a:ext cx="2861667" cy="264149"/>
          </a:xfrm>
          <a:custGeom>
            <a:avLst/>
            <a:gdLst/>
            <a:ahLst/>
            <a:cxnLst/>
            <a:rect l="l" t="t" r="r" b="b"/>
            <a:pathLst>
              <a:path w="2861667" h="264149">
                <a:moveTo>
                  <a:pt x="132074" y="0"/>
                </a:moveTo>
                <a:lnTo>
                  <a:pt x="2729593" y="0"/>
                </a:lnTo>
                <a:arcTo hR="132074" wR="132074" stAng="16200000" swAng="5400000"/>
                <a:lnTo>
                  <a:pt x="2861667" y="132074"/>
                </a:lnTo>
                <a:arcTo hR="132074" wR="132074" stAng="0" swAng="5400000"/>
                <a:lnTo>
                  <a:pt x="132074" y="264149"/>
                </a:lnTo>
                <a:arcTo hR="132074" wR="132074" stAng="5400000" swAng="5400000"/>
                <a:lnTo>
                  <a:pt x="0" y="132074"/>
                </a:lnTo>
                <a:arcTo hR="132074" wR="132074" stAng="10800000" swAng="5400000"/>
                <a:close/>
              </a:path>
            </a:pathLst>
          </a:custGeom>
          <a:solidFill>
            <a:srgbClr val="F2D48F"/>
          </a:solidFill>
          <a:ln/>
        </p:spPr>
        <p:txBody>
          <a:bodyPr wrap="none" lIns="0" tIns="0" rIns="0" bIns="0" rtlCol="0" anchor="ctr">
            <a:normAutofit/>
          </a:bodyPr>
          <a:lstStyle/>
          <a:p>
            <a:pPr algn="ctr" indent="0" marL="0">
              <a:lnSpc>
                <a:spcPts val="1680"/>
              </a:lnSpc>
              <a:buNone/>
            </a:pPr>
            <a:r>
              <a:rPr lang="en-US" sz="1200" b="1" dirty="0">
                <a:solidFill>
                  <a:srgbClr val="5C4400"/>
                </a:solidFill>
                <a:latin typeface="Arial" pitchFamily="34" charset="0"/>
                <a:ea typeface="Arial" pitchFamily="34" charset="-122"/>
                <a:cs typeface="Arial" pitchFamily="34" charset="-120"/>
              </a:rPr>
              <a:t>Comparisons done; attribution open</a:t>
            </a:r>
            <a:endParaRPr lang="en-US" sz="1200" dirty="0"/>
          </a:p>
        </p:txBody>
      </p:sp>
      <p:sp>
        <p:nvSpPr>
          <p:cNvPr id="10" name="Text 8"/>
          <p:cNvSpPr/>
          <p:nvPr/>
        </p:nvSpPr>
        <p:spPr>
          <a:xfrm>
            <a:off x="1021443" y="3198898"/>
            <a:ext cx="5597909" cy="50544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Arial" pitchFamily="34" charset="0"/>
                <a:ea typeface="Arial" pitchFamily="34" charset="-122"/>
                <a:cs typeface="Arial" pitchFamily="34" charset="-120"/>
              </a:rPr>
              <a:t>How much of ApET’s effectiveness comes from error-based selection, and how much from merging?</a:t>
            </a:r>
            <a:endParaRPr lang="en-US" sz="1400" dirty="0"/>
          </a:p>
        </p:txBody>
      </p:sp>
      <p:sp>
        <p:nvSpPr>
          <p:cNvPr id="11" name="Shape 9"/>
          <p:cNvSpPr/>
          <p:nvPr/>
        </p:nvSpPr>
        <p:spPr>
          <a:xfrm>
            <a:off x="815975" y="3966965"/>
            <a:ext cx="5845799" cy="1104333"/>
          </a:xfrm>
          <a:prstGeom prst="roundRect">
            <a:avLst>
              <a:gd name="adj" fmla="val 6613"/>
            </a:avLst>
          </a:prstGeom>
          <a:solidFill>
            <a:srgbClr val="FDFCF9"/>
          </a:solidFill>
          <a:ln w="6350">
            <a:solidFill>
              <a:srgbClr val="DDD8CE"/>
            </a:solidFill>
            <a:prstDash val="solid"/>
          </a:ln>
        </p:spPr>
      </p:sp>
      <p:sp>
        <p:nvSpPr>
          <p:cNvPr id="12" name="Text 10"/>
          <p:cNvSpPr/>
          <p:nvPr/>
        </p:nvSpPr>
        <p:spPr>
          <a:xfrm>
            <a:off x="1021443" y="4139407"/>
            <a:ext cx="4700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RQ3</a:t>
            </a:r>
            <a:endParaRPr lang="en-US" sz="1500" dirty="0"/>
          </a:p>
        </p:txBody>
      </p:sp>
      <p:sp>
        <p:nvSpPr>
          <p:cNvPr id="13" name="Text 11"/>
          <p:cNvSpPr/>
          <p:nvPr/>
        </p:nvSpPr>
        <p:spPr>
          <a:xfrm>
            <a:off x="1540159" y="4121632"/>
            <a:ext cx="2108540" cy="264149"/>
          </a:xfrm>
          <a:custGeom>
            <a:avLst/>
            <a:gdLst/>
            <a:ahLst/>
            <a:cxnLst/>
            <a:rect l="l" t="t" r="r" b="b"/>
            <a:pathLst>
              <a:path w="2108540" h="264149">
                <a:moveTo>
                  <a:pt x="132074" y="0"/>
                </a:moveTo>
                <a:lnTo>
                  <a:pt x="1976466" y="0"/>
                </a:lnTo>
                <a:arcTo hR="132074" wR="132074" stAng="16200000" swAng="5400000"/>
                <a:lnTo>
                  <a:pt x="2108540" y="132074"/>
                </a:lnTo>
                <a:arcTo hR="132074" wR="132074" stAng="0" swAng="5400000"/>
                <a:lnTo>
                  <a:pt x="132074" y="264149"/>
                </a:lnTo>
                <a:arcTo hR="132074" wR="132074" stAng="5400000" swAng="5400000"/>
                <a:lnTo>
                  <a:pt x="0" y="132074"/>
                </a:lnTo>
                <a:arcTo hR="132074" wR="132074" stAng="10800000" swAng="5400000"/>
                <a:close/>
              </a:path>
            </a:pathLst>
          </a:custGeom>
          <a:solidFill>
            <a:srgbClr val="DCE2EA"/>
          </a:solidFill>
          <a:ln/>
        </p:spPr>
        <p:txBody>
          <a:bodyPr wrap="none" lIns="0" tIns="0" rIns="0" bIns="0" rtlCol="0" anchor="ctr">
            <a:normAutofit/>
          </a:bodyPr>
          <a:lstStyle/>
          <a:p>
            <a:pPr algn="ctr" indent="0" marL="0">
              <a:lnSpc>
                <a:spcPts val="1680"/>
              </a:lnSpc>
              <a:buNone/>
            </a:pPr>
            <a:r>
              <a:rPr lang="en-US" sz="1200" b="1" dirty="0">
                <a:solidFill>
                  <a:srgbClr val="3D4A5C"/>
                </a:solidFill>
                <a:latin typeface="Arial" pitchFamily="34" charset="0"/>
                <a:ea typeface="Arial" pitchFamily="34" charset="-122"/>
                <a:cs typeface="Arial" pitchFamily="34" charset="-120"/>
              </a:rPr>
              <a:t>Exploratory; none chosen</a:t>
            </a:r>
            <a:endParaRPr lang="en-US" sz="1200" dirty="0"/>
          </a:p>
        </p:txBody>
      </p:sp>
      <p:sp>
        <p:nvSpPr>
          <p:cNvPr id="14" name="Text 12"/>
          <p:cNvSpPr/>
          <p:nvPr/>
        </p:nvSpPr>
        <p:spPr>
          <a:xfrm>
            <a:off x="1021443" y="4436581"/>
            <a:ext cx="5597909" cy="50544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Arial" pitchFamily="34" charset="0"/>
                <a:ea typeface="Arial" pitchFamily="34" charset="-122"/>
                <a:cs typeface="Arial" pitchFamily="34" charset="-120"/>
              </a:rPr>
              <a:t>Can the analysis support a lightweight improvement, such as an adaptive budget?</a:t>
            </a:r>
            <a:endParaRPr lang="en-US" sz="1400" dirty="0"/>
          </a:p>
        </p:txBody>
      </p:sp>
      <p:sp>
        <p:nvSpPr>
          <p:cNvPr id="15" name="Shape 13"/>
          <p:cNvSpPr/>
          <p:nvPr/>
        </p:nvSpPr>
        <p:spPr>
          <a:xfrm>
            <a:off x="6969749" y="1488423"/>
            <a:ext cx="4409451" cy="3586049"/>
          </a:xfrm>
          <a:prstGeom prst="roundRect">
            <a:avLst>
              <a:gd name="adj" fmla="val 2125"/>
            </a:avLst>
          </a:prstGeom>
          <a:solidFill>
            <a:srgbClr val="1B2A41"/>
          </a:solidFill>
          <a:ln/>
        </p:spPr>
      </p:sp>
      <p:sp>
        <p:nvSpPr>
          <p:cNvPr id="16" name="Text 14"/>
          <p:cNvSpPr/>
          <p:nvPr/>
        </p:nvSpPr>
        <p:spPr>
          <a:xfrm>
            <a:off x="7223749" y="1717023"/>
            <a:ext cx="4018495"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55C"/>
                </a:solidFill>
                <a:latin typeface="Arial" pitchFamily="34" charset="0"/>
                <a:ea typeface="Arial" pitchFamily="34" charset="-122"/>
                <a:cs typeface="Arial" pitchFamily="34" charset="-120"/>
              </a:rPr>
              <a:t>FIRST-HALF OBJECTIVES · ALL MET</a:t>
            </a:r>
            <a:endParaRPr lang="en-US" sz="1200" dirty="0"/>
          </a:p>
        </p:txBody>
      </p:sp>
      <p:pic>
        <p:nvPicPr>
          <p:cNvPr id="17" name="Image 0" descr="CheckCircle">    </p:cNvPr>
          <p:cNvPicPr>
            <a:picLocks noChangeAspect="1"/>
          </p:cNvPicPr>
          <p:nvPr/>
        </p:nvPicPr>
        <p:blipFill>
          <a:blip r:embed="rId1"/>
          <a:srcRect l="-978" r="-978" t="0" b="0"/>
          <a:stretch/>
        </p:blipFill>
        <p:spPr>
          <a:xfrm>
            <a:off x="7223749" y="2082772"/>
            <a:ext cx="135958" cy="228600"/>
          </a:xfrm>
          <a:prstGeom prst="rect">
            <a:avLst/>
          </a:prstGeom>
        </p:spPr>
      </p:pic>
      <p:sp>
        <p:nvSpPr>
          <p:cNvPr id="18" name="Text 15"/>
          <p:cNvSpPr/>
          <p:nvPr/>
        </p:nvSpPr>
        <p:spPr>
          <a:xfrm>
            <a:off x="7461307" y="2082772"/>
            <a:ext cx="3773810" cy="50544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Arial" pitchFamily="34" charset="0"/>
                <a:ea typeface="Arial" pitchFamily="34" charset="-122"/>
                <a:cs typeface="Arial" pitchFamily="34" charset="-120"/>
              </a:rPr>
              <a:t>Run native ApET and uncompressed LLaVA-1.5 in a reproducible environment</a:t>
            </a:r>
            <a:endParaRPr lang="en-US" sz="1400" dirty="0"/>
          </a:p>
        </p:txBody>
      </p:sp>
      <p:pic>
        <p:nvPicPr>
          <p:cNvPr id="19" name="Image 1" descr="CheckCircle">    </p:cNvPr>
          <p:cNvPicPr>
            <a:picLocks noChangeAspect="1"/>
          </p:cNvPicPr>
          <p:nvPr/>
        </p:nvPicPr>
        <p:blipFill>
          <a:blip r:embed="rId2"/>
          <a:srcRect l="-967" r="-967" t="0" b="0"/>
          <a:stretch/>
        </p:blipFill>
        <p:spPr>
          <a:xfrm>
            <a:off x="7223749" y="2715221"/>
            <a:ext cx="155348" cy="228600"/>
          </a:xfrm>
          <a:prstGeom prst="rect">
            <a:avLst/>
          </a:prstGeom>
        </p:spPr>
      </p:pic>
      <p:sp>
        <p:nvSpPr>
          <p:cNvPr id="20" name="Text 16"/>
          <p:cNvSpPr/>
          <p:nvPr/>
        </p:nvSpPr>
        <p:spPr>
          <a:xfrm>
            <a:off x="7480697" y="2715221"/>
            <a:ext cx="3753838" cy="50544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Arial" pitchFamily="34" charset="0"/>
                <a:ea typeface="Arial" pitchFamily="34" charset="-122"/>
                <a:cs typeface="Arial" pitchFamily="34" charset="-120"/>
              </a:rPr>
              <a:t>Prepare GQA, MMStar and TextVQA subsets, baselines and scoring</a:t>
            </a:r>
            <a:endParaRPr lang="en-US" sz="1400" dirty="0"/>
          </a:p>
        </p:txBody>
      </p:sp>
      <p:pic>
        <p:nvPicPr>
          <p:cNvPr id="21" name="Image 2" descr="CheckCircle">    </p:cNvPr>
          <p:cNvPicPr>
            <a:picLocks noChangeAspect="1"/>
          </p:cNvPicPr>
          <p:nvPr/>
        </p:nvPicPr>
        <p:blipFill>
          <a:blip r:embed="rId3"/>
          <a:srcRect l="-645" r="-645" t="0" b="0"/>
          <a:stretch/>
        </p:blipFill>
        <p:spPr>
          <a:xfrm>
            <a:off x="7223749" y="3347669"/>
            <a:ext cx="173661" cy="228600"/>
          </a:xfrm>
          <a:prstGeom prst="rect">
            <a:avLst/>
          </a:prstGeom>
        </p:spPr>
      </p:pic>
      <p:sp>
        <p:nvSpPr>
          <p:cNvPr id="22" name="Text 17"/>
          <p:cNvSpPr/>
          <p:nvPr/>
        </p:nvSpPr>
        <p:spPr>
          <a:xfrm>
            <a:off x="7499010" y="3347669"/>
            <a:ext cx="3734976" cy="50544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Arial" pitchFamily="34" charset="0"/>
                <a:ea typeface="Arial" pitchFamily="34" charset="-122"/>
                <a:cs typeface="Arial" pitchFamily="34" charset="-120"/>
              </a:rPr>
              <a:t>Instrument errors, selections, merges and answer responses</a:t>
            </a:r>
            <a:endParaRPr lang="en-US" sz="1400" dirty="0"/>
          </a:p>
        </p:txBody>
      </p:sp>
      <p:sp>
        <p:nvSpPr>
          <p:cNvPr id="23" name="Text 18"/>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From the project proposal; status as of the midterm.</a:t>
            </a:r>
            <a:r>
              <a:rPr lang="en-US" sz="1200" dirty="0">
                <a:solidFill>
                  <a:srgbClr val="9AA6B6"/>
                </a:solidFill>
                <a:latin typeface="Arial" pitchFamily="34" charset="0"/>
                <a:ea typeface="Arial" pitchFamily="34" charset="-122"/>
                <a:cs typeface="Arial" pitchFamily="34" charset="-120"/>
              </a:rPr>
              <a:t> · 2 / 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91944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Georgia" pitchFamily="18" charset="0"/>
                <a:ea typeface="Georgia" pitchFamily="18" charset="-122"/>
                <a:cs typeface="Georgia" pitchFamily="18" charset="-120"/>
              </a:rPr>
              <a:t>ApET keeps hard-to-reconstruct tokens and merges the rest</a:t>
            </a:r>
            <a:endParaRPr lang="en-US" sz="3200" dirty="0"/>
          </a:p>
        </p:txBody>
      </p:sp>
      <p:sp>
        <p:nvSpPr>
          <p:cNvPr id="3" name="Shape 1"/>
          <p:cNvSpPr/>
          <p:nvPr/>
        </p:nvSpPr>
        <p:spPr>
          <a:xfrm>
            <a:off x="819150" y="1896439"/>
            <a:ext cx="1427219" cy="736572"/>
          </a:xfrm>
          <a:prstGeom prst="roundRect">
            <a:avLst>
              <a:gd name="adj" fmla="val 9483"/>
            </a:avLst>
          </a:prstGeom>
          <a:solidFill>
            <a:srgbClr val="FDFCF9"/>
          </a:solidFill>
          <a:ln w="12700">
            <a:solidFill>
              <a:srgbClr val="9AA6B6"/>
            </a:solidFill>
            <a:prstDash val="solid"/>
          </a:ln>
        </p:spPr>
      </p:sp>
      <p:sp>
        <p:nvSpPr>
          <p:cNvPr id="4" name="Text 2"/>
          <p:cNvSpPr/>
          <p:nvPr/>
        </p:nvSpPr>
        <p:spPr>
          <a:xfrm>
            <a:off x="1246434" y="2029789"/>
            <a:ext cx="572623"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1"/>
                </a:solidFill>
                <a:latin typeface="Arial" pitchFamily="34" charset="0"/>
                <a:ea typeface="Arial" pitchFamily="34" charset="-122"/>
                <a:cs typeface="Arial" pitchFamily="34" charset="-120"/>
              </a:rPr>
              <a:t>Image</a:t>
            </a:r>
            <a:endParaRPr lang="en-US" sz="1300" dirty="0"/>
          </a:p>
        </p:txBody>
      </p:sp>
      <p:sp>
        <p:nvSpPr>
          <p:cNvPr id="5" name="Text 3"/>
          <p:cNvSpPr/>
          <p:nvPr/>
        </p:nvSpPr>
        <p:spPr>
          <a:xfrm>
            <a:off x="1174214" y="2286313"/>
            <a:ext cx="717062"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336×336</a:t>
            </a:r>
            <a:endParaRPr lang="en-US" sz="1200" dirty="0"/>
          </a:p>
        </p:txBody>
      </p:sp>
      <p:pic>
        <p:nvPicPr>
          <p:cNvPr id="6" name="Image 0" descr="arrow-right">    </p:cNvPr>
          <p:cNvPicPr>
            <a:picLocks noChangeAspect="1"/>
          </p:cNvPicPr>
          <p:nvPr/>
        </p:nvPicPr>
        <p:blipFill>
          <a:blip r:embed="rId1"/>
          <a:srcRect l="0" r="0" t="0" b="0"/>
          <a:stretch/>
        </p:blipFill>
        <p:spPr>
          <a:xfrm>
            <a:off x="2328919" y="2207561"/>
            <a:ext cx="228600" cy="114300"/>
          </a:xfrm>
          <a:prstGeom prst="rect">
            <a:avLst/>
          </a:prstGeom>
        </p:spPr>
      </p:pic>
      <p:sp>
        <p:nvSpPr>
          <p:cNvPr id="7" name="Shape 4"/>
          <p:cNvSpPr/>
          <p:nvPr/>
        </p:nvSpPr>
        <p:spPr>
          <a:xfrm>
            <a:off x="2640069" y="1896439"/>
            <a:ext cx="1427248" cy="736572"/>
          </a:xfrm>
          <a:prstGeom prst="roundRect">
            <a:avLst>
              <a:gd name="adj" fmla="val 9483"/>
            </a:avLst>
          </a:prstGeom>
          <a:solidFill>
            <a:srgbClr val="FDFCF9"/>
          </a:solidFill>
          <a:ln w="12700">
            <a:solidFill>
              <a:srgbClr val="9AA6B6"/>
            </a:solidFill>
            <a:prstDash val="solid"/>
          </a:ln>
        </p:spPr>
      </p:sp>
      <p:sp>
        <p:nvSpPr>
          <p:cNvPr id="8" name="Text 5"/>
          <p:cNvSpPr/>
          <p:nvPr/>
        </p:nvSpPr>
        <p:spPr>
          <a:xfrm>
            <a:off x="2716933" y="2029789"/>
            <a:ext cx="1273493"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1"/>
                </a:solidFill>
                <a:latin typeface="Arial" pitchFamily="34" charset="0"/>
                <a:ea typeface="Arial" pitchFamily="34" charset="-122"/>
                <a:cs typeface="Arial" pitchFamily="34" charset="-120"/>
              </a:rPr>
              <a:t>CLIP encoder</a:t>
            </a:r>
            <a:endParaRPr lang="en-US" sz="1300" dirty="0"/>
          </a:p>
        </p:txBody>
      </p:sp>
      <p:sp>
        <p:nvSpPr>
          <p:cNvPr id="9" name="Text 6"/>
          <p:cNvSpPr/>
          <p:nvPr/>
        </p:nvSpPr>
        <p:spPr>
          <a:xfrm>
            <a:off x="2906307" y="2286313"/>
            <a:ext cx="894772"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576 tokens</a:t>
            </a:r>
            <a:endParaRPr lang="en-US" sz="1200" dirty="0"/>
          </a:p>
        </p:txBody>
      </p:sp>
      <p:pic>
        <p:nvPicPr>
          <p:cNvPr id="10" name="Image 1" descr="arrow-right">    </p:cNvPr>
          <p:cNvPicPr>
            <a:picLocks noChangeAspect="1"/>
          </p:cNvPicPr>
          <p:nvPr/>
        </p:nvPicPr>
        <p:blipFill>
          <a:blip r:embed="rId2"/>
          <a:srcRect l="0" r="0" t="0" b="0"/>
          <a:stretch/>
        </p:blipFill>
        <p:spPr>
          <a:xfrm>
            <a:off x="4149867" y="2207561"/>
            <a:ext cx="228600" cy="114300"/>
          </a:xfrm>
          <a:prstGeom prst="rect">
            <a:avLst/>
          </a:prstGeom>
        </p:spPr>
      </p:pic>
      <p:sp>
        <p:nvSpPr>
          <p:cNvPr id="11" name="Shape 7"/>
          <p:cNvSpPr/>
          <p:nvPr/>
        </p:nvSpPr>
        <p:spPr>
          <a:xfrm>
            <a:off x="4464192" y="1894171"/>
            <a:ext cx="1431755" cy="741107"/>
          </a:xfrm>
          <a:prstGeom prst="roundRect">
            <a:avLst>
              <a:gd name="adj" fmla="val 8997"/>
            </a:avLst>
          </a:prstGeom>
          <a:solidFill>
            <a:srgbClr val="FBEBDD"/>
          </a:solidFill>
          <a:ln w="19050">
            <a:solidFill>
              <a:srgbClr val="C2611F"/>
            </a:solidFill>
            <a:prstDash val="solid"/>
          </a:ln>
        </p:spPr>
      </p:sp>
      <p:sp>
        <p:nvSpPr>
          <p:cNvPr id="12" name="Text 8"/>
          <p:cNvSpPr/>
          <p:nvPr/>
        </p:nvSpPr>
        <p:spPr>
          <a:xfrm>
            <a:off x="4552511" y="2029789"/>
            <a:ext cx="1255089"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9A4512"/>
                </a:solidFill>
                <a:latin typeface="Arial" pitchFamily="34" charset="0"/>
                <a:ea typeface="Arial" pitchFamily="34" charset="-122"/>
                <a:cs typeface="Arial" pitchFamily="34" charset="-120"/>
              </a:rPr>
              <a:t>ApET stage 1</a:t>
            </a:r>
            <a:endParaRPr lang="en-US" sz="1300" dirty="0"/>
          </a:p>
        </p:txBody>
      </p:sp>
      <p:sp>
        <p:nvSpPr>
          <p:cNvPr id="13" name="Text 9"/>
          <p:cNvSpPr/>
          <p:nvPr/>
        </p:nvSpPr>
        <p:spPr>
          <a:xfrm>
            <a:off x="4872993" y="2286313"/>
            <a:ext cx="614124"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keep K₁</a:t>
            </a:r>
            <a:endParaRPr lang="en-US" sz="1200" dirty="0"/>
          </a:p>
        </p:txBody>
      </p:sp>
      <p:pic>
        <p:nvPicPr>
          <p:cNvPr id="14" name="Image 2" descr="arrow-right">    </p:cNvPr>
          <p:cNvPicPr>
            <a:picLocks noChangeAspect="1"/>
          </p:cNvPicPr>
          <p:nvPr/>
        </p:nvPicPr>
        <p:blipFill>
          <a:blip r:embed="rId3"/>
          <a:srcRect l="0" r="0" t="0" b="0"/>
          <a:stretch/>
        </p:blipFill>
        <p:spPr>
          <a:xfrm>
            <a:off x="5981672" y="2207561"/>
            <a:ext cx="228600" cy="114300"/>
          </a:xfrm>
          <a:prstGeom prst="rect">
            <a:avLst/>
          </a:prstGeom>
        </p:spPr>
      </p:pic>
      <p:sp>
        <p:nvSpPr>
          <p:cNvPr id="15" name="Shape 10"/>
          <p:cNvSpPr/>
          <p:nvPr/>
        </p:nvSpPr>
        <p:spPr>
          <a:xfrm>
            <a:off x="6292822" y="1896439"/>
            <a:ext cx="1427248" cy="736572"/>
          </a:xfrm>
          <a:prstGeom prst="roundRect">
            <a:avLst>
              <a:gd name="adj" fmla="val 9483"/>
            </a:avLst>
          </a:prstGeom>
          <a:solidFill>
            <a:srgbClr val="FDFCF9"/>
          </a:solidFill>
          <a:ln w="12700">
            <a:solidFill>
              <a:srgbClr val="9AA6B6"/>
            </a:solidFill>
            <a:prstDash val="solid"/>
          </a:ln>
        </p:spPr>
      </p:sp>
      <p:sp>
        <p:nvSpPr>
          <p:cNvPr id="16" name="Text 11"/>
          <p:cNvSpPr/>
          <p:nvPr/>
        </p:nvSpPr>
        <p:spPr>
          <a:xfrm>
            <a:off x="6802900" y="2029789"/>
            <a:ext cx="407092"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1"/>
                </a:solidFill>
                <a:latin typeface="Arial" pitchFamily="34" charset="0"/>
                <a:ea typeface="Arial" pitchFamily="34" charset="-122"/>
                <a:cs typeface="Arial" pitchFamily="34" charset="-120"/>
              </a:rPr>
              <a:t>LLM</a:t>
            </a:r>
            <a:endParaRPr lang="en-US" sz="1300" dirty="0"/>
          </a:p>
        </p:txBody>
      </p:sp>
      <p:sp>
        <p:nvSpPr>
          <p:cNvPr id="17" name="Text 12"/>
          <p:cNvSpPr/>
          <p:nvPr/>
        </p:nvSpPr>
        <p:spPr>
          <a:xfrm>
            <a:off x="6518412" y="2286313"/>
            <a:ext cx="976040"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blocks 1–16</a:t>
            </a:r>
            <a:endParaRPr lang="en-US" sz="1200" dirty="0"/>
          </a:p>
        </p:txBody>
      </p:sp>
      <p:pic>
        <p:nvPicPr>
          <p:cNvPr id="18" name="Image 3" descr="arrow-right">    </p:cNvPr>
          <p:cNvPicPr>
            <a:picLocks noChangeAspect="1"/>
          </p:cNvPicPr>
          <p:nvPr/>
        </p:nvPicPr>
        <p:blipFill>
          <a:blip r:embed="rId4"/>
          <a:srcRect l="0" r="0" t="0" b="0"/>
          <a:stretch/>
        </p:blipFill>
        <p:spPr>
          <a:xfrm>
            <a:off x="7802620" y="2207561"/>
            <a:ext cx="228600" cy="114300"/>
          </a:xfrm>
          <a:prstGeom prst="rect">
            <a:avLst/>
          </a:prstGeom>
        </p:spPr>
      </p:pic>
      <p:sp>
        <p:nvSpPr>
          <p:cNvPr id="19" name="Shape 13"/>
          <p:cNvSpPr/>
          <p:nvPr/>
        </p:nvSpPr>
        <p:spPr>
          <a:xfrm>
            <a:off x="8116945" y="1894171"/>
            <a:ext cx="1431783" cy="741107"/>
          </a:xfrm>
          <a:prstGeom prst="roundRect">
            <a:avLst>
              <a:gd name="adj" fmla="val 8997"/>
            </a:avLst>
          </a:prstGeom>
          <a:solidFill>
            <a:srgbClr val="FBEBDD"/>
          </a:solidFill>
          <a:ln w="19050">
            <a:solidFill>
              <a:srgbClr val="C2611F"/>
            </a:solidFill>
            <a:prstDash val="solid"/>
          </a:ln>
        </p:spPr>
      </p:sp>
      <p:sp>
        <p:nvSpPr>
          <p:cNvPr id="20" name="Text 14"/>
          <p:cNvSpPr/>
          <p:nvPr/>
        </p:nvSpPr>
        <p:spPr>
          <a:xfrm>
            <a:off x="8205292" y="2029789"/>
            <a:ext cx="1255089"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9A4512"/>
                </a:solidFill>
                <a:latin typeface="Arial" pitchFamily="34" charset="0"/>
                <a:ea typeface="Arial" pitchFamily="34" charset="-122"/>
                <a:cs typeface="Arial" pitchFamily="34" charset="-120"/>
              </a:rPr>
              <a:t>ApET stage 2</a:t>
            </a:r>
            <a:endParaRPr lang="en-US" sz="1300" dirty="0"/>
          </a:p>
        </p:txBody>
      </p:sp>
      <p:sp>
        <p:nvSpPr>
          <p:cNvPr id="21" name="Text 15"/>
          <p:cNvSpPr/>
          <p:nvPr/>
        </p:nvSpPr>
        <p:spPr>
          <a:xfrm>
            <a:off x="8519583" y="2286313"/>
            <a:ext cx="626507"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keep K₂</a:t>
            </a:r>
            <a:endParaRPr lang="en-US" sz="1200" dirty="0"/>
          </a:p>
        </p:txBody>
      </p:sp>
      <p:pic>
        <p:nvPicPr>
          <p:cNvPr id="22" name="Image 4" descr="arrow-right">    </p:cNvPr>
          <p:cNvPicPr>
            <a:picLocks noChangeAspect="1"/>
          </p:cNvPicPr>
          <p:nvPr/>
        </p:nvPicPr>
        <p:blipFill>
          <a:blip r:embed="rId5"/>
          <a:srcRect l="0" r="0" t="0" b="0"/>
          <a:stretch/>
        </p:blipFill>
        <p:spPr>
          <a:xfrm>
            <a:off x="9634453" y="2207561"/>
            <a:ext cx="228600" cy="114300"/>
          </a:xfrm>
          <a:prstGeom prst="rect">
            <a:avLst/>
          </a:prstGeom>
        </p:spPr>
      </p:pic>
      <p:sp>
        <p:nvSpPr>
          <p:cNvPr id="23" name="Shape 16"/>
          <p:cNvSpPr/>
          <p:nvPr/>
        </p:nvSpPr>
        <p:spPr>
          <a:xfrm>
            <a:off x="9945603" y="1896439"/>
            <a:ext cx="1427248" cy="736572"/>
          </a:xfrm>
          <a:prstGeom prst="roundRect">
            <a:avLst>
              <a:gd name="adj" fmla="val 9483"/>
            </a:avLst>
          </a:prstGeom>
          <a:solidFill>
            <a:srgbClr val="FDFCF9"/>
          </a:solidFill>
          <a:ln w="12700">
            <a:solidFill>
              <a:srgbClr val="9AA6B6"/>
            </a:solidFill>
            <a:prstDash val="solid"/>
          </a:ln>
        </p:spPr>
      </p:sp>
      <p:sp>
        <p:nvSpPr>
          <p:cNvPr id="24" name="Text 17"/>
          <p:cNvSpPr/>
          <p:nvPr/>
        </p:nvSpPr>
        <p:spPr>
          <a:xfrm>
            <a:off x="10455681" y="2029789"/>
            <a:ext cx="407092"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1"/>
                </a:solidFill>
                <a:latin typeface="Arial" pitchFamily="34" charset="0"/>
                <a:ea typeface="Arial" pitchFamily="34" charset="-122"/>
                <a:cs typeface="Arial" pitchFamily="34" charset="-120"/>
              </a:rPr>
              <a:t>LLM</a:t>
            </a:r>
            <a:endParaRPr lang="en-US" sz="1300" dirty="0"/>
          </a:p>
        </p:txBody>
      </p:sp>
      <p:sp>
        <p:nvSpPr>
          <p:cNvPr id="25" name="Text 18"/>
          <p:cNvSpPr/>
          <p:nvPr/>
        </p:nvSpPr>
        <p:spPr>
          <a:xfrm>
            <a:off x="10120335" y="2286313"/>
            <a:ext cx="1077754"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blocks 17–32</a:t>
            </a:r>
            <a:endParaRPr lang="en-US" sz="1200" dirty="0"/>
          </a:p>
        </p:txBody>
      </p:sp>
      <p:sp>
        <p:nvSpPr>
          <p:cNvPr id="26" name="Text 19"/>
          <p:cNvSpPr/>
          <p:nvPr/>
        </p:nvSpPr>
        <p:spPr>
          <a:xfrm>
            <a:off x="812800" y="2822604"/>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4512"/>
                </a:solidFill>
                <a:latin typeface="Arial" pitchFamily="34" charset="0"/>
                <a:ea typeface="Arial" pitchFamily="34" charset="-122"/>
                <a:cs typeface="Arial" pitchFamily="34" charset="-120"/>
              </a:rPr>
              <a:t>INSIDE EACH APET STAGE</a:t>
            </a:r>
            <a:endParaRPr lang="en-US" sz="1200" dirty="0"/>
          </a:p>
        </p:txBody>
      </p:sp>
      <p:sp>
        <p:nvSpPr>
          <p:cNvPr id="27" name="Shape 20"/>
          <p:cNvSpPr/>
          <p:nvPr/>
        </p:nvSpPr>
        <p:spPr>
          <a:xfrm>
            <a:off x="815975" y="3128028"/>
            <a:ext cx="3414174" cy="1034483"/>
          </a:xfrm>
          <a:prstGeom prst="roundRect">
            <a:avLst>
              <a:gd name="adj" fmla="val 7059"/>
            </a:avLst>
          </a:prstGeom>
          <a:solidFill>
            <a:srgbClr val="FDFCF9"/>
          </a:solidFill>
          <a:ln w="6350">
            <a:solidFill>
              <a:srgbClr val="DDD8CE"/>
            </a:solidFill>
            <a:prstDash val="solid"/>
          </a:ln>
        </p:spPr>
      </p:sp>
      <p:sp>
        <p:nvSpPr>
          <p:cNvPr id="28" name="Text 21"/>
          <p:cNvSpPr/>
          <p:nvPr/>
        </p:nvSpPr>
        <p:spPr>
          <a:xfrm>
            <a:off x="996043" y="3282696"/>
            <a:ext cx="31456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1 · Pick a basis</a:t>
            </a:r>
            <a:endParaRPr lang="en-US" sz="1500" dirty="0"/>
          </a:p>
        </p:txBody>
      </p:sp>
      <p:sp>
        <p:nvSpPr>
          <p:cNvPr id="29" name="Text 22"/>
          <p:cNvSpPr/>
          <p:nvPr/>
        </p:nvSpPr>
        <p:spPr>
          <a:xfrm>
            <a:off x="996043" y="3562096"/>
            <a:ext cx="3145660"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10 tokens chosen by farthest-point sampling in feature space.</a:t>
            </a:r>
            <a:endParaRPr lang="en-US" sz="1300" dirty="0"/>
          </a:p>
        </p:txBody>
      </p:sp>
      <p:sp>
        <p:nvSpPr>
          <p:cNvPr id="30" name="Shape 23"/>
          <p:cNvSpPr/>
          <p:nvPr/>
        </p:nvSpPr>
        <p:spPr>
          <a:xfrm>
            <a:off x="4388899" y="3128028"/>
            <a:ext cx="3414202" cy="1034483"/>
          </a:xfrm>
          <a:prstGeom prst="roundRect">
            <a:avLst>
              <a:gd name="adj" fmla="val 7059"/>
            </a:avLst>
          </a:prstGeom>
          <a:solidFill>
            <a:srgbClr val="FDFCF9"/>
          </a:solidFill>
          <a:ln w="6350">
            <a:solidFill>
              <a:srgbClr val="DDD8CE"/>
            </a:solidFill>
            <a:prstDash val="solid"/>
          </a:ln>
        </p:spPr>
      </p:sp>
      <p:sp>
        <p:nvSpPr>
          <p:cNvPr id="31" name="Text 24"/>
          <p:cNvSpPr/>
          <p:nvPr/>
        </p:nvSpPr>
        <p:spPr>
          <a:xfrm>
            <a:off x="4568967" y="3282696"/>
            <a:ext cx="31456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2 · Score and keep</a:t>
            </a:r>
            <a:endParaRPr lang="en-US" sz="1500" dirty="0"/>
          </a:p>
        </p:txBody>
      </p:sp>
      <p:sp>
        <p:nvSpPr>
          <p:cNvPr id="32" name="Text 25"/>
          <p:cNvSpPr/>
          <p:nvPr/>
        </p:nvSpPr>
        <p:spPr>
          <a:xfrm>
            <a:off x="4568967" y="3562096"/>
            <a:ext cx="3145689"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Error E = how poorly a token is rebuilt from the basis. Keep the highest E.</a:t>
            </a:r>
            <a:endParaRPr lang="en-US" sz="1300" dirty="0"/>
          </a:p>
        </p:txBody>
      </p:sp>
      <p:sp>
        <p:nvSpPr>
          <p:cNvPr id="33" name="Shape 26"/>
          <p:cNvSpPr/>
          <p:nvPr/>
        </p:nvSpPr>
        <p:spPr>
          <a:xfrm>
            <a:off x="7961851" y="3128028"/>
            <a:ext cx="3414174" cy="1034483"/>
          </a:xfrm>
          <a:prstGeom prst="roundRect">
            <a:avLst>
              <a:gd name="adj" fmla="val 7059"/>
            </a:avLst>
          </a:prstGeom>
          <a:solidFill>
            <a:srgbClr val="FDFCF9"/>
          </a:solidFill>
          <a:ln w="6350">
            <a:solidFill>
              <a:srgbClr val="DDD8CE"/>
            </a:solidFill>
            <a:prstDash val="solid"/>
          </a:ln>
        </p:spPr>
      </p:sp>
      <p:sp>
        <p:nvSpPr>
          <p:cNvPr id="34" name="Text 27"/>
          <p:cNvSpPr/>
          <p:nvPr/>
        </p:nvSpPr>
        <p:spPr>
          <a:xfrm>
            <a:off x="8141919" y="3282696"/>
            <a:ext cx="31456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3 · Merge the rest</a:t>
            </a:r>
            <a:endParaRPr lang="en-US" sz="1500" dirty="0"/>
          </a:p>
        </p:txBody>
      </p:sp>
      <p:sp>
        <p:nvSpPr>
          <p:cNvPr id="35" name="Text 28"/>
          <p:cNvSpPr/>
          <p:nvPr/>
        </p:nvSpPr>
        <p:spPr>
          <a:xfrm>
            <a:off x="8141919" y="3562096"/>
            <a:ext cx="3145660"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Average each dropped token into its most similar kept token.</a:t>
            </a:r>
            <a:endParaRPr lang="en-US" sz="1300" dirty="0"/>
          </a:p>
        </p:txBody>
      </p:sp>
      <p:sp>
        <p:nvSpPr>
          <p:cNvPr id="36" name="Shape 29"/>
          <p:cNvSpPr/>
          <p:nvPr/>
        </p:nvSpPr>
        <p:spPr>
          <a:xfrm>
            <a:off x="825500" y="4343485"/>
            <a:ext cx="0" cy="1004547"/>
          </a:xfrm>
          <a:prstGeom prst="line">
            <a:avLst/>
          </a:prstGeom>
          <a:noFill/>
          <a:ln w="25400">
            <a:solidFill>
              <a:srgbClr val="1B2A41"/>
            </a:solidFill>
            <a:prstDash val="solid"/>
          </a:ln>
        </p:spPr>
      </p:sp>
      <p:sp>
        <p:nvSpPr>
          <p:cNvPr id="37" name="Text 30"/>
          <p:cNvSpPr/>
          <p:nvPr/>
        </p:nvSpPr>
        <p:spPr>
          <a:xfrm>
            <a:off x="1016000" y="4368885"/>
            <a:ext cx="5153914"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RQ1 · Does E rank tokens by their effect on the answer?</a:t>
            </a:r>
            <a:endParaRPr lang="en-US" sz="1500" dirty="0"/>
          </a:p>
        </p:txBody>
      </p:sp>
      <p:sp>
        <p:nvSpPr>
          <p:cNvPr id="38" name="Text 31"/>
          <p:cNvSpPr/>
          <p:nvPr/>
        </p:nvSpPr>
        <p:spPr>
          <a:xfrm>
            <a:off x="1016000" y="4876885"/>
            <a:ext cx="5153914"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30-question diagnostic set; set one token to zero, or keep only one token.</a:t>
            </a:r>
            <a:endParaRPr lang="en-US" sz="1300" dirty="0"/>
          </a:p>
        </p:txBody>
      </p:sp>
      <p:sp>
        <p:nvSpPr>
          <p:cNvPr id="39" name="Shape 32"/>
          <p:cNvSpPr/>
          <p:nvPr/>
        </p:nvSpPr>
        <p:spPr>
          <a:xfrm>
            <a:off x="6184900" y="4343485"/>
            <a:ext cx="0" cy="1004547"/>
          </a:xfrm>
          <a:prstGeom prst="line">
            <a:avLst/>
          </a:prstGeom>
          <a:noFill/>
          <a:ln w="25400">
            <a:solidFill>
              <a:srgbClr val="1B2A41"/>
            </a:solidFill>
            <a:prstDash val="solid"/>
          </a:ln>
        </p:spPr>
      </p:sp>
      <p:sp>
        <p:nvSpPr>
          <p:cNvPr id="40" name="Text 33"/>
          <p:cNvSpPr/>
          <p:nvPr/>
        </p:nvSpPr>
        <p:spPr>
          <a:xfrm>
            <a:off x="6375400" y="4368885"/>
            <a:ext cx="51539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RQ2 · Complete ApET vs. random pruning</a:t>
            </a:r>
            <a:endParaRPr lang="en-US" sz="1500" dirty="0"/>
          </a:p>
        </p:txBody>
      </p:sp>
      <p:sp>
        <p:nvSpPr>
          <p:cNvPr id="41" name="Text 34"/>
          <p:cNvSpPr/>
          <p:nvPr/>
        </p:nvSpPr>
        <p:spPr>
          <a:xfrm>
            <a:off x="6375400" y="4648285"/>
            <a:ext cx="5153914"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Same budgets (avg. 64 or 192 tokens); GQA 800, MMStar 1,500, TextVQA 100; 3 seeds.</a:t>
            </a:r>
            <a:endParaRPr lang="en-US" sz="1300" dirty="0"/>
          </a:p>
        </p:txBody>
      </p:sp>
      <p:sp>
        <p:nvSpPr>
          <p:cNvPr id="42" name="Text 35"/>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LLaVA-1.5-7B · FP16 on Kaggle 2×T4 · locked environment (PyTorch 2.1.2, Transformers 4.37.2)</a:t>
            </a:r>
            <a:r>
              <a:rPr lang="en-US" sz="1200" dirty="0">
                <a:solidFill>
                  <a:srgbClr val="9AA6B6"/>
                </a:solidFill>
                <a:latin typeface="Arial" pitchFamily="34" charset="0"/>
                <a:ea typeface="Arial" pitchFamily="34" charset="-122"/>
                <a:cs typeface="Arial" pitchFamily="34" charset="-120"/>
              </a:rPr>
              <a:t> · 3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91944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Georgia" pitchFamily="18" charset="0"/>
                <a:ea typeface="Georgia" pitchFamily="18" charset="-122"/>
                <a:cs typeface="Georgia" pitchFamily="18" charset="-120"/>
              </a:rPr>
              <a:t>Finding 1: error E does not consistently rank tokens by their effect on the answer</a:t>
            </a:r>
            <a:endParaRPr lang="en-US" sz="3200" dirty="0"/>
          </a:p>
        </p:txBody>
      </p:sp>
      <p:sp>
        <p:nvSpPr>
          <p:cNvPr id="3" name="Shape 1"/>
          <p:cNvSpPr/>
          <p:nvPr/>
        </p:nvSpPr>
        <p:spPr>
          <a:xfrm>
            <a:off x="812800" y="1884646"/>
            <a:ext cx="6350000" cy="1879600"/>
          </a:xfrm>
          <a:prstGeom prst="roundRect">
            <a:avLst>
              <a:gd name="adj" fmla="val 2703"/>
            </a:avLst>
          </a:prstGeom>
          <a:solidFill>
            <a:srgbClr val="FFFFFF"/>
          </a:solidFill>
          <a:ln/>
        </p:spPr>
      </p:sp>
      <p:pic>
        <p:nvPicPr>
          <p:cNvPr id="4" name="Image 0" descr="Strip plot of per-question Spearman correlations for E versus zeroing, E versus retention, and zeroing versus retention, across GQA, MMStar and TextVQA; medians near zero">    </p:cNvPr>
          <p:cNvPicPr>
            <a:picLocks noChangeAspect="1"/>
          </p:cNvPicPr>
          <p:nvPr/>
        </p:nvPicPr>
        <p:blipFill>
          <a:blip r:embed="rId1"/>
          <a:srcRect l="-50" r="-50" t="0" b="0"/>
          <a:stretch/>
        </p:blipFill>
        <p:spPr>
          <a:xfrm>
            <a:off x="812800" y="1884646"/>
            <a:ext cx="6350000" cy="1879600"/>
          </a:xfrm>
          <a:prstGeom prst="roundRect">
            <a:avLst>
              <a:gd name="adj" fmla="val 2703"/>
            </a:avLst>
          </a:prstGeom>
        </p:spPr>
      </p:pic>
      <p:sp>
        <p:nvSpPr>
          <p:cNvPr id="5" name="Shape 2"/>
          <p:cNvSpPr/>
          <p:nvPr/>
        </p:nvSpPr>
        <p:spPr>
          <a:xfrm>
            <a:off x="812800" y="3865846"/>
            <a:ext cx="6350000" cy="1816100"/>
          </a:xfrm>
          <a:prstGeom prst="roundRect">
            <a:avLst>
              <a:gd name="adj" fmla="val 2797"/>
            </a:avLst>
          </a:prstGeom>
          <a:solidFill>
            <a:srgbClr val="FFFFFF"/>
          </a:solidFill>
          <a:ln/>
        </p:spPr>
      </p:sp>
      <p:pic>
        <p:nvPicPr>
          <p:cNvPr id="6" name="Image 1" descr="One GQA image with a shared reconstruction-error map and two different retention maps for the questions Window and Bottom">    </p:cNvPr>
          <p:cNvPicPr>
            <a:picLocks noChangeAspect="1"/>
          </p:cNvPicPr>
          <p:nvPr/>
        </p:nvPicPr>
        <p:blipFill>
          <a:blip r:embed="rId2"/>
          <a:srcRect l="-60" r="-60" t="0" b="0"/>
          <a:stretch/>
        </p:blipFill>
        <p:spPr>
          <a:xfrm>
            <a:off x="812800" y="3865846"/>
            <a:ext cx="6350000" cy="1816100"/>
          </a:xfrm>
          <a:prstGeom prst="roundRect">
            <a:avLst>
              <a:gd name="adj" fmla="val 2797"/>
            </a:avLst>
          </a:prstGeom>
        </p:spPr>
      </p:pic>
      <p:sp>
        <p:nvSpPr>
          <p:cNvPr id="7" name="Text 3"/>
          <p:cNvSpPr/>
          <p:nvPr/>
        </p:nvSpPr>
        <p:spPr>
          <a:xfrm>
            <a:off x="7467600" y="1884646"/>
            <a:ext cx="402894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84E16"/>
                </a:solidFill>
                <a:latin typeface="Arial" pitchFamily="34" charset="0"/>
                <a:ea typeface="Arial" pitchFamily="34" charset="-122"/>
                <a:cs typeface="Arial" pitchFamily="34" charset="-120"/>
              </a:rPr>
              <a:t>−0.14 to +0.01</a:t>
            </a:r>
            <a:endParaRPr lang="en-US" sz="2000" dirty="0"/>
          </a:p>
        </p:txBody>
      </p:sp>
      <p:sp>
        <p:nvSpPr>
          <p:cNvPr id="8" name="Text 4"/>
          <p:cNvSpPr/>
          <p:nvPr/>
        </p:nvSpPr>
        <p:spPr>
          <a:xfrm>
            <a:off x="7467600" y="2278346"/>
            <a:ext cx="402894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median correlation of E with answer effect, in every dataset (30 questions)</a:t>
            </a:r>
            <a:endParaRPr lang="en-US" sz="1300" dirty="0"/>
          </a:p>
        </p:txBody>
      </p:sp>
      <p:sp>
        <p:nvSpPr>
          <p:cNvPr id="9" name="Text 5"/>
          <p:cNvSpPr/>
          <p:nvPr/>
        </p:nvSpPr>
        <p:spPr>
          <a:xfrm>
            <a:off x="7467600" y="2876493"/>
            <a:ext cx="402894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Single questions range from −0.49 to +0.40: not zero, but inconsistent.</a:t>
            </a:r>
            <a:endParaRPr lang="en-US" sz="1300" dirty="0"/>
          </a:p>
        </p:txBody>
      </p:sp>
      <p:sp>
        <p:nvSpPr>
          <p:cNvPr id="10" name="Text 6"/>
          <p:cNvSpPr/>
          <p:nvPr/>
        </p:nvSpPr>
        <p:spPr>
          <a:xfrm>
            <a:off x="7467600" y="3474641"/>
            <a:ext cx="402894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The two answer measures barely agree with each other either.</a:t>
            </a:r>
            <a:endParaRPr lang="en-US" sz="1300" dirty="0"/>
          </a:p>
        </p:txBody>
      </p:sp>
      <p:sp>
        <p:nvSpPr>
          <p:cNvPr id="11" name="Text 7"/>
          <p:cNvSpPr/>
          <p:nvPr/>
        </p:nvSpPr>
        <p:spPr>
          <a:xfrm>
            <a:off x="7467600" y="4072787"/>
            <a:ext cx="4028948" cy="471147"/>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A41"/>
                </a:solidFill>
                <a:latin typeface="Arial" pitchFamily="34" charset="0"/>
                <a:ea typeface="Arial" pitchFamily="34" charset="-122"/>
                <a:cs typeface="Arial" pitchFamily="34" charset="-120"/>
              </a:rPr>
              <a:t>Bottom:</a:t>
            </a:r>
            <a:r>
              <a:rPr lang="en-US" sz="1300" dirty="0">
                <a:solidFill>
                  <a:srgbClr val="1B2A41"/>
                </a:solidFill>
                <a:latin typeface="Arial" pitchFamily="34" charset="0"/>
                <a:ea typeface="Arial" pitchFamily="34" charset="-122"/>
                <a:cs typeface="Arial" pitchFamily="34" charset="-120"/>
              </a:rPr>
              <a:t> one image, one E map, but each question depends on different tokens.</a:t>
            </a:r>
            <a:endParaRPr lang="en-US" sz="1300" dirty="0"/>
          </a:p>
        </p:txBody>
      </p:sp>
      <p:sp>
        <p:nvSpPr>
          <p:cNvPr id="12" name="Text 8"/>
          <p:cNvSpPr/>
          <p:nvPr/>
        </p:nvSpPr>
        <p:spPr>
          <a:xfrm>
            <a:off x="812800" y="623825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Answer effect = change in the first answer token’s probability when one token is zeroed, or kept alone.</a:t>
            </a:r>
            <a:r>
              <a:rPr lang="en-US" sz="1200" dirty="0">
                <a:solidFill>
                  <a:srgbClr val="9AA6B6"/>
                </a:solidFill>
                <a:latin typeface="Arial" pitchFamily="34" charset="0"/>
                <a:ea typeface="Arial" pitchFamily="34" charset="-122"/>
                <a:cs typeface="Arial" pitchFamily="34" charset="-120"/>
              </a:rPr>
              <a:t> · 4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914372"/>
          </a:xfrm>
          <a:prstGeom prst="rect">
            <a:avLst/>
          </a:prstGeom>
          <a:noFill/>
          <a:ln/>
        </p:spPr>
        <p:txBody>
          <a:bodyPr wrap="square" lIns="0" tIns="0" rIns="0" bIns="0" rtlCol="0" anchor="t">
            <a:normAutofit/>
          </a:bodyPr>
          <a:lstStyle/>
          <a:p>
            <a:pPr algn="l" indent="0" marL="0">
              <a:lnSpc>
                <a:spcPts val="3509"/>
              </a:lnSpc>
              <a:buNone/>
            </a:pPr>
            <a:r>
              <a:rPr lang="en-US" sz="3190" b="1" i="0" dirty="0">
                <a:solidFill>
                  <a:srgbClr val="1B2A41"/>
                </a:solidFill>
                <a:latin typeface="Georgia" pitchFamily="18" charset="0"/>
                <a:ea typeface="Georgia" pitchFamily="18" charset="-122"/>
                <a:cs typeface="Georgia" pitchFamily="18" charset="-120"/>
              </a:rPr>
              <a:t>ApET’s advantage over random pruning is task-dependent</a:t>
            </a:r>
            <a:endParaRPr lang="en-US" sz="3190" dirty="0"/>
          </a:p>
        </p:txBody>
      </p:sp>
      <p:sp>
        <p:nvSpPr>
          <p:cNvPr id="3" name="Text 1"/>
          <p:cNvSpPr/>
          <p:nvPr/>
        </p:nvSpPr>
        <p:spPr>
          <a:xfrm>
            <a:off x="812800" y="1828772"/>
            <a:ext cx="10883393" cy="2728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Accuracy (%) at an average budget of 64 visual tokens (schedule 96→32)</a:t>
            </a:r>
            <a:endParaRPr lang="en-US" sz="1400" dirty="0"/>
          </a:p>
        </p:txBody>
      </p:sp>
      <p:sp>
        <p:nvSpPr>
          <p:cNvPr id="4" name="Shape 2"/>
          <p:cNvSpPr/>
          <p:nvPr/>
        </p:nvSpPr>
        <p:spPr>
          <a:xfrm>
            <a:off x="812800" y="2220432"/>
            <a:ext cx="177800" cy="177800"/>
          </a:xfrm>
          <a:prstGeom prst="roundRect">
            <a:avLst>
              <a:gd name="adj" fmla="val 14286"/>
            </a:avLst>
          </a:prstGeom>
          <a:solidFill>
            <a:srgbClr val="C9CFD8"/>
          </a:solidFill>
          <a:ln/>
        </p:spPr>
      </p:sp>
      <p:sp>
        <p:nvSpPr>
          <p:cNvPr id="5" name="Text 3"/>
          <p:cNvSpPr/>
          <p:nvPr/>
        </p:nvSpPr>
        <p:spPr>
          <a:xfrm>
            <a:off x="1066800" y="2202656"/>
            <a:ext cx="1651624"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Uncompressed (576)</a:t>
            </a:r>
            <a:endParaRPr lang="en-US" sz="1200" dirty="0"/>
          </a:p>
        </p:txBody>
      </p:sp>
      <p:sp>
        <p:nvSpPr>
          <p:cNvPr id="6" name="Shape 4"/>
          <p:cNvSpPr/>
          <p:nvPr/>
        </p:nvSpPr>
        <p:spPr>
          <a:xfrm>
            <a:off x="2718424" y="2220432"/>
            <a:ext cx="177800" cy="177800"/>
          </a:xfrm>
          <a:prstGeom prst="roundRect">
            <a:avLst>
              <a:gd name="adj" fmla="val 14286"/>
            </a:avLst>
          </a:prstGeom>
          <a:solidFill>
            <a:srgbClr val="C2611F"/>
          </a:solidFill>
          <a:ln/>
        </p:spPr>
      </p:sp>
      <p:sp>
        <p:nvSpPr>
          <p:cNvPr id="7" name="Text 5"/>
          <p:cNvSpPr/>
          <p:nvPr/>
        </p:nvSpPr>
        <p:spPr>
          <a:xfrm>
            <a:off x="2972424" y="2202656"/>
            <a:ext cx="457404"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ApET</a:t>
            </a:r>
            <a:endParaRPr lang="en-US" sz="1200" dirty="0"/>
          </a:p>
        </p:txBody>
      </p:sp>
      <p:sp>
        <p:nvSpPr>
          <p:cNvPr id="8" name="Shape 6"/>
          <p:cNvSpPr/>
          <p:nvPr/>
        </p:nvSpPr>
        <p:spPr>
          <a:xfrm>
            <a:off x="3582194" y="2220432"/>
            <a:ext cx="177800" cy="177800"/>
          </a:xfrm>
          <a:prstGeom prst="roundRect">
            <a:avLst>
              <a:gd name="adj" fmla="val 14286"/>
            </a:avLst>
          </a:prstGeom>
          <a:solidFill>
            <a:srgbClr val="5F7590"/>
          </a:solidFill>
          <a:ln/>
        </p:spPr>
      </p:sp>
      <p:sp>
        <p:nvSpPr>
          <p:cNvPr id="9" name="Text 7"/>
          <p:cNvSpPr/>
          <p:nvPr/>
        </p:nvSpPr>
        <p:spPr>
          <a:xfrm>
            <a:off x="3836194" y="2202656"/>
            <a:ext cx="2592229"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Random pruning (3-seed mean)</a:t>
            </a:r>
            <a:endParaRPr lang="en-US" sz="1200" dirty="0"/>
          </a:p>
        </p:txBody>
      </p:sp>
      <p:sp>
        <p:nvSpPr>
          <p:cNvPr id="10" name="Text 8"/>
          <p:cNvSpPr/>
          <p:nvPr/>
        </p:nvSpPr>
        <p:spPr>
          <a:xfrm>
            <a:off x="7823200" y="2202656"/>
            <a:ext cx="36626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ApET − random</a:t>
            </a:r>
            <a:endParaRPr lang="en-US" sz="1200" dirty="0"/>
          </a:p>
        </p:txBody>
      </p:sp>
      <p:sp>
        <p:nvSpPr>
          <p:cNvPr id="11" name="Text 9"/>
          <p:cNvSpPr/>
          <p:nvPr/>
        </p:nvSpPr>
        <p:spPr>
          <a:xfrm>
            <a:off x="812800" y="2663543"/>
            <a:ext cx="1447800"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41"/>
                </a:solidFill>
                <a:latin typeface="Arial" pitchFamily="34" charset="0"/>
                <a:ea typeface="Arial" pitchFamily="34" charset="-122"/>
                <a:cs typeface="Arial" pitchFamily="34" charset="-120"/>
              </a:rPr>
              <a:t>TextVQA</a:t>
            </a:r>
            <a:endParaRPr lang="en-US" sz="1600" dirty="0"/>
          </a:p>
        </p:txBody>
      </p:sp>
      <p:sp>
        <p:nvSpPr>
          <p:cNvPr id="12" name="Text 10"/>
          <p:cNvSpPr/>
          <p:nvPr/>
        </p:nvSpPr>
        <p:spPr>
          <a:xfrm>
            <a:off x="812800" y="2920067"/>
            <a:ext cx="144780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100 questions</a:t>
            </a:r>
            <a:endParaRPr lang="en-US" sz="1200" dirty="0"/>
          </a:p>
        </p:txBody>
      </p:sp>
      <p:sp>
        <p:nvSpPr>
          <p:cNvPr id="13" name="Shape 11"/>
          <p:cNvSpPr/>
          <p:nvPr/>
        </p:nvSpPr>
        <p:spPr>
          <a:xfrm>
            <a:off x="2362200" y="2558145"/>
            <a:ext cx="3314700" cy="177800"/>
          </a:xfrm>
          <a:custGeom>
            <a:avLst/>
            <a:gdLst/>
            <a:ahLst/>
            <a:cxnLst/>
            <a:rect l="l" t="t" r="r" b="b"/>
            <a:pathLst>
              <a:path w="3314700" h="177800">
                <a:moveTo>
                  <a:pt x="0" y="0"/>
                </a:moveTo>
                <a:lnTo>
                  <a:pt x="3289300" y="0"/>
                </a:lnTo>
                <a:arcTo hR="25400" wR="25400" stAng="16200000" swAng="5400000"/>
                <a:lnTo>
                  <a:pt x="3314700" y="152400"/>
                </a:lnTo>
                <a:arcTo hR="25400" wR="25400" stAng="0" swAng="5400000"/>
                <a:lnTo>
                  <a:pt x="0" y="177800"/>
                </a:lnTo>
                <a:lnTo>
                  <a:pt x="0" y="0"/>
                </a:lnTo>
                <a:close/>
              </a:path>
            </a:pathLst>
          </a:custGeom>
          <a:solidFill>
            <a:srgbClr val="C9CFD8"/>
          </a:solidFill>
          <a:ln/>
        </p:spPr>
      </p:sp>
      <p:sp>
        <p:nvSpPr>
          <p:cNvPr id="14" name="Text 12"/>
          <p:cNvSpPr/>
          <p:nvPr/>
        </p:nvSpPr>
        <p:spPr>
          <a:xfrm>
            <a:off x="5753100" y="2540369"/>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49.7</a:t>
            </a:r>
            <a:endParaRPr lang="en-US" sz="1200" dirty="0"/>
          </a:p>
        </p:txBody>
      </p:sp>
      <p:sp>
        <p:nvSpPr>
          <p:cNvPr id="15" name="Shape 13"/>
          <p:cNvSpPr/>
          <p:nvPr/>
        </p:nvSpPr>
        <p:spPr>
          <a:xfrm>
            <a:off x="2362200" y="2809593"/>
            <a:ext cx="2768600" cy="177800"/>
          </a:xfrm>
          <a:custGeom>
            <a:avLst/>
            <a:gdLst/>
            <a:ahLst/>
            <a:cxnLst/>
            <a:rect l="l" t="t" r="r" b="b"/>
            <a:pathLst>
              <a:path w="2768600" h="177800">
                <a:moveTo>
                  <a:pt x="0" y="0"/>
                </a:moveTo>
                <a:lnTo>
                  <a:pt x="2743200" y="0"/>
                </a:lnTo>
                <a:arcTo hR="25400" wR="25400" stAng="16200000" swAng="5400000"/>
                <a:lnTo>
                  <a:pt x="2768600" y="152400"/>
                </a:lnTo>
                <a:arcTo hR="25400" wR="25400" stAng="0" swAng="5400000"/>
                <a:lnTo>
                  <a:pt x="0" y="177800"/>
                </a:lnTo>
                <a:lnTo>
                  <a:pt x="0" y="0"/>
                </a:lnTo>
                <a:close/>
              </a:path>
            </a:pathLst>
          </a:custGeom>
          <a:solidFill>
            <a:srgbClr val="C2611F"/>
          </a:solidFill>
          <a:ln/>
        </p:spPr>
      </p:sp>
      <p:sp>
        <p:nvSpPr>
          <p:cNvPr id="16" name="Text 14"/>
          <p:cNvSpPr/>
          <p:nvPr/>
        </p:nvSpPr>
        <p:spPr>
          <a:xfrm>
            <a:off x="5207000" y="2791817"/>
            <a:ext cx="355963"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1"/>
                </a:solidFill>
                <a:latin typeface="Arial" pitchFamily="34" charset="0"/>
                <a:ea typeface="Arial" pitchFamily="34" charset="-122"/>
                <a:cs typeface="Arial" pitchFamily="34" charset="-120"/>
              </a:rPr>
              <a:t>41.5</a:t>
            </a:r>
            <a:endParaRPr lang="en-US" sz="1200" dirty="0"/>
          </a:p>
        </p:txBody>
      </p:sp>
      <p:sp>
        <p:nvSpPr>
          <p:cNvPr id="17" name="Shape 15"/>
          <p:cNvSpPr/>
          <p:nvPr/>
        </p:nvSpPr>
        <p:spPr>
          <a:xfrm>
            <a:off x="2362200" y="3061041"/>
            <a:ext cx="1377950" cy="177800"/>
          </a:xfrm>
          <a:custGeom>
            <a:avLst/>
            <a:gdLst/>
            <a:ahLst/>
            <a:cxnLst/>
            <a:rect l="l" t="t" r="r" b="b"/>
            <a:pathLst>
              <a:path w="1377950" h="177800">
                <a:moveTo>
                  <a:pt x="0" y="0"/>
                </a:moveTo>
                <a:lnTo>
                  <a:pt x="1352550" y="0"/>
                </a:lnTo>
                <a:arcTo hR="25400" wR="25400" stAng="16200000" swAng="5400000"/>
                <a:lnTo>
                  <a:pt x="1377950" y="152400"/>
                </a:lnTo>
                <a:arcTo hR="25400" wR="25400" stAng="0" swAng="5400000"/>
                <a:lnTo>
                  <a:pt x="0" y="177800"/>
                </a:lnTo>
                <a:lnTo>
                  <a:pt x="0" y="0"/>
                </a:lnTo>
                <a:close/>
              </a:path>
            </a:pathLst>
          </a:custGeom>
          <a:solidFill>
            <a:srgbClr val="5F7590"/>
          </a:solidFill>
          <a:ln/>
        </p:spPr>
      </p:sp>
      <p:sp>
        <p:nvSpPr>
          <p:cNvPr id="18" name="Text 16"/>
          <p:cNvSpPr/>
          <p:nvPr/>
        </p:nvSpPr>
        <p:spPr>
          <a:xfrm>
            <a:off x="3816350" y="3043269"/>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20.6</a:t>
            </a:r>
            <a:endParaRPr lang="en-US" sz="1200" dirty="0"/>
          </a:p>
        </p:txBody>
      </p:sp>
      <p:sp>
        <p:nvSpPr>
          <p:cNvPr id="19" name="Text 17"/>
          <p:cNvSpPr/>
          <p:nvPr/>
        </p:nvSpPr>
        <p:spPr>
          <a:xfrm>
            <a:off x="7594600" y="2601289"/>
            <a:ext cx="36626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84E16"/>
                </a:solidFill>
                <a:latin typeface="Arial" pitchFamily="34" charset="0"/>
                <a:ea typeface="Arial" pitchFamily="34" charset="-122"/>
                <a:cs typeface="Arial" pitchFamily="34" charset="-120"/>
              </a:rPr>
              <a:t>+20.9 pts</a:t>
            </a:r>
            <a:endParaRPr lang="en-US" sz="2000" dirty="0"/>
          </a:p>
        </p:txBody>
      </p:sp>
      <p:sp>
        <p:nvSpPr>
          <p:cNvPr id="20" name="Text 18"/>
          <p:cNvSpPr/>
          <p:nvPr/>
        </p:nvSpPr>
        <p:spPr>
          <a:xfrm>
            <a:off x="7594600" y="2982289"/>
            <a:ext cx="36626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95% CI [13.9, 29.0] · lost 10 vs. 28.7</a:t>
            </a:r>
            <a:endParaRPr lang="en-US" sz="1200" dirty="0"/>
          </a:p>
        </p:txBody>
      </p:sp>
      <p:sp>
        <p:nvSpPr>
          <p:cNvPr id="21" name="Text 19"/>
          <p:cNvSpPr/>
          <p:nvPr/>
        </p:nvSpPr>
        <p:spPr>
          <a:xfrm>
            <a:off x="812800" y="3502707"/>
            <a:ext cx="1447800"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41"/>
                </a:solidFill>
                <a:latin typeface="Arial" pitchFamily="34" charset="0"/>
                <a:ea typeface="Arial" pitchFamily="34" charset="-122"/>
                <a:cs typeface="Arial" pitchFamily="34" charset="-120"/>
              </a:rPr>
              <a:t>GQA</a:t>
            </a:r>
            <a:endParaRPr lang="en-US" sz="1600" dirty="0"/>
          </a:p>
        </p:txBody>
      </p:sp>
      <p:sp>
        <p:nvSpPr>
          <p:cNvPr id="22" name="Text 20"/>
          <p:cNvSpPr/>
          <p:nvPr/>
        </p:nvSpPr>
        <p:spPr>
          <a:xfrm>
            <a:off x="812800" y="3759231"/>
            <a:ext cx="144780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800 questions</a:t>
            </a:r>
            <a:endParaRPr lang="en-US" sz="1200" dirty="0"/>
          </a:p>
        </p:txBody>
      </p:sp>
      <p:sp>
        <p:nvSpPr>
          <p:cNvPr id="23" name="Shape 21"/>
          <p:cNvSpPr/>
          <p:nvPr/>
        </p:nvSpPr>
        <p:spPr>
          <a:xfrm>
            <a:off x="2362200" y="3397309"/>
            <a:ext cx="4603750" cy="177800"/>
          </a:xfrm>
          <a:custGeom>
            <a:avLst/>
            <a:gdLst/>
            <a:ahLst/>
            <a:cxnLst/>
            <a:rect l="l" t="t" r="r" b="b"/>
            <a:pathLst>
              <a:path w="4603750" h="177800">
                <a:moveTo>
                  <a:pt x="0" y="0"/>
                </a:moveTo>
                <a:lnTo>
                  <a:pt x="4578350" y="0"/>
                </a:lnTo>
                <a:arcTo hR="25400" wR="25400" stAng="16200000" swAng="5400000"/>
                <a:lnTo>
                  <a:pt x="4603750" y="152400"/>
                </a:lnTo>
                <a:arcTo hR="25400" wR="25400" stAng="0" swAng="5400000"/>
                <a:lnTo>
                  <a:pt x="0" y="177800"/>
                </a:lnTo>
                <a:lnTo>
                  <a:pt x="0" y="0"/>
                </a:lnTo>
                <a:close/>
              </a:path>
            </a:pathLst>
          </a:custGeom>
          <a:solidFill>
            <a:srgbClr val="C9CFD8"/>
          </a:solidFill>
          <a:ln/>
        </p:spPr>
      </p:sp>
      <p:sp>
        <p:nvSpPr>
          <p:cNvPr id="24" name="Text 22"/>
          <p:cNvSpPr/>
          <p:nvPr/>
        </p:nvSpPr>
        <p:spPr>
          <a:xfrm>
            <a:off x="7042150" y="3379533"/>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69.0</a:t>
            </a:r>
            <a:endParaRPr lang="en-US" sz="1200" dirty="0"/>
          </a:p>
        </p:txBody>
      </p:sp>
      <p:sp>
        <p:nvSpPr>
          <p:cNvPr id="25" name="Shape 23"/>
          <p:cNvSpPr/>
          <p:nvPr/>
        </p:nvSpPr>
        <p:spPr>
          <a:xfrm>
            <a:off x="2362200" y="3648757"/>
            <a:ext cx="4248150" cy="177800"/>
          </a:xfrm>
          <a:custGeom>
            <a:avLst/>
            <a:gdLst/>
            <a:ahLst/>
            <a:cxnLst/>
            <a:rect l="l" t="t" r="r" b="b"/>
            <a:pathLst>
              <a:path w="4248150" h="177800">
                <a:moveTo>
                  <a:pt x="0" y="0"/>
                </a:moveTo>
                <a:lnTo>
                  <a:pt x="4222750" y="0"/>
                </a:lnTo>
                <a:arcTo hR="25400" wR="25400" stAng="16200000" swAng="5400000"/>
                <a:lnTo>
                  <a:pt x="4248150" y="152400"/>
                </a:lnTo>
                <a:arcTo hR="25400" wR="25400" stAng="0" swAng="5400000"/>
                <a:lnTo>
                  <a:pt x="0" y="177800"/>
                </a:lnTo>
                <a:lnTo>
                  <a:pt x="0" y="0"/>
                </a:lnTo>
                <a:close/>
              </a:path>
            </a:pathLst>
          </a:custGeom>
          <a:solidFill>
            <a:srgbClr val="C2611F"/>
          </a:solidFill>
          <a:ln/>
        </p:spPr>
      </p:sp>
      <p:sp>
        <p:nvSpPr>
          <p:cNvPr id="26" name="Text 24"/>
          <p:cNvSpPr/>
          <p:nvPr/>
        </p:nvSpPr>
        <p:spPr>
          <a:xfrm>
            <a:off x="6686550" y="3630981"/>
            <a:ext cx="355963"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1"/>
                </a:solidFill>
                <a:latin typeface="Arial" pitchFamily="34" charset="0"/>
                <a:ea typeface="Arial" pitchFamily="34" charset="-122"/>
                <a:cs typeface="Arial" pitchFamily="34" charset="-120"/>
              </a:rPr>
              <a:t>63.8</a:t>
            </a:r>
            <a:endParaRPr lang="en-US" sz="1200" dirty="0"/>
          </a:p>
        </p:txBody>
      </p:sp>
      <p:sp>
        <p:nvSpPr>
          <p:cNvPr id="27" name="Shape 25"/>
          <p:cNvSpPr/>
          <p:nvPr/>
        </p:nvSpPr>
        <p:spPr>
          <a:xfrm>
            <a:off x="2362200" y="3900205"/>
            <a:ext cx="4089400" cy="177800"/>
          </a:xfrm>
          <a:custGeom>
            <a:avLst/>
            <a:gdLst/>
            <a:ahLst/>
            <a:cxnLst/>
            <a:rect l="l" t="t" r="r" b="b"/>
            <a:pathLst>
              <a:path w="4089400" h="177800">
                <a:moveTo>
                  <a:pt x="0" y="0"/>
                </a:moveTo>
                <a:lnTo>
                  <a:pt x="4064000" y="0"/>
                </a:lnTo>
                <a:arcTo hR="25400" wR="25400" stAng="16200000" swAng="5400000"/>
                <a:lnTo>
                  <a:pt x="4089400" y="152400"/>
                </a:lnTo>
                <a:arcTo hR="25400" wR="25400" stAng="0" swAng="5400000"/>
                <a:lnTo>
                  <a:pt x="0" y="177800"/>
                </a:lnTo>
                <a:lnTo>
                  <a:pt x="0" y="0"/>
                </a:lnTo>
                <a:close/>
              </a:path>
            </a:pathLst>
          </a:custGeom>
          <a:solidFill>
            <a:srgbClr val="5F7590"/>
          </a:solidFill>
          <a:ln/>
        </p:spPr>
      </p:sp>
      <p:sp>
        <p:nvSpPr>
          <p:cNvPr id="28" name="Text 26"/>
          <p:cNvSpPr/>
          <p:nvPr/>
        </p:nvSpPr>
        <p:spPr>
          <a:xfrm>
            <a:off x="6527800" y="3882430"/>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61.3</a:t>
            </a:r>
            <a:endParaRPr lang="en-US" sz="1200" dirty="0"/>
          </a:p>
        </p:txBody>
      </p:sp>
      <p:sp>
        <p:nvSpPr>
          <p:cNvPr id="29" name="Text 27"/>
          <p:cNvSpPr/>
          <p:nvPr/>
        </p:nvSpPr>
        <p:spPr>
          <a:xfrm>
            <a:off x="7594600" y="3440481"/>
            <a:ext cx="36626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84E16"/>
                </a:solidFill>
                <a:latin typeface="Arial" pitchFamily="34" charset="0"/>
                <a:ea typeface="Arial" pitchFamily="34" charset="-122"/>
                <a:cs typeface="Arial" pitchFamily="34" charset="-120"/>
              </a:rPr>
              <a:t>+2.5 pts</a:t>
            </a:r>
            <a:endParaRPr lang="en-US" sz="2000" dirty="0"/>
          </a:p>
        </p:txBody>
      </p:sp>
      <p:sp>
        <p:nvSpPr>
          <p:cNvPr id="30" name="Text 28"/>
          <p:cNvSpPr/>
          <p:nvPr/>
        </p:nvSpPr>
        <p:spPr>
          <a:xfrm>
            <a:off x="7594600" y="3821481"/>
            <a:ext cx="36626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95% CI [0.3, 4.7] · lost 78 vs. 97.3</a:t>
            </a:r>
            <a:endParaRPr lang="en-US" sz="1200" dirty="0"/>
          </a:p>
        </p:txBody>
      </p:sp>
      <p:sp>
        <p:nvSpPr>
          <p:cNvPr id="31" name="Text 29"/>
          <p:cNvSpPr/>
          <p:nvPr/>
        </p:nvSpPr>
        <p:spPr>
          <a:xfrm>
            <a:off x="812800" y="4341871"/>
            <a:ext cx="1447800"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41"/>
                </a:solidFill>
                <a:latin typeface="Arial" pitchFamily="34" charset="0"/>
                <a:ea typeface="Arial" pitchFamily="34" charset="-122"/>
                <a:cs typeface="Arial" pitchFamily="34" charset="-120"/>
              </a:rPr>
              <a:t>MMStar</a:t>
            </a:r>
            <a:endParaRPr lang="en-US" sz="1600" dirty="0"/>
          </a:p>
        </p:txBody>
      </p:sp>
      <p:sp>
        <p:nvSpPr>
          <p:cNvPr id="32" name="Text 30"/>
          <p:cNvSpPr/>
          <p:nvPr/>
        </p:nvSpPr>
        <p:spPr>
          <a:xfrm>
            <a:off x="812800" y="4598392"/>
            <a:ext cx="144780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1,500 questions</a:t>
            </a:r>
            <a:endParaRPr lang="en-US" sz="1200" dirty="0"/>
          </a:p>
        </p:txBody>
      </p:sp>
      <p:sp>
        <p:nvSpPr>
          <p:cNvPr id="33" name="Shape 31"/>
          <p:cNvSpPr/>
          <p:nvPr/>
        </p:nvSpPr>
        <p:spPr>
          <a:xfrm>
            <a:off x="2362200" y="4236473"/>
            <a:ext cx="2317750" cy="177800"/>
          </a:xfrm>
          <a:custGeom>
            <a:avLst/>
            <a:gdLst/>
            <a:ahLst/>
            <a:cxnLst/>
            <a:rect l="l" t="t" r="r" b="b"/>
            <a:pathLst>
              <a:path w="2317750" h="177800">
                <a:moveTo>
                  <a:pt x="0" y="0"/>
                </a:moveTo>
                <a:lnTo>
                  <a:pt x="2292350" y="0"/>
                </a:lnTo>
                <a:arcTo hR="25400" wR="25400" stAng="16200000" swAng="5400000"/>
                <a:lnTo>
                  <a:pt x="2317750" y="152400"/>
                </a:lnTo>
                <a:arcTo hR="25400" wR="25400" stAng="0" swAng="5400000"/>
                <a:lnTo>
                  <a:pt x="0" y="177800"/>
                </a:lnTo>
                <a:lnTo>
                  <a:pt x="0" y="0"/>
                </a:lnTo>
                <a:close/>
              </a:path>
            </a:pathLst>
          </a:custGeom>
          <a:solidFill>
            <a:srgbClr val="C9CFD8"/>
          </a:solidFill>
          <a:ln/>
        </p:spPr>
      </p:sp>
      <p:sp>
        <p:nvSpPr>
          <p:cNvPr id="34" name="Text 32"/>
          <p:cNvSpPr/>
          <p:nvPr/>
        </p:nvSpPr>
        <p:spPr>
          <a:xfrm>
            <a:off x="4756150" y="4218698"/>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34.7</a:t>
            </a:r>
            <a:endParaRPr lang="en-US" sz="1200" dirty="0"/>
          </a:p>
        </p:txBody>
      </p:sp>
      <p:sp>
        <p:nvSpPr>
          <p:cNvPr id="35" name="Shape 33"/>
          <p:cNvSpPr/>
          <p:nvPr/>
        </p:nvSpPr>
        <p:spPr>
          <a:xfrm>
            <a:off x="2362200" y="4487921"/>
            <a:ext cx="2228850" cy="177800"/>
          </a:xfrm>
          <a:custGeom>
            <a:avLst/>
            <a:gdLst/>
            <a:ahLst/>
            <a:cxnLst/>
            <a:rect l="l" t="t" r="r" b="b"/>
            <a:pathLst>
              <a:path w="2228850" h="177800">
                <a:moveTo>
                  <a:pt x="0" y="0"/>
                </a:moveTo>
                <a:lnTo>
                  <a:pt x="2203450" y="0"/>
                </a:lnTo>
                <a:arcTo hR="25400" wR="25400" stAng="16200000" swAng="5400000"/>
                <a:lnTo>
                  <a:pt x="2228850" y="152400"/>
                </a:lnTo>
                <a:arcTo hR="25400" wR="25400" stAng="0" swAng="5400000"/>
                <a:lnTo>
                  <a:pt x="0" y="177800"/>
                </a:lnTo>
                <a:lnTo>
                  <a:pt x="0" y="0"/>
                </a:lnTo>
                <a:close/>
              </a:path>
            </a:pathLst>
          </a:custGeom>
          <a:solidFill>
            <a:srgbClr val="C2611F"/>
          </a:solidFill>
          <a:ln/>
        </p:spPr>
      </p:sp>
      <p:sp>
        <p:nvSpPr>
          <p:cNvPr id="36" name="Text 34"/>
          <p:cNvSpPr/>
          <p:nvPr/>
        </p:nvSpPr>
        <p:spPr>
          <a:xfrm>
            <a:off x="4667250" y="4470146"/>
            <a:ext cx="355963"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1"/>
                </a:solidFill>
                <a:latin typeface="Arial" pitchFamily="34" charset="0"/>
                <a:ea typeface="Arial" pitchFamily="34" charset="-122"/>
                <a:cs typeface="Arial" pitchFamily="34" charset="-120"/>
              </a:rPr>
              <a:t>33.4</a:t>
            </a:r>
            <a:endParaRPr lang="en-US" sz="1200" dirty="0"/>
          </a:p>
        </p:txBody>
      </p:sp>
      <p:sp>
        <p:nvSpPr>
          <p:cNvPr id="37" name="Shape 35"/>
          <p:cNvSpPr/>
          <p:nvPr/>
        </p:nvSpPr>
        <p:spPr>
          <a:xfrm>
            <a:off x="2362200" y="4739370"/>
            <a:ext cx="2235200" cy="177800"/>
          </a:xfrm>
          <a:custGeom>
            <a:avLst/>
            <a:gdLst/>
            <a:ahLst/>
            <a:cxnLst/>
            <a:rect l="l" t="t" r="r" b="b"/>
            <a:pathLst>
              <a:path w="2235200" h="177800">
                <a:moveTo>
                  <a:pt x="0" y="0"/>
                </a:moveTo>
                <a:lnTo>
                  <a:pt x="2209800" y="0"/>
                </a:lnTo>
                <a:arcTo hR="25400" wR="25400" stAng="16200000" swAng="5400000"/>
                <a:lnTo>
                  <a:pt x="2235200" y="152400"/>
                </a:lnTo>
                <a:arcTo hR="25400" wR="25400" stAng="0" swAng="5400000"/>
                <a:lnTo>
                  <a:pt x="0" y="177800"/>
                </a:lnTo>
                <a:lnTo>
                  <a:pt x="0" y="0"/>
                </a:lnTo>
                <a:close/>
              </a:path>
            </a:pathLst>
          </a:custGeom>
          <a:solidFill>
            <a:srgbClr val="5F7590"/>
          </a:solidFill>
          <a:ln/>
        </p:spPr>
      </p:sp>
      <p:sp>
        <p:nvSpPr>
          <p:cNvPr id="38" name="Text 36"/>
          <p:cNvSpPr/>
          <p:nvPr/>
        </p:nvSpPr>
        <p:spPr>
          <a:xfrm>
            <a:off x="4673600" y="4721594"/>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Arial" pitchFamily="34" charset="0"/>
                <a:ea typeface="Arial" pitchFamily="34" charset="-122"/>
                <a:cs typeface="Arial" pitchFamily="34" charset="-120"/>
              </a:rPr>
              <a:t>33.5</a:t>
            </a:r>
            <a:endParaRPr lang="en-US" sz="1200" dirty="0"/>
          </a:p>
        </p:txBody>
      </p:sp>
      <p:sp>
        <p:nvSpPr>
          <p:cNvPr id="39" name="Text 37"/>
          <p:cNvSpPr/>
          <p:nvPr/>
        </p:nvSpPr>
        <p:spPr>
          <a:xfrm>
            <a:off x="7594600" y="4279646"/>
            <a:ext cx="36626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5568"/>
                </a:solidFill>
                <a:latin typeface="Arial" pitchFamily="34" charset="0"/>
                <a:ea typeface="Arial" pitchFamily="34" charset="-122"/>
                <a:cs typeface="Arial" pitchFamily="34" charset="-120"/>
              </a:rPr>
              <a:t>−0.1 pts</a:t>
            </a:r>
            <a:endParaRPr lang="en-US" sz="2000" dirty="0"/>
          </a:p>
        </p:txBody>
      </p:sp>
      <p:sp>
        <p:nvSpPr>
          <p:cNvPr id="40" name="Text 38"/>
          <p:cNvSpPr/>
          <p:nvPr/>
        </p:nvSpPr>
        <p:spPr>
          <a:xfrm>
            <a:off x="7594600" y="4660646"/>
            <a:ext cx="366268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95% CI [−1.4, 1.1] · not detectable</a:t>
            </a:r>
            <a:endParaRPr lang="en-US" sz="1200" dirty="0"/>
          </a:p>
        </p:txBody>
      </p:sp>
      <p:sp>
        <p:nvSpPr>
          <p:cNvPr id="41" name="Text 39"/>
          <p:cNvSpPr/>
          <p:nvPr/>
        </p:nvSpPr>
        <p:spPr>
          <a:xfrm>
            <a:off x="812800" y="5059902"/>
            <a:ext cx="10566401" cy="782099"/>
          </a:xfrm>
          <a:prstGeom prst="roundRect">
            <a:avLst>
              <a:gd name="adj" fmla="val 9743"/>
            </a:avLst>
          </a:prstGeom>
          <a:solidFill>
            <a:srgbClr val="1B2A41"/>
          </a:solidFill>
          <a:ln/>
        </p:spPr>
        <p:txBody>
          <a:bodyPr wrap="square" lIns="180882" tIns="130082" rIns="0" bIns="104682" rtlCol="0" anchor="t">
            <a:normAutofit/>
          </a:bodyPr>
          <a:lstStyle/>
          <a:p>
            <a:pPr algn="l" indent="0" marL="0">
              <a:lnSpc>
                <a:spcPts val="1884"/>
              </a:lnSpc>
              <a:buNone/>
            </a:pPr>
            <a:r>
              <a:rPr lang="en-US" sz="1396" dirty="0">
                <a:solidFill>
                  <a:srgbClr val="E8A55C"/>
                </a:solidFill>
                <a:latin typeface="Arial" pitchFamily="34" charset="0"/>
                <a:ea typeface="Arial" pitchFamily="34" charset="-122"/>
                <a:cs typeface="Arial" pitchFamily="34" charset="-120"/>
              </a:rPr>
              <a:t>The puzzle:</a:t>
            </a:r>
            <a:r>
              <a:rPr lang="en-US" sz="1396" dirty="0">
                <a:solidFill>
                  <a:srgbClr val="F4F1EA"/>
                </a:solidFill>
                <a:latin typeface="Arial" pitchFamily="34" charset="0"/>
                <a:ea typeface="Arial" pitchFamily="34" charset="-122"/>
                <a:cs typeface="Arial" pitchFamily="34" charset="-120"/>
              </a:rPr>
              <a:t> on its own, E does not consistently rank tokens by their effect on the answer (RQ1). So which part of ApET — selection, basis or merging — produces the gain?</a:t>
            </a:r>
            <a:endParaRPr lang="en-US" sz="1396" dirty="0"/>
          </a:p>
        </p:txBody>
      </p:sp>
      <p:sp>
        <p:nvSpPr>
          <p:cNvPr id="42" name="Text 40"/>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“Lost” = answers correct without compression that became wrong. Same pattern, smaller, at 192 tokens.</a:t>
            </a:r>
            <a:r>
              <a:rPr lang="en-US" sz="1200" dirty="0">
                <a:solidFill>
                  <a:srgbClr val="9AA6B6"/>
                </a:solidFill>
                <a:latin typeface="Arial" pitchFamily="34" charset="0"/>
                <a:ea typeface="Arial" pitchFamily="34" charset="-122"/>
                <a:cs typeface="Arial" pitchFamily="34" charset="-120"/>
              </a:rPr>
              <a:t> · 5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DF2"/>
        </a:solidFill>
      </p:bgPr>
    </p:bg>
    <p:spTree>
      <p:nvGrpSpPr>
        <p:cNvPr id="1" name=""/>
        <p:cNvGrpSpPr/>
        <p:nvPr/>
      </p:nvGrpSpPr>
      <p:grpSpPr>
        <a:xfrm>
          <a:off x="0" y="0"/>
          <a:ext cx="0" cy="0"/>
          <a:chOff x="0" y="0"/>
          <a:chExt cx="0" cy="0"/>
        </a:xfrm>
      </p:grpSpPr>
      <p:sp>
        <p:nvSpPr>
          <p:cNvPr id="2" name="Text 0"/>
          <p:cNvSpPr/>
          <p:nvPr>
            <p:ph type="title"/>
          </p:nvPr>
        </p:nvSpPr>
        <p:spPr>
          <a:xfrm>
            <a:off x="812800" y="812803"/>
            <a:ext cx="10883393" cy="91944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Georgia" pitchFamily="18" charset="0"/>
                <a:ea typeface="Georgia" pitchFamily="18" charset="-122"/>
                <a:cs typeface="Georgia" pitchFamily="18" charset="-120"/>
              </a:rPr>
              <a:t>Why does ApET beat random? Two open hypotheses</a:t>
            </a:r>
            <a:endParaRPr lang="en-US" sz="3200" dirty="0"/>
          </a:p>
        </p:txBody>
      </p:sp>
      <p:sp>
        <p:nvSpPr>
          <p:cNvPr id="3" name="Text 1"/>
          <p:cNvSpPr/>
          <p:nvPr/>
        </p:nvSpPr>
        <p:spPr>
          <a:xfrm>
            <a:off x="812800" y="1859248"/>
            <a:ext cx="10883393"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4512"/>
                </a:solidFill>
                <a:latin typeface="Arial" pitchFamily="34" charset="0"/>
                <a:ea typeface="Arial" pitchFamily="34" charset="-122"/>
                <a:cs typeface="Arial" pitchFamily="34" charset="-120"/>
              </a:rPr>
              <a:t>HOW WE GOT HERE</a:t>
            </a:r>
            <a:endParaRPr lang="en-US" sz="1200" dirty="0"/>
          </a:p>
        </p:txBody>
      </p:sp>
      <p:sp>
        <p:nvSpPr>
          <p:cNvPr id="4" name="Text 2"/>
          <p:cNvSpPr/>
          <p:nvPr/>
        </p:nvSpPr>
        <p:spPr>
          <a:xfrm>
            <a:off x="812800" y="2148796"/>
            <a:ext cx="3200400" cy="973421"/>
          </a:xfrm>
          <a:prstGeom prst="roundRect">
            <a:avLst>
              <a:gd name="adj" fmla="val 7828"/>
            </a:avLst>
          </a:prstGeom>
          <a:solidFill>
            <a:srgbClr val="FBFBF8"/>
          </a:solidFill>
          <a:ln/>
        </p:spPr>
        <p:txBody>
          <a:bodyPr wrap="square" lIns="155482" tIns="130082" rIns="70138" bIns="104682"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Small component tests: random retention kept some answers ApET lost.</a:t>
            </a:r>
            <a:endParaRPr lang="en-US" sz="1300" dirty="0"/>
          </a:p>
        </p:txBody>
      </p:sp>
      <p:pic>
        <p:nvPicPr>
          <p:cNvPr id="5" name="Image 0" descr="arrow-right">    </p:cNvPr>
          <p:cNvPicPr>
            <a:picLocks noChangeAspect="1"/>
          </p:cNvPicPr>
          <p:nvPr/>
        </p:nvPicPr>
        <p:blipFill>
          <a:blip r:embed="rId1"/>
          <a:srcRect l="0" r="0" t="0" b="0"/>
          <a:stretch/>
        </p:blipFill>
        <p:spPr>
          <a:xfrm>
            <a:off x="4140200" y="2578357"/>
            <a:ext cx="228600" cy="114300"/>
          </a:xfrm>
          <a:prstGeom prst="rect">
            <a:avLst/>
          </a:prstGeom>
        </p:spPr>
      </p:pic>
      <p:sp>
        <p:nvSpPr>
          <p:cNvPr id="6" name="Text 3"/>
          <p:cNvSpPr/>
          <p:nvPr/>
        </p:nvSpPr>
        <p:spPr>
          <a:xfrm>
            <a:off x="4495800" y="2260234"/>
            <a:ext cx="3200400" cy="750547"/>
          </a:xfrm>
          <a:prstGeom prst="roundRect">
            <a:avLst>
              <a:gd name="adj" fmla="val 10153"/>
            </a:avLst>
          </a:prstGeom>
          <a:solidFill>
            <a:srgbClr val="FBFBF8"/>
          </a:solidFill>
          <a:ln/>
        </p:spPr>
        <p:txBody>
          <a:bodyPr wrap="square" lIns="155482" tIns="130082" rIns="70138" bIns="104682"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ApET’s paper randomizes only the basis, never which tokens are kept.</a:t>
            </a:r>
            <a:endParaRPr lang="en-US" sz="1300" dirty="0"/>
          </a:p>
        </p:txBody>
      </p:sp>
      <p:pic>
        <p:nvPicPr>
          <p:cNvPr id="7" name="Image 1" descr="arrow-right">    </p:cNvPr>
          <p:cNvPicPr>
            <a:picLocks noChangeAspect="1"/>
          </p:cNvPicPr>
          <p:nvPr/>
        </p:nvPicPr>
        <p:blipFill>
          <a:blip r:embed="rId2"/>
          <a:srcRect l="0" r="0" t="0" b="0"/>
          <a:stretch/>
        </p:blipFill>
        <p:spPr>
          <a:xfrm>
            <a:off x="7823200" y="2578357"/>
            <a:ext cx="228600" cy="114300"/>
          </a:xfrm>
          <a:prstGeom prst="rect">
            <a:avLst/>
          </a:prstGeom>
        </p:spPr>
      </p:pic>
      <p:sp>
        <p:nvSpPr>
          <p:cNvPr id="8" name="Text 4"/>
          <p:cNvSpPr/>
          <p:nvPr/>
        </p:nvSpPr>
        <p:spPr>
          <a:xfrm>
            <a:off x="8178800" y="2260234"/>
            <a:ext cx="3200400" cy="750547"/>
          </a:xfrm>
          <a:prstGeom prst="roundRect">
            <a:avLst>
              <a:gd name="adj" fmla="val 10153"/>
            </a:avLst>
          </a:prstGeom>
          <a:solidFill>
            <a:srgbClr val="FBFBF8"/>
          </a:solidFill>
          <a:ln/>
        </p:spPr>
        <p:txBody>
          <a:bodyPr wrap="square" lIns="155482" tIns="130082" rIns="70138" bIns="104682"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So we compared at scale: ApET wins on average (Finding 2).</a:t>
            </a:r>
            <a:endParaRPr lang="en-US" sz="1300" dirty="0"/>
          </a:p>
        </p:txBody>
      </p:sp>
      <p:sp>
        <p:nvSpPr>
          <p:cNvPr id="9" name="Shape 5"/>
          <p:cNvSpPr/>
          <p:nvPr/>
        </p:nvSpPr>
        <p:spPr>
          <a:xfrm>
            <a:off x="812800" y="3274619"/>
            <a:ext cx="5194300" cy="1638867"/>
          </a:xfrm>
          <a:prstGeom prst="roundRect">
            <a:avLst>
              <a:gd name="adj" fmla="val 4650"/>
            </a:avLst>
          </a:prstGeom>
          <a:solidFill>
            <a:srgbClr val="FBFBF8"/>
          </a:solidFill>
          <a:ln/>
        </p:spPr>
      </p:sp>
      <p:sp>
        <p:nvSpPr>
          <p:cNvPr id="10" name="Shape 6"/>
          <p:cNvSpPr/>
          <p:nvPr/>
        </p:nvSpPr>
        <p:spPr>
          <a:xfrm>
            <a:off x="812800" y="3274619"/>
            <a:ext cx="5194300" cy="1638867"/>
          </a:xfrm>
          <a:custGeom>
            <a:avLst/>
            <a:gdLst/>
            <a:ahLst/>
            <a:cxnLst/>
            <a:rect l="l" t="t" r="r" b="b"/>
            <a:pathLst>
              <a:path w="5194300" h="1638867">
                <a:moveTo>
                  <a:pt x="0" y="76200"/>
                </a:moveTo>
                <a:lnTo>
                  <a:pt x="0" y="76200"/>
                </a:lnTo>
                <a:arcTo hR="76200" wR="76200" stAng="10800000" swAng="5400000"/>
                <a:lnTo>
                  <a:pt x="5118100" y="0"/>
                </a:lnTo>
                <a:arcTo hR="76200" wR="76200" stAng="16200000" swAng="5400000"/>
                <a:lnTo>
                  <a:pt x="5194300" y="76200"/>
                </a:lnTo>
                <a:arcTo hR="38100" wR="76200" stAng="0" swAng="-5400000"/>
                <a:lnTo>
                  <a:pt x="76200" y="38100"/>
                </a:lnTo>
                <a:arcTo hR="38100" wR="76200" stAng="16200000" swAng="-5400000"/>
                <a:close/>
              </a:path>
            </a:pathLst>
          </a:custGeom>
          <a:solidFill>
            <a:srgbClr val="C2611F"/>
          </a:solidFill>
          <a:ln/>
        </p:spPr>
      </p:sp>
      <p:sp>
        <p:nvSpPr>
          <p:cNvPr id="11" name="Text 7"/>
          <p:cNvSpPr/>
          <p:nvPr/>
        </p:nvSpPr>
        <p:spPr>
          <a:xfrm>
            <a:off x="1016000" y="3490519"/>
            <a:ext cx="4931537"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41"/>
                </a:solidFill>
                <a:latin typeface="Arial" pitchFamily="34" charset="0"/>
                <a:ea typeface="Arial" pitchFamily="34" charset="-122"/>
                <a:cs typeface="Arial" pitchFamily="34" charset="-120"/>
              </a:rPr>
              <a:t>H1 · Selection</a:t>
            </a:r>
            <a:endParaRPr lang="en-US" sz="1600" dirty="0"/>
          </a:p>
        </p:txBody>
      </p:sp>
      <p:sp>
        <p:nvSpPr>
          <p:cNvPr id="12" name="Text 8"/>
          <p:cNvSpPr/>
          <p:nvPr/>
        </p:nvSpPr>
        <p:spPr>
          <a:xfrm>
            <a:off x="1016000" y="3797840"/>
            <a:ext cx="4931537"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E-based selection keeps more useful tokens than random, e.g., by dropping easy padding or background, even if it ranks single tokens poorly.</a:t>
            </a:r>
            <a:endParaRPr lang="en-US" sz="1300" dirty="0"/>
          </a:p>
        </p:txBody>
      </p:sp>
      <p:sp>
        <p:nvSpPr>
          <p:cNvPr id="13" name="Text 9"/>
          <p:cNvSpPr/>
          <p:nvPr/>
        </p:nvSpPr>
        <p:spPr>
          <a:xfrm>
            <a:off x="1016000" y="4529962"/>
            <a:ext cx="4931537" cy="231123"/>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Arial" pitchFamily="34" charset="0"/>
                <a:ea typeface="Arial" pitchFamily="34" charset="-122"/>
                <a:cs typeface="Arial" pitchFamily="34" charset="-120"/>
              </a:rPr>
              <a:t>Possible test:</a:t>
            </a:r>
            <a:r>
              <a:rPr lang="en-US" sz="1200" dirty="0">
                <a:solidFill>
                  <a:srgbClr val="4A5568"/>
                </a:solidFill>
                <a:latin typeface="Arial" pitchFamily="34" charset="0"/>
                <a:ea typeface="Arial" pitchFamily="34" charset="-122"/>
                <a:cs typeface="Arial" pitchFamily="34" charset="-120"/>
              </a:rPr>
              <a:t> vary only selection; keep basis and merging fixed.</a:t>
            </a:r>
            <a:endParaRPr lang="en-US" sz="1200" dirty="0"/>
          </a:p>
        </p:txBody>
      </p:sp>
      <p:sp>
        <p:nvSpPr>
          <p:cNvPr id="14" name="Shape 10"/>
          <p:cNvSpPr/>
          <p:nvPr/>
        </p:nvSpPr>
        <p:spPr>
          <a:xfrm>
            <a:off x="6184900" y="3274619"/>
            <a:ext cx="5194300" cy="1638867"/>
          </a:xfrm>
          <a:prstGeom prst="roundRect">
            <a:avLst>
              <a:gd name="adj" fmla="val 4650"/>
            </a:avLst>
          </a:prstGeom>
          <a:solidFill>
            <a:srgbClr val="FBFBF8"/>
          </a:solidFill>
          <a:ln/>
        </p:spPr>
      </p:sp>
      <p:sp>
        <p:nvSpPr>
          <p:cNvPr id="15" name="Shape 11"/>
          <p:cNvSpPr/>
          <p:nvPr/>
        </p:nvSpPr>
        <p:spPr>
          <a:xfrm>
            <a:off x="6184900" y="3274619"/>
            <a:ext cx="5194300" cy="1638867"/>
          </a:xfrm>
          <a:custGeom>
            <a:avLst/>
            <a:gdLst/>
            <a:ahLst/>
            <a:cxnLst/>
            <a:rect l="l" t="t" r="r" b="b"/>
            <a:pathLst>
              <a:path w="5194300" h="1638867">
                <a:moveTo>
                  <a:pt x="0" y="76200"/>
                </a:moveTo>
                <a:lnTo>
                  <a:pt x="0" y="76200"/>
                </a:lnTo>
                <a:arcTo hR="76200" wR="76200" stAng="10800000" swAng="5400000"/>
                <a:lnTo>
                  <a:pt x="5118100" y="0"/>
                </a:lnTo>
                <a:arcTo hR="76200" wR="76200" stAng="16200000" swAng="5400000"/>
                <a:lnTo>
                  <a:pt x="5194300" y="76200"/>
                </a:lnTo>
                <a:arcTo hR="38100" wR="76200" stAng="0" swAng="-5400000"/>
                <a:lnTo>
                  <a:pt x="76200" y="38100"/>
                </a:lnTo>
                <a:arcTo hR="38100" wR="76200" stAng="16200000" swAng="-5400000"/>
                <a:close/>
              </a:path>
            </a:pathLst>
          </a:custGeom>
          <a:solidFill>
            <a:srgbClr val="5F7590"/>
          </a:solidFill>
          <a:ln/>
        </p:spPr>
      </p:sp>
      <p:sp>
        <p:nvSpPr>
          <p:cNvPr id="16" name="Text 12"/>
          <p:cNvSpPr/>
          <p:nvPr/>
        </p:nvSpPr>
        <p:spPr>
          <a:xfrm>
            <a:off x="6388100" y="3490519"/>
            <a:ext cx="4931537"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41"/>
                </a:solidFill>
                <a:latin typeface="Arial" pitchFamily="34" charset="0"/>
                <a:ea typeface="Arial" pitchFamily="34" charset="-122"/>
                <a:cs typeface="Arial" pitchFamily="34" charset="-120"/>
              </a:rPr>
              <a:t>H2 · Representation preservation</a:t>
            </a:r>
            <a:endParaRPr lang="en-US" sz="1600" dirty="0"/>
          </a:p>
        </p:txBody>
      </p:sp>
      <p:sp>
        <p:nvSpPr>
          <p:cNvPr id="17" name="Text 13"/>
          <p:cNvSpPr/>
          <p:nvPr/>
        </p:nvSpPr>
        <p:spPr>
          <a:xfrm>
            <a:off x="6388100" y="3797840"/>
            <a:ext cx="4931537"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Keeping basis representations and merging dropped tokens into kept ones preserves information that random pruning loses.</a:t>
            </a:r>
            <a:endParaRPr lang="en-US" sz="1300" dirty="0"/>
          </a:p>
        </p:txBody>
      </p:sp>
      <p:sp>
        <p:nvSpPr>
          <p:cNvPr id="18" name="Text 14"/>
          <p:cNvSpPr/>
          <p:nvPr/>
        </p:nvSpPr>
        <p:spPr>
          <a:xfrm>
            <a:off x="6388100" y="4307089"/>
            <a:ext cx="4931537" cy="231123"/>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Arial" pitchFamily="34" charset="0"/>
                <a:ea typeface="Arial" pitchFamily="34" charset="-122"/>
                <a:cs typeface="Arial" pitchFamily="34" charset="-120"/>
              </a:rPr>
              <a:t>Possible test:</a:t>
            </a:r>
            <a:r>
              <a:rPr lang="en-US" sz="1200" dirty="0">
                <a:solidFill>
                  <a:srgbClr val="4A5568"/>
                </a:solidFill>
                <a:latin typeface="Arial" pitchFamily="34" charset="0"/>
                <a:ea typeface="Arial" pitchFamily="34" charset="-122"/>
                <a:cs typeface="Arial" pitchFamily="34" charset="-120"/>
              </a:rPr>
              <a:t> merging on vs. off under the same selection.</a:t>
            </a:r>
            <a:endParaRPr lang="en-US" sz="1200" dirty="0"/>
          </a:p>
        </p:txBody>
      </p:sp>
      <p:sp>
        <p:nvSpPr>
          <p:cNvPr id="19" name="Text 15"/>
          <p:cNvSpPr/>
          <p:nvPr/>
        </p:nvSpPr>
        <p:spPr>
          <a:xfrm>
            <a:off x="812800" y="5065883"/>
            <a:ext cx="10883393"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Both may hold. The 30-question set cannot separate them: it was picked from ApET’s own outcomes, so its 11 ApET losses are failures by construction.</a:t>
            </a:r>
            <a:endParaRPr lang="en-US" sz="1300" dirty="0"/>
          </a:p>
        </p:txBody>
      </p:sp>
      <p:sp>
        <p:nvSpPr>
          <p:cNvPr id="20" name="Text 16"/>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Random pruning differs from ApET in selection, basis handling and merging at once.</a:t>
            </a:r>
            <a:r>
              <a:rPr lang="en-US" sz="1200" dirty="0">
                <a:solidFill>
                  <a:srgbClr val="9AA6B6"/>
                </a:solidFill>
                <a:latin typeface="Arial" pitchFamily="34" charset="0"/>
                <a:ea typeface="Arial" pitchFamily="34" charset="-122"/>
                <a:cs typeface="Arial" pitchFamily="34" charset="-120"/>
              </a:rPr>
              <a:t> · 6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7242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Georgia" pitchFamily="18" charset="0"/>
                <a:ea typeface="Georgia" pitchFamily="18" charset="-122"/>
                <a:cs typeface="Georgia" pitchFamily="18" charset="-120"/>
              </a:rPr>
              <a:t>RQ3 check, interpretation and validity</a:t>
            </a:r>
            <a:endParaRPr lang="en-US" sz="3200" dirty="0"/>
          </a:p>
        </p:txBody>
      </p:sp>
      <p:sp>
        <p:nvSpPr>
          <p:cNvPr id="3" name="Shape 1"/>
          <p:cNvSpPr/>
          <p:nvPr/>
        </p:nvSpPr>
        <p:spPr>
          <a:xfrm>
            <a:off x="812800" y="1437621"/>
            <a:ext cx="3937000" cy="2962162"/>
          </a:xfrm>
          <a:prstGeom prst="roundRect">
            <a:avLst>
              <a:gd name="adj" fmla="val 2572"/>
            </a:avLst>
          </a:prstGeom>
          <a:solidFill>
            <a:srgbClr val="1B2A41"/>
          </a:solidFill>
          <a:ln/>
        </p:spPr>
      </p:sp>
      <p:sp>
        <p:nvSpPr>
          <p:cNvPr id="4" name="Text 2"/>
          <p:cNvSpPr/>
          <p:nvPr/>
        </p:nvSpPr>
        <p:spPr>
          <a:xfrm>
            <a:off x="1066800" y="1666221"/>
            <a:ext cx="3531870"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55C"/>
                </a:solidFill>
                <a:latin typeface="Arial" pitchFamily="34" charset="0"/>
                <a:ea typeface="Arial" pitchFamily="34" charset="-122"/>
                <a:cs typeface="Arial" pitchFamily="34" charset="-120"/>
              </a:rPr>
              <a:t>RQ3 FEASIBILITY CHECK</a:t>
            </a:r>
            <a:endParaRPr lang="en-US" sz="1200" dirty="0"/>
          </a:p>
        </p:txBody>
      </p:sp>
      <p:sp>
        <p:nvSpPr>
          <p:cNvPr id="5" name="Text 3"/>
          <p:cNvSpPr/>
          <p:nvPr/>
        </p:nvSpPr>
        <p:spPr>
          <a:xfrm>
            <a:off x="1066800" y="1955769"/>
            <a:ext cx="3531870" cy="45209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4F1EA"/>
                </a:solidFill>
                <a:latin typeface="Arial" pitchFamily="34" charset="0"/>
                <a:ea typeface="Arial" pitchFamily="34" charset="-122"/>
                <a:cs typeface="Arial" pitchFamily="34" charset="-120"/>
              </a:rPr>
              <a:t>AUROC 0.41–0.57</a:t>
            </a:r>
            <a:endParaRPr lang="en-US" sz="2400" dirty="0"/>
          </a:p>
        </p:txBody>
      </p:sp>
      <p:sp>
        <p:nvSpPr>
          <p:cNvPr id="6" name="Text 4"/>
          <p:cNvSpPr/>
          <p:nvPr/>
        </p:nvSpPr>
        <p:spPr>
          <a:xfrm>
            <a:off x="1066800" y="2458669"/>
            <a:ext cx="3531870"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DF"/>
                </a:solidFill>
                <a:latin typeface="Arial" pitchFamily="34" charset="0"/>
                <a:ea typeface="Arial" pitchFamily="34" charset="-122"/>
                <a:cs typeface="Arial" pitchFamily="34" charset="-120"/>
              </a:rPr>
              <a:t>Three image-level E features gave weak prediction of ApET losses; no clear gain over the base rate.</a:t>
            </a:r>
            <a:endParaRPr lang="en-US" sz="1300" dirty="0"/>
          </a:p>
        </p:txBody>
      </p:sp>
      <p:sp>
        <p:nvSpPr>
          <p:cNvPr id="7" name="Text 5"/>
          <p:cNvSpPr/>
          <p:nvPr/>
        </p:nvSpPr>
        <p:spPr>
          <a:xfrm>
            <a:off x="1066800" y="3203488"/>
            <a:ext cx="3531870"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DF"/>
                </a:solidFill>
                <a:latin typeface="Arial" pitchFamily="34" charset="0"/>
                <a:ea typeface="Arial" pitchFamily="34" charset="-122"/>
                <a:cs typeface="Arial" pitchFamily="34" charset="-120"/>
              </a:rPr>
              <a:t>56 of 100 GQA images had both lost and kept questions under the same input.</a:t>
            </a:r>
            <a:endParaRPr lang="en-US" sz="1300" dirty="0"/>
          </a:p>
        </p:txBody>
      </p:sp>
      <p:sp>
        <p:nvSpPr>
          <p:cNvPr id="8" name="Text 6"/>
          <p:cNvSpPr/>
          <p:nvPr/>
        </p:nvSpPr>
        <p:spPr>
          <a:xfrm>
            <a:off x="1066800" y="3725438"/>
            <a:ext cx="3531870" cy="471147"/>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4F1EA"/>
                </a:solidFill>
                <a:latin typeface="Arial" pitchFamily="34" charset="0"/>
                <a:ea typeface="Arial" pitchFamily="34" charset="-122"/>
                <a:cs typeface="Arial" pitchFamily="34" charset="-120"/>
              </a:rPr>
              <a:t>Not adopted;</a:t>
            </a:r>
            <a:r>
              <a:rPr lang="en-US" sz="1300" dirty="0">
                <a:solidFill>
                  <a:srgbClr val="F4F1EA"/>
                </a:solidFill>
                <a:latin typeface="Arial" pitchFamily="34" charset="0"/>
                <a:ea typeface="Arial" pitchFamily="34" charset="-122"/>
                <a:cs typeface="Arial" pitchFamily="34" charset="-120"/>
              </a:rPr>
              <a:t> question-aware policies remain open.</a:t>
            </a:r>
            <a:endParaRPr lang="en-US" sz="1300" dirty="0"/>
          </a:p>
        </p:txBody>
      </p:sp>
      <p:sp>
        <p:nvSpPr>
          <p:cNvPr id="9" name="Shape 7"/>
          <p:cNvSpPr/>
          <p:nvPr/>
        </p:nvSpPr>
        <p:spPr>
          <a:xfrm>
            <a:off x="4930775" y="1440796"/>
            <a:ext cx="3155950" cy="1411231"/>
          </a:xfrm>
          <a:prstGeom prst="roundRect">
            <a:avLst>
              <a:gd name="adj" fmla="val 5175"/>
            </a:avLst>
          </a:prstGeom>
          <a:solidFill>
            <a:srgbClr val="FDFCF9"/>
          </a:solidFill>
          <a:ln w="6350">
            <a:solidFill>
              <a:srgbClr val="DDD8CE"/>
            </a:solidFill>
            <a:prstDash val="solid"/>
          </a:ln>
        </p:spPr>
      </p:sp>
      <p:sp>
        <p:nvSpPr>
          <p:cNvPr id="10" name="Text 8"/>
          <p:cNvSpPr/>
          <p:nvPr/>
        </p:nvSpPr>
        <p:spPr>
          <a:xfrm>
            <a:off x="5110843" y="1595465"/>
            <a:ext cx="2879689"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B3F"/>
                </a:solidFill>
                <a:latin typeface="Arial" pitchFamily="34" charset="0"/>
                <a:ea typeface="Arial" pitchFamily="34" charset="-122"/>
                <a:cs typeface="Arial" pitchFamily="34" charset="-120"/>
              </a:rPr>
              <a:t>Worked</a:t>
            </a:r>
            <a:endParaRPr lang="en-US" sz="1400" dirty="0"/>
          </a:p>
        </p:txBody>
      </p:sp>
      <p:sp>
        <p:nvSpPr>
          <p:cNvPr id="11" name="Text 9"/>
          <p:cNvSpPr/>
          <p:nvPr/>
        </p:nvSpPr>
        <p:spPr>
          <a:xfrm>
            <a:off x="5110843" y="1859614"/>
            <a:ext cx="2879689"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ApET clearly beats random on TextVQA, mainly via fewer losses; GQA retention close to the paper’s.</a:t>
            </a:r>
            <a:endParaRPr lang="en-US" sz="1300" dirty="0"/>
          </a:p>
        </p:txBody>
      </p:sp>
      <p:sp>
        <p:nvSpPr>
          <p:cNvPr id="12" name="Shape 10"/>
          <p:cNvSpPr/>
          <p:nvPr/>
        </p:nvSpPr>
        <p:spPr>
          <a:xfrm>
            <a:off x="8220075" y="1440796"/>
            <a:ext cx="3155950" cy="1411231"/>
          </a:xfrm>
          <a:prstGeom prst="roundRect">
            <a:avLst>
              <a:gd name="adj" fmla="val 5175"/>
            </a:avLst>
          </a:prstGeom>
          <a:solidFill>
            <a:srgbClr val="FDFCF9"/>
          </a:solidFill>
          <a:ln w="6350">
            <a:solidFill>
              <a:srgbClr val="DDD8CE"/>
            </a:solidFill>
            <a:prstDash val="solid"/>
          </a:ln>
        </p:spPr>
      </p:sp>
      <p:sp>
        <p:nvSpPr>
          <p:cNvPr id="13" name="Text 11"/>
          <p:cNvSpPr/>
          <p:nvPr/>
        </p:nvSpPr>
        <p:spPr>
          <a:xfrm>
            <a:off x="8400143" y="1595465"/>
            <a:ext cx="2879689"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A4512"/>
                </a:solidFill>
                <a:latin typeface="Arial" pitchFamily="34" charset="0"/>
                <a:ea typeface="Arial" pitchFamily="34" charset="-122"/>
                <a:cs typeface="Arial" pitchFamily="34" charset="-120"/>
              </a:rPr>
              <a:t>Did not work</a:t>
            </a:r>
            <a:endParaRPr lang="en-US" sz="1400" dirty="0"/>
          </a:p>
        </p:txBody>
      </p:sp>
      <p:sp>
        <p:nvSpPr>
          <p:cNvPr id="14" name="Text 12"/>
          <p:cNvSpPr/>
          <p:nvPr/>
        </p:nvSpPr>
        <p:spPr>
          <a:xfrm>
            <a:off x="8400143" y="1859614"/>
            <a:ext cx="2879689"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E does not consistently rank tokens by answer effect; image-level E did not predict failures.</a:t>
            </a:r>
            <a:endParaRPr lang="en-US" sz="1300" dirty="0"/>
          </a:p>
        </p:txBody>
      </p:sp>
      <p:sp>
        <p:nvSpPr>
          <p:cNvPr id="15" name="Shape 13"/>
          <p:cNvSpPr/>
          <p:nvPr/>
        </p:nvSpPr>
        <p:spPr>
          <a:xfrm>
            <a:off x="4930775" y="2985377"/>
            <a:ext cx="3155950" cy="1411231"/>
          </a:xfrm>
          <a:prstGeom prst="roundRect">
            <a:avLst>
              <a:gd name="adj" fmla="val 5175"/>
            </a:avLst>
          </a:prstGeom>
          <a:solidFill>
            <a:srgbClr val="FDFCF9"/>
          </a:solidFill>
          <a:ln w="6350">
            <a:solidFill>
              <a:srgbClr val="DDD8CE"/>
            </a:solidFill>
            <a:prstDash val="solid"/>
          </a:ln>
        </p:spPr>
      </p:sp>
      <p:sp>
        <p:nvSpPr>
          <p:cNvPr id="16" name="Text 14"/>
          <p:cNvSpPr/>
          <p:nvPr/>
        </p:nvSpPr>
        <p:spPr>
          <a:xfrm>
            <a:off x="5110843" y="3140044"/>
            <a:ext cx="2879689"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Surprising failure</a:t>
            </a:r>
            <a:endParaRPr lang="en-US" sz="1400" dirty="0"/>
          </a:p>
        </p:txBody>
      </p:sp>
      <p:sp>
        <p:nvSpPr>
          <p:cNvPr id="17" name="Text 15"/>
          <p:cNvSpPr/>
          <p:nvPr/>
        </p:nvSpPr>
        <p:spPr>
          <a:xfrm>
            <a:off x="5110843" y="3404195"/>
            <a:ext cx="2879689"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Merging changed “Brolio” to “Bottoli”; undoing one kept token’s merge restored it.</a:t>
            </a:r>
            <a:endParaRPr lang="en-US" sz="1300" dirty="0"/>
          </a:p>
        </p:txBody>
      </p:sp>
      <p:sp>
        <p:nvSpPr>
          <p:cNvPr id="18" name="Shape 16"/>
          <p:cNvSpPr/>
          <p:nvPr/>
        </p:nvSpPr>
        <p:spPr>
          <a:xfrm>
            <a:off x="8220075" y="2985377"/>
            <a:ext cx="3155950" cy="1411231"/>
          </a:xfrm>
          <a:prstGeom prst="roundRect">
            <a:avLst>
              <a:gd name="adj" fmla="val 5175"/>
            </a:avLst>
          </a:prstGeom>
          <a:solidFill>
            <a:srgbClr val="FDFCF9"/>
          </a:solidFill>
          <a:ln w="6350">
            <a:solidFill>
              <a:srgbClr val="DDD8CE"/>
            </a:solidFill>
            <a:prstDash val="solid"/>
          </a:ln>
        </p:spPr>
      </p:sp>
      <p:sp>
        <p:nvSpPr>
          <p:cNvPr id="19" name="Text 17"/>
          <p:cNvSpPr/>
          <p:nvPr/>
        </p:nvSpPr>
        <p:spPr>
          <a:xfrm>
            <a:off x="8400143" y="3140044"/>
            <a:ext cx="2879689" cy="23874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Not yet met</a:t>
            </a:r>
            <a:endParaRPr lang="en-US" sz="1400" dirty="0"/>
          </a:p>
        </p:txBody>
      </p:sp>
      <p:sp>
        <p:nvSpPr>
          <p:cNvPr id="20" name="Text 18"/>
          <p:cNvSpPr/>
          <p:nvPr/>
        </p:nvSpPr>
        <p:spPr>
          <a:xfrm>
            <a:off x="8400143" y="3404195"/>
            <a:ext cx="2879689"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Arial" pitchFamily="34" charset="0"/>
                <a:ea typeface="Arial" pitchFamily="34" charset="-122"/>
                <a:cs typeface="Arial" pitchFamily="34" charset="-120"/>
              </a:rPr>
              <a:t>Which component drives the gain (RQ2), and a supported RQ3 direction.</a:t>
            </a:r>
            <a:endParaRPr lang="en-US" sz="1300" dirty="0"/>
          </a:p>
        </p:txBody>
      </p:sp>
      <p:sp>
        <p:nvSpPr>
          <p:cNvPr id="21" name="Shape 19"/>
          <p:cNvSpPr/>
          <p:nvPr/>
        </p:nvSpPr>
        <p:spPr>
          <a:xfrm>
            <a:off x="825500" y="4577584"/>
            <a:ext cx="0" cy="496547"/>
          </a:xfrm>
          <a:prstGeom prst="line">
            <a:avLst/>
          </a:prstGeom>
          <a:noFill/>
          <a:ln w="25400">
            <a:solidFill>
              <a:srgbClr val="2F6B3F"/>
            </a:solidFill>
            <a:prstDash val="solid"/>
          </a:ln>
        </p:spPr>
      </p:sp>
      <p:sp>
        <p:nvSpPr>
          <p:cNvPr id="22" name="Text 20"/>
          <p:cNvSpPr/>
          <p:nvPr/>
        </p:nvSpPr>
        <p:spPr>
          <a:xfrm>
            <a:off x="990600" y="4602984"/>
            <a:ext cx="10700259" cy="471147"/>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B2A41"/>
                </a:solidFill>
                <a:latin typeface="Arial" pitchFamily="34" charset="0"/>
                <a:ea typeface="Arial" pitchFamily="34" charset="-122"/>
                <a:cs typeface="Arial" pitchFamily="34" charset="-120"/>
              </a:rPr>
              <a:t>Validity checks:</a:t>
            </a:r>
            <a:r>
              <a:rPr lang="en-US" sz="1300" dirty="0">
                <a:solidFill>
                  <a:srgbClr val="1B2A41"/>
                </a:solidFill>
                <a:latin typeface="Arial" pitchFamily="34" charset="0"/>
                <a:ea typeface="Arial" pitchFamily="34" charset="-122"/>
                <a:cs typeface="Arial" pitchFamily="34" charset="-120"/>
              </a:rPr>
              <a:t> no-compression and fixed-feature replays matched reference outputs exactly; all 90 recomputed correlations matched; loss/gain counts consistent in all 27 conditions.</a:t>
            </a:r>
            <a:endParaRPr lang="en-US" sz="1300" dirty="0"/>
          </a:p>
        </p:txBody>
      </p:sp>
      <p:sp>
        <p:nvSpPr>
          <p:cNvPr id="23" name="Text 21"/>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Feasibility check: five image-grouped folds on saved E values, no new GPU runs.</a:t>
            </a:r>
            <a:r>
              <a:rPr lang="en-US" sz="1200" dirty="0">
                <a:solidFill>
                  <a:srgbClr val="9AA6B6"/>
                </a:solidFill>
                <a:latin typeface="Arial" pitchFamily="34" charset="0"/>
                <a:ea typeface="Arial" pitchFamily="34" charset="-122"/>
                <a:cs typeface="Arial" pitchFamily="34" charset="-120"/>
              </a:rPr>
              <a:t> · 7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D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7242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Georgia" pitchFamily="18" charset="0"/>
                <a:ea typeface="Georgia" pitchFamily="18" charset="-122"/>
                <a:cs typeface="Georgia" pitchFamily="18" charset="-120"/>
              </a:rPr>
              <a:t>Roadblocks and fixes</a:t>
            </a:r>
            <a:endParaRPr lang="en-US" sz="3200" dirty="0"/>
          </a:p>
        </p:txBody>
      </p:sp>
      <p:sp>
        <p:nvSpPr>
          <p:cNvPr id="3" name="Text 1"/>
          <p:cNvSpPr/>
          <p:nvPr/>
        </p:nvSpPr>
        <p:spPr>
          <a:xfrm>
            <a:off x="812800" y="1336021"/>
            <a:ext cx="1088339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Independent issues, each with its own fix and status</a:t>
            </a:r>
            <a:endParaRPr lang="en-US" sz="1400" dirty="0"/>
          </a:p>
        </p:txBody>
      </p:sp>
      <p:sp>
        <p:nvSpPr>
          <p:cNvPr id="4" name="Shape 2"/>
          <p:cNvSpPr/>
          <p:nvPr/>
        </p:nvSpPr>
        <p:spPr>
          <a:xfrm>
            <a:off x="812800" y="1737320"/>
            <a:ext cx="10566401" cy="2742917"/>
          </a:xfrm>
          <a:prstGeom prst="roundRect">
            <a:avLst>
              <a:gd name="adj" fmla="val 2778"/>
            </a:avLst>
          </a:prstGeom>
          <a:solidFill>
            <a:srgbClr val="FBFBF8"/>
          </a:solidFill>
          <a:ln/>
        </p:spPr>
      </p:sp>
      <p:sp>
        <p:nvSpPr>
          <p:cNvPr id="5" name="Shape 3"/>
          <p:cNvSpPr/>
          <p:nvPr/>
        </p:nvSpPr>
        <p:spPr>
          <a:xfrm>
            <a:off x="812800" y="1737320"/>
            <a:ext cx="10566401" cy="2742917"/>
          </a:xfrm>
          <a:custGeom>
            <a:avLst/>
            <a:gdLst/>
            <a:ahLst/>
            <a:cxnLst/>
            <a:rect l="l" t="t" r="r" b="b"/>
            <a:pathLst>
              <a:path w="10566401" h="2742917">
                <a:moveTo>
                  <a:pt x="76200" y="2742917"/>
                </a:moveTo>
                <a:lnTo>
                  <a:pt x="76200" y="2742917"/>
                </a:lnTo>
                <a:arcTo hR="76200" wR="76200" stAng="5400000" swAng="5400000"/>
                <a:lnTo>
                  <a:pt x="0" y="76200"/>
                </a:lnTo>
                <a:arcTo hR="76200" wR="76200" stAng="10800000" swAng="5400000"/>
                <a:lnTo>
                  <a:pt x="10490201" y="0"/>
                </a:lnTo>
                <a:arcTo hR="76200" wR="76200" stAng="16200000" swAng="5400000"/>
                <a:lnTo>
                  <a:pt x="10566401" y="76200"/>
                </a:lnTo>
                <a:arcTo hR="63500" wR="76200" stAng="0" swAng="-5400000"/>
                <a:lnTo>
                  <a:pt x="76200" y="12700"/>
                </a:lnTo>
                <a:arcTo hR="63500" wR="63500" stAng="16200000" swAng="-5400000"/>
                <a:lnTo>
                  <a:pt x="12700" y="2666717"/>
                </a:lnTo>
                <a:arcTo hR="76200" wR="63500" stAng="10800000" swAng="-5400000"/>
                <a:close/>
              </a:path>
            </a:pathLst>
          </a:custGeom>
          <a:solidFill>
            <a:srgbClr val="141413">
              <a:alpha val="22000"/>
            </a:srgbClr>
          </a:solidFill>
          <a:ln/>
        </p:spPr>
      </p:sp>
      <p:sp>
        <p:nvSpPr>
          <p:cNvPr id="6" name="Shape 4"/>
          <p:cNvSpPr/>
          <p:nvPr/>
        </p:nvSpPr>
        <p:spPr>
          <a:xfrm>
            <a:off x="825500" y="1750020"/>
            <a:ext cx="10553701" cy="332695"/>
          </a:xfrm>
          <a:custGeom>
            <a:avLst/>
            <a:gdLst/>
            <a:ahLst/>
            <a:cxnLst/>
            <a:rect l="l" t="t" r="r" b="b"/>
            <a:pathLst>
              <a:path w="10553701" h="332695">
                <a:moveTo>
                  <a:pt x="0" y="63500"/>
                </a:moveTo>
                <a:arcTo hR="63500" wR="63500" stAng="10800000" swAng="5400000"/>
                <a:lnTo>
                  <a:pt x="10477501" y="0"/>
                </a:lnTo>
                <a:arcTo hR="76200" wR="76200" stAng="16200000" swAng="5400000"/>
                <a:lnTo>
                  <a:pt x="10553701" y="332695"/>
                </a:lnTo>
                <a:lnTo>
                  <a:pt x="0" y="332695"/>
                </a:lnTo>
                <a:close/>
              </a:path>
            </a:pathLst>
          </a:custGeom>
          <a:solidFill>
            <a:srgbClr val="E9E9E6"/>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750020"/>
          <a:ext cx="10553701" cy="2730217"/>
        </p:xfrm>
        <a:graphic>
          <a:graphicData uri="http://schemas.openxmlformats.org/drawingml/2006/table">
            <a:tbl>
              <a:tblPr/>
              <a:tblGrid>
                <a:gridCol w="1899666"/>
                <a:gridCol w="3271647"/>
                <a:gridCol w="3693795"/>
                <a:gridCol w="1688592"/>
              </a:tblGrid>
              <a:tr h="332695">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Roadblock</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What happened</a:t>
                      </a:r>
                      <a:endParaRPr lang="en-US" sz="1200" dirty="0">
                        <a:latin typeface="Arial" charset="0"/>
                        <a:ea typeface="Arial" charset="0"/>
                        <a:cs typeface="Arial"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Fix / action</a:t>
                      </a:r>
                      <a:endParaRPr lang="en-US" sz="1200" dirty="0">
                        <a:latin typeface="Arial" charset="0"/>
                        <a:ea typeface="Arial" charset="0"/>
                        <a:cs typeface="Arial"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r>
              <a:tr h="546043">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Integration</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Kaggle package updates broke ApET/LLaVA compatibility.</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Locked environment with recorded fixes.</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2F6B3F"/>
                          </a:solidFill>
                          <a:latin typeface="Arial" pitchFamily="34" charset="0"/>
                          <a:ea typeface="Arial" pitchFamily="34" charset="-122"/>
                          <a:cs typeface="Arial" pitchFamily="34" charset="-120"/>
                        </a:rPr>
                        <a:t>Green: resolved</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759392">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Run-to-run variation</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Fresh compressed runs changed a few answers; replays from saved features were identical.</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Diagnostic traced it to the merge step (likely order-dependent FP16 sums); keep first runs, repeat critical cases.</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7A5A00"/>
                          </a:solidFill>
                          <a:latin typeface="Arial" pitchFamily="34" charset="0"/>
                          <a:ea typeface="Arial" pitchFamily="34" charset="-122"/>
                          <a:cs typeface="Arial" pitchFamily="34" charset="-120"/>
                        </a:rPr>
                        <a:t>Yellow: managed, cause not isolated</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43">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Selection bias</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The 30-question set was picked from ApET’s own outcomes, so it favors other methods.</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Use it only for RQ1 and case studies; compare components on unselected subsets.</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7A5A00"/>
                          </a:solidFill>
                          <a:latin typeface="Arial" pitchFamily="34" charset="0"/>
                          <a:ea typeface="Arial" pitchFamily="34" charset="-122"/>
                          <a:cs typeface="Arial" pitchFamily="34" charset="-120"/>
                        </a:rPr>
                        <a:t>Yellow: handled by design</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43">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Planning risk</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Component attribution may stay unclear; no RQ3 candidate yet.</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B2A41"/>
                          </a:solidFill>
                          <a:latin typeface="Arial" pitchFamily="34" charset="0"/>
                          <a:ea typeface="Arial" pitchFamily="34" charset="-122"/>
                          <a:cs typeface="Arial" pitchFamily="34" charset="-120"/>
                        </a:rPr>
                        <a:t>Report a well-controlled negative result.</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7A5A00"/>
                          </a:solidFill>
                          <a:latin typeface="Arial" pitchFamily="34" charset="0"/>
                          <a:ea typeface="Arial" pitchFamily="34" charset="-122"/>
                          <a:cs typeface="Arial" pitchFamily="34" charset="-120"/>
                        </a:rPr>
                        <a:t>Yellow: open</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8" name="Text 5"/>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Merging uses CUDA scatter_add_; GPU additions can run in a different order each time, and FP16 addition is not exactly associative.</a:t>
            </a:r>
            <a:r>
              <a:rPr lang="en-US" sz="1200" dirty="0">
                <a:solidFill>
                  <a:srgbClr val="9AA6B6"/>
                </a:solidFill>
                <a:latin typeface="Arial" pitchFamily="34" charset="0"/>
                <a:ea typeface="Arial" pitchFamily="34" charset="-122"/>
                <a:cs typeface="Arial" pitchFamily="34" charset="-120"/>
              </a:rPr>
              <a:t> · 8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91944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A"/>
                </a:solidFill>
                <a:latin typeface="Georgia" pitchFamily="18" charset="0"/>
                <a:ea typeface="Georgia" pitchFamily="18" charset="-122"/>
                <a:cs typeface="Georgia" pitchFamily="18" charset="-120"/>
              </a:rPr>
              <a:t>Next: does “easy to reconstruct” mean the model can still use it?</a:t>
            </a:r>
            <a:endParaRPr lang="en-US" sz="3200" dirty="0"/>
          </a:p>
        </p:txBody>
      </p:sp>
      <p:sp>
        <p:nvSpPr>
          <p:cNvPr id="3" name="Shape 1"/>
          <p:cNvSpPr/>
          <p:nvPr/>
        </p:nvSpPr>
        <p:spPr>
          <a:xfrm>
            <a:off x="812800" y="1859248"/>
            <a:ext cx="5207000" cy="1093447"/>
          </a:xfrm>
          <a:prstGeom prst="roundRect">
            <a:avLst>
              <a:gd name="adj" fmla="val 6969"/>
            </a:avLst>
          </a:prstGeom>
          <a:solidFill>
            <a:srgbClr val="24364F"/>
          </a:solidFill>
          <a:ln/>
        </p:spPr>
      </p:sp>
      <p:sp>
        <p:nvSpPr>
          <p:cNvPr id="4" name="Text 2"/>
          <p:cNvSpPr/>
          <p:nvPr/>
        </p:nvSpPr>
        <p:spPr>
          <a:xfrm>
            <a:off x="1016000" y="2037048"/>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8A55C"/>
                </a:solidFill>
                <a:latin typeface="Arial" pitchFamily="34" charset="0"/>
                <a:ea typeface="Arial" pitchFamily="34" charset="-122"/>
                <a:cs typeface="Arial" pitchFamily="34" charset="-120"/>
              </a:rPr>
              <a:t>(a) Test ApET’s assumption</a:t>
            </a:r>
            <a:endParaRPr lang="en-US" sz="1500" dirty="0"/>
          </a:p>
        </p:txBody>
      </p:sp>
      <p:sp>
        <p:nvSpPr>
          <p:cNvPr id="5" name="Text 3"/>
          <p:cNvSpPr/>
          <p:nvPr/>
        </p:nvSpPr>
        <p:spPr>
          <a:xfrm>
            <a:off x="1016000" y="2329148"/>
            <a:ext cx="494461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DF"/>
                </a:solidFill>
                <a:latin typeface="Arial" pitchFamily="34" charset="0"/>
                <a:ea typeface="Arial" pitchFamily="34" charset="-122"/>
                <a:cs typeface="Arial" pitchFamily="34" charset="-120"/>
              </a:rPr>
              <a:t>For low-E tokens, compare answers when a token is kept, merged, dropped, or replaced by its linear reconstruction.</a:t>
            </a:r>
            <a:endParaRPr lang="en-US" sz="1300" dirty="0"/>
          </a:p>
        </p:txBody>
      </p:sp>
      <p:sp>
        <p:nvSpPr>
          <p:cNvPr id="6" name="Shape 4"/>
          <p:cNvSpPr/>
          <p:nvPr/>
        </p:nvSpPr>
        <p:spPr>
          <a:xfrm>
            <a:off x="6172200" y="1859248"/>
            <a:ext cx="5207000" cy="1093447"/>
          </a:xfrm>
          <a:prstGeom prst="roundRect">
            <a:avLst>
              <a:gd name="adj" fmla="val 6969"/>
            </a:avLst>
          </a:prstGeom>
          <a:solidFill>
            <a:srgbClr val="24364F"/>
          </a:solidFill>
          <a:ln/>
        </p:spPr>
      </p:sp>
      <p:sp>
        <p:nvSpPr>
          <p:cNvPr id="7" name="Text 5"/>
          <p:cNvSpPr/>
          <p:nvPr/>
        </p:nvSpPr>
        <p:spPr>
          <a:xfrm>
            <a:off x="6375400" y="2037048"/>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8A55C"/>
                </a:solidFill>
                <a:latin typeface="Arial" pitchFamily="34" charset="0"/>
                <a:ea typeface="Arial" pitchFamily="34" charset="-122"/>
                <a:cs typeface="Arial" pitchFamily="34" charset="-120"/>
              </a:rPr>
              <a:t>(b) Look inside merging</a:t>
            </a:r>
            <a:endParaRPr lang="en-US" sz="1500" dirty="0"/>
          </a:p>
        </p:txBody>
      </p:sp>
      <p:sp>
        <p:nvSpPr>
          <p:cNvPr id="8" name="Text 6"/>
          <p:cNvSpPr/>
          <p:nvPr/>
        </p:nvSpPr>
        <p:spPr>
          <a:xfrm>
            <a:off x="6375400" y="2329148"/>
            <a:ext cx="494461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DF"/>
                </a:solidFill>
                <a:latin typeface="Arial" pitchFamily="34" charset="0"/>
                <a:ea typeface="Arial" pitchFamily="34" charset="-122"/>
                <a:cs typeface="Arial" pitchFamily="34" charset="-120"/>
              </a:rPr>
              <a:t>Measure how averaged tokens differ from the originals; vary the merge rule with the kept tokens fixed.</a:t>
            </a:r>
            <a:endParaRPr lang="en-US" sz="1300" dirty="0"/>
          </a:p>
        </p:txBody>
      </p:sp>
      <p:sp>
        <p:nvSpPr>
          <p:cNvPr id="9" name="Shape 7"/>
          <p:cNvSpPr/>
          <p:nvPr/>
        </p:nvSpPr>
        <p:spPr>
          <a:xfrm>
            <a:off x="812800" y="3105094"/>
            <a:ext cx="5715000" cy="2341563"/>
          </a:xfrm>
          <a:prstGeom prst="roundRect">
            <a:avLst>
              <a:gd name="adj" fmla="val 3254"/>
            </a:avLst>
          </a:prstGeom>
          <a:solidFill>
            <a:srgbClr val="24364F"/>
          </a:solidFill>
          <a:ln/>
        </p:spPr>
      </p:sp>
      <p:sp>
        <p:nvSpPr>
          <p:cNvPr id="10" name="Shape 8"/>
          <p:cNvSpPr/>
          <p:nvPr/>
        </p:nvSpPr>
        <p:spPr>
          <a:xfrm>
            <a:off x="812800" y="3105094"/>
            <a:ext cx="5715000" cy="2341563"/>
          </a:xfrm>
          <a:custGeom>
            <a:avLst/>
            <a:gdLst/>
            <a:ahLst/>
            <a:cxnLst/>
            <a:rect l="l" t="t" r="r" b="b"/>
            <a:pathLst>
              <a:path w="5715000" h="2341563">
                <a:moveTo>
                  <a:pt x="76200" y="2341563"/>
                </a:moveTo>
                <a:lnTo>
                  <a:pt x="76200" y="2341563"/>
                </a:lnTo>
                <a:arcTo hR="76200" wR="76200" stAng="5400000" swAng="5400000"/>
                <a:lnTo>
                  <a:pt x="0" y="76200"/>
                </a:lnTo>
                <a:arcTo hR="76200" wR="76200" stAng="10800000" swAng="5400000"/>
                <a:lnTo>
                  <a:pt x="5638800" y="0"/>
                </a:lnTo>
                <a:arcTo hR="76200" wR="76200" stAng="16200000" swAng="5400000"/>
                <a:lnTo>
                  <a:pt x="5715000" y="76200"/>
                </a:lnTo>
                <a:arcTo hR="63500" wR="76200" stAng="0" swAng="-5400000"/>
                <a:lnTo>
                  <a:pt x="76200" y="12700"/>
                </a:lnTo>
                <a:arcTo hR="63500" wR="63500" stAng="16200000" swAng="-5400000"/>
                <a:lnTo>
                  <a:pt x="12700" y="2265363"/>
                </a:lnTo>
                <a:arcTo hR="76200" wR="63500" stAng="10800000" swAng="-5400000"/>
                <a:close/>
              </a:path>
            </a:pathLst>
          </a:custGeom>
          <a:solidFill>
            <a:srgbClr val="FAF9F5">
              <a:alpha val="22000"/>
            </a:srgbClr>
          </a:solidFill>
          <a:ln/>
        </p:spPr>
      </p:sp>
      <p:sp>
        <p:nvSpPr>
          <p:cNvPr id="11" name="Shape 9"/>
          <p:cNvSpPr/>
          <p:nvPr/>
        </p:nvSpPr>
        <p:spPr>
          <a:xfrm>
            <a:off x="825500" y="3117794"/>
            <a:ext cx="5702300" cy="332695"/>
          </a:xfrm>
          <a:custGeom>
            <a:avLst/>
            <a:gdLst/>
            <a:ahLst/>
            <a:cxnLst/>
            <a:rect l="l" t="t" r="r" b="b"/>
            <a:pathLst>
              <a:path w="5702300" h="332695">
                <a:moveTo>
                  <a:pt x="0" y="63500"/>
                </a:moveTo>
                <a:arcTo hR="63500" wR="63500" stAng="10800000" swAng="5400000"/>
                <a:lnTo>
                  <a:pt x="5626100" y="0"/>
                </a:lnTo>
                <a:arcTo hR="76200" wR="76200" stAng="16200000" swAng="5400000"/>
                <a:lnTo>
                  <a:pt x="5702300" y="332695"/>
                </a:lnTo>
                <a:lnTo>
                  <a:pt x="0" y="332695"/>
                </a:lnTo>
                <a:close/>
              </a:path>
            </a:pathLst>
          </a:custGeom>
          <a:solidFill>
            <a:srgbClr val="35465C"/>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3117794"/>
          <a:ext cx="5702300" cy="2328863"/>
        </p:xfrm>
        <a:graphic>
          <a:graphicData uri="http://schemas.openxmlformats.org/drawingml/2006/table">
            <a:tbl>
              <a:tblPr/>
              <a:tblGrid>
                <a:gridCol w="1140460"/>
                <a:gridCol w="4561840"/>
              </a:tblGrid>
              <a:tr h="332695">
                <a:tc>
                  <a:txBody>
                    <a:bodyPr/>
                    <a:lstStyle/>
                    <a:p>
                      <a:pPr indent="0" marL="0">
                        <a:lnSpc>
                          <a:spcPts val="1680"/>
                        </a:lnSpc>
                        <a:buNone/>
                      </a:pPr>
                      <a:r>
                        <a:rPr lang="en-US" sz="1200" b="1" dirty="0">
                          <a:solidFill>
                            <a:srgbClr val="E8A55C"/>
                          </a:solidFill>
                          <a:latin typeface="Arial" pitchFamily="34" charset="0"/>
                          <a:ea typeface="Arial" pitchFamily="34" charset="-122"/>
                          <a:cs typeface="Arial" pitchFamily="34" charset="-120"/>
                        </a:rPr>
                        <a:t>Date</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606D7E"/>
                      </a:solidFill>
                      <a:prstDash val="solid"/>
                      <a:round/>
                      <a:headEnd type="none" w="med" len="med"/>
                      <a:tailEnd type="none" w="med" len="med"/>
                    </a:lnR>
                    <a:lnT w="0" cap="flat" cmpd="sng" algn="ctr">
                      <a:noFill/>
                    </a:lnT>
                    <a:lnB w="12700" cap="flat" cmpd="sng" algn="ctr">
                      <a:solidFill>
                        <a:srgbClr val="606D7E"/>
                      </a:solidFill>
                      <a:prstDash val="solid"/>
                      <a:round/>
                      <a:headEnd type="none" w="med" len="med"/>
                      <a:tailEnd type="none" w="med" len="med"/>
                    </a:lnB>
                  </a:tcPr>
                </a:tc>
                <a:tc>
                  <a:txBody>
                    <a:bodyPr/>
                    <a:lstStyle/>
                    <a:p>
                      <a:pPr indent="0" marL="0">
                        <a:lnSpc>
                          <a:spcPts val="1680"/>
                        </a:lnSpc>
                        <a:buNone/>
                      </a:pPr>
                      <a:r>
                        <a:rPr lang="en-US" sz="1200" b="1" dirty="0">
                          <a:solidFill>
                            <a:srgbClr val="E8A55C"/>
                          </a:solidFill>
                          <a:latin typeface="Arial" pitchFamily="34" charset="0"/>
                          <a:ea typeface="Arial" pitchFamily="34" charset="-122"/>
                          <a:cs typeface="Arial" pitchFamily="34" charset="-120"/>
                        </a:rPr>
                        <a:t>Milestone</a:t>
                      </a:r>
                      <a:endParaRPr lang="en-US" sz="1200" dirty="0">
                        <a:latin typeface="Arial" charset="0"/>
                        <a:ea typeface="Arial" charset="0"/>
                        <a:cs typeface="Arial" charset="0"/>
                      </a:endParaRPr>
                    </a:p>
                  </a:txBody>
                  <a:tcPr marL="53340" marR="53340" marT="53340" marB="53340" anchor="t">
                    <a:lnL w="12700" cap="flat" cmpd="sng" algn="ctr">
                      <a:solidFill>
                        <a:srgbClr val="606D7E"/>
                      </a:solidFill>
                      <a:prstDash val="solid"/>
                      <a:round/>
                      <a:headEnd type="none" w="med" len="med"/>
                      <a:tailEnd type="none" w="med" len="med"/>
                    </a:lnL>
                    <a:lnR w="12700" cap="flat" cmpd="sng" algn="ctr">
                      <a:solidFill>
                        <a:srgbClr val="606D7E"/>
                      </a:solidFill>
                      <a:prstDash val="solid"/>
                      <a:round/>
                      <a:headEnd type="none" w="med" len="med"/>
                      <a:tailEnd type="none" w="med" len="med"/>
                    </a:lnR>
                    <a:lnT w="0" cap="flat" cmpd="sng" algn="ctr">
                      <a:noFill/>
                    </a:lnT>
                    <a:lnB w="12700" cap="flat" cmpd="sng" algn="ctr">
                      <a:solidFill>
                        <a:srgbClr val="606D7E"/>
                      </a:solidFill>
                      <a:prstDash val="solid"/>
                      <a:round/>
                      <a:headEnd type="none" w="med" len="med"/>
                      <a:tailEnd type="none" w="med" len="med"/>
                    </a:lnB>
                  </a:tcPr>
                </a:tc>
              </a:tr>
              <a:tr h="332695">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Oct 30</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536174"/>
                      </a:solidFill>
                      <a:prstDash val="solid"/>
                      <a:round/>
                      <a:headEnd type="none" w="med" len="med"/>
                      <a:tailEnd type="none" w="med" len="med"/>
                    </a:lnR>
                    <a:lnT w="12700" cap="flat" cmpd="sng" algn="ctr">
                      <a:solidFill>
                        <a:srgbClr val="606D7E"/>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Submit report and slides</a:t>
                      </a:r>
                      <a:endParaRPr lang="en-US" sz="1200" dirty="0">
                        <a:latin typeface="Arial" charset="0"/>
                        <a:ea typeface="Arial" charset="0"/>
                        <a:cs typeface="Arial" charset="0"/>
                      </a:endParaRPr>
                    </a:p>
                  </a:txBody>
                  <a:tcPr marL="53340" marR="53340" marT="53340" marB="53340" anchor="t">
                    <a:lnL w="12700" cap="flat" cmpd="sng" algn="ctr">
                      <a:solidFill>
                        <a:srgbClr val="536174"/>
                      </a:solidFill>
                      <a:prstDash val="solid"/>
                      <a:round/>
                      <a:headEnd type="none" w="med" len="med"/>
                      <a:tailEnd type="none" w="med" len="med"/>
                    </a:lnL>
                    <a:lnR w="12700" cap="flat" cmpd="sng" algn="ctr">
                      <a:solidFill>
                        <a:srgbClr val="536174"/>
                      </a:solidFill>
                      <a:prstDash val="solid"/>
                      <a:round/>
                      <a:headEnd type="none" w="med" len="med"/>
                      <a:tailEnd type="none" w="med" len="med"/>
                    </a:lnR>
                    <a:lnT w="12700" cap="flat" cmpd="sng" algn="ctr">
                      <a:solidFill>
                        <a:srgbClr val="606D7E"/>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r>
              <a:tr h="332695">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Nov 6</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Choose one comparison; write its protocol</a:t>
                      </a:r>
                      <a:endParaRPr lang="en-US" sz="1200" dirty="0">
                        <a:latin typeface="Arial" charset="0"/>
                        <a:ea typeface="Arial" charset="0"/>
                        <a:cs typeface="Arial" charset="0"/>
                      </a:endParaRPr>
                    </a:p>
                  </a:txBody>
                  <a:tcPr marL="53340" marR="53340" marT="53340" marB="53340" anchor="t">
                    <a:lnL w="12700" cap="flat" cmpd="sng" algn="ctr">
                      <a:solidFill>
                        <a:srgbClr val="536174"/>
                      </a:solidFill>
                      <a:prstDash val="solid"/>
                      <a:round/>
                      <a:headEnd type="none" w="med" len="med"/>
                      <a:tailEnd type="none" w="med" len="med"/>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r>
              <a:tr h="332695">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Nov 13</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Pilot on a small unselected subset</a:t>
                      </a:r>
                      <a:endParaRPr lang="en-US" sz="1200" dirty="0">
                        <a:latin typeface="Arial" charset="0"/>
                        <a:ea typeface="Arial" charset="0"/>
                        <a:cs typeface="Arial" charset="0"/>
                      </a:endParaRPr>
                    </a:p>
                  </a:txBody>
                  <a:tcPr marL="53340" marR="53340" marT="53340" marB="53340" anchor="t">
                    <a:lnL w="12700" cap="flat" cmpd="sng" algn="ctr">
                      <a:solidFill>
                        <a:srgbClr val="536174"/>
                      </a:solidFill>
                      <a:prstDash val="solid"/>
                      <a:round/>
                      <a:headEnd type="none" w="med" len="med"/>
                      <a:tailEnd type="none" w="med" len="med"/>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r>
              <a:tr h="332695">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Nov 20</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Main run at 96→32 (288→96 if feasible)</a:t>
                      </a:r>
                      <a:endParaRPr lang="en-US" sz="1200" dirty="0">
                        <a:latin typeface="Arial" charset="0"/>
                        <a:ea typeface="Arial" charset="0"/>
                        <a:cs typeface="Arial" charset="0"/>
                      </a:endParaRPr>
                    </a:p>
                  </a:txBody>
                  <a:tcPr marL="53340" marR="53340" marT="53340" marB="53340" anchor="t">
                    <a:lnL w="12700" cap="flat" cmpd="sng" algn="ctr">
                      <a:solidFill>
                        <a:srgbClr val="536174"/>
                      </a:solidFill>
                      <a:prstDash val="solid"/>
                      <a:round/>
                      <a:headEnd type="none" w="med" len="med"/>
                      <a:tailEnd type="none" w="med" len="med"/>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r>
              <a:tr h="332695">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Nov 24</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RQ3 go/no-go</a:t>
                      </a:r>
                      <a:endParaRPr lang="en-US" sz="1200" dirty="0">
                        <a:latin typeface="Arial" charset="0"/>
                        <a:ea typeface="Arial" charset="0"/>
                        <a:cs typeface="Arial" charset="0"/>
                      </a:endParaRPr>
                    </a:p>
                  </a:txBody>
                  <a:tcPr marL="53340" marR="53340" marT="53340" marB="53340" anchor="t">
                    <a:lnL w="12700" cap="flat" cmpd="sng" algn="ctr">
                      <a:solidFill>
                        <a:srgbClr val="536174"/>
                      </a:solidFill>
                      <a:prstDash val="solid"/>
                      <a:round/>
                      <a:headEnd type="none" w="med" len="med"/>
                      <a:tailEnd type="none" w="med" len="med"/>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r>
              <a:tr h="332695">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Dec 15</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Arial" pitchFamily="34" charset="0"/>
                          <a:ea typeface="Arial" pitchFamily="34" charset="-122"/>
                          <a:cs typeface="Arial" pitchFamily="34" charset="-120"/>
                        </a:rPr>
                        <a:t>Final presentation, report and code</a:t>
                      </a:r>
                      <a:endParaRPr lang="en-US" sz="1200" dirty="0">
                        <a:latin typeface="Arial" charset="0"/>
                        <a:ea typeface="Arial" charset="0"/>
                        <a:cs typeface="Arial" charset="0"/>
                      </a:endParaRPr>
                    </a:p>
                  </a:txBody>
                  <a:tcPr marL="53340" marR="53340" marT="53340" marB="53340" anchor="t">
                    <a:lnL w="12700" cap="flat" cmpd="sng" algn="ctr">
                      <a:solidFill>
                        <a:srgbClr val="536174"/>
                      </a:solidFill>
                      <a:prstDash val="solid"/>
                      <a:round/>
                      <a:headEnd type="none" w="med" len="med"/>
                      <a:tailEnd type="none" w="med" len="med"/>
                    </a:lnL>
                    <a:lnR w="12700" cap="flat" cmpd="sng" algn="ctr">
                      <a:solidFill>
                        <a:srgbClr val="536174"/>
                      </a:solidFill>
                      <a:prstDash val="solid"/>
                      <a:round/>
                      <a:headEnd type="none" w="med" len="med"/>
                      <a:tailEnd type="none" w="med" len="med"/>
                    </a:lnR>
                    <a:lnT w="12700" cap="flat" cmpd="sng" algn="ctr">
                      <a:solidFill>
                        <a:srgbClr val="536174"/>
                      </a:solidFill>
                      <a:prstDash val="solid"/>
                      <a:round/>
                      <a:headEnd type="none" w="med" len="med"/>
                      <a:tailEnd type="none" w="med" len="med"/>
                    </a:lnT>
                    <a:lnB w="12700" cap="flat" cmpd="sng" algn="ctr">
                      <a:solidFill>
                        <a:srgbClr val="536174"/>
                      </a:solidFill>
                      <a:prstDash val="solid"/>
                      <a:round/>
                      <a:headEnd type="none" w="med" len="med"/>
                      <a:tailEnd type="none" w="med" len="med"/>
                    </a:lnB>
                  </a:tcPr>
                </a:tc>
              </a:tr>
            </a:tbl>
          </a:graphicData>
        </a:graphic>
      </p:graphicFrame>
      <p:sp>
        <p:nvSpPr>
          <p:cNvPr id="13" name="Shape 10"/>
          <p:cNvSpPr/>
          <p:nvPr/>
        </p:nvSpPr>
        <p:spPr>
          <a:xfrm>
            <a:off x="6680200" y="3105094"/>
            <a:ext cx="4699000" cy="1887169"/>
          </a:xfrm>
          <a:prstGeom prst="roundRect">
            <a:avLst>
              <a:gd name="adj" fmla="val 4038"/>
            </a:avLst>
          </a:prstGeom>
          <a:solidFill>
            <a:srgbClr val="E8A55C"/>
          </a:solidFill>
          <a:ln/>
        </p:spPr>
      </p:sp>
      <p:sp>
        <p:nvSpPr>
          <p:cNvPr id="14" name="Text 11"/>
          <p:cNvSpPr/>
          <p:nvPr/>
        </p:nvSpPr>
        <p:spPr>
          <a:xfrm>
            <a:off x="6883400" y="3282894"/>
            <a:ext cx="4421378"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B2A41"/>
                </a:solidFill>
                <a:latin typeface="Arial" pitchFamily="34" charset="0"/>
                <a:ea typeface="Arial" pitchFamily="34" charset="-122"/>
                <a:cs typeface="Arial" pitchFamily="34" charset="-120"/>
              </a:rPr>
              <a:t>SUCCESS CRITERION</a:t>
            </a:r>
            <a:endParaRPr lang="en-US" sz="1200" dirty="0"/>
          </a:p>
        </p:txBody>
      </p:sp>
      <p:sp>
        <p:nvSpPr>
          <p:cNvPr id="15" name="Text 12"/>
          <p:cNvSpPr/>
          <p:nvPr/>
        </p:nvSpPr>
        <p:spPr>
          <a:xfrm>
            <a:off x="6883400" y="3572446"/>
            <a:ext cx="4421378" cy="98549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Arial" pitchFamily="34" charset="0"/>
                <a:ea typeface="Arial" pitchFamily="34" charset="-122"/>
                <a:cs typeface="Arial" pitchFamily="34" charset="-120"/>
              </a:rPr>
              <a:t>One controlled comparison isolating a single ApET component on ≥100 unselected questions: matched budgets, 3 seeds, paired 95% intervals. Negative results count.</a:t>
            </a:r>
            <a:endParaRPr lang="en-US" sz="1400" dirty="0"/>
          </a:p>
        </p:txBody>
      </p:sp>
      <p:sp>
        <p:nvSpPr>
          <p:cNvPr id="16" name="Text 13"/>
          <p:cNvSpPr/>
          <p:nvPr/>
        </p:nvSpPr>
        <p:spPr>
          <a:xfrm>
            <a:off x="6883400" y="4608742"/>
            <a:ext cx="4421378" cy="231123"/>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A2A12"/>
                </a:solidFill>
                <a:latin typeface="Arial" pitchFamily="34" charset="0"/>
                <a:ea typeface="Arial" pitchFamily="34" charset="-122"/>
                <a:cs typeface="Arial" pitchFamily="34" charset="-120"/>
              </a:rPr>
              <a:t>Stretch:</a:t>
            </a:r>
            <a:r>
              <a:rPr lang="en-US" sz="1200" dirty="0">
                <a:solidFill>
                  <a:srgbClr val="3A2A12"/>
                </a:solidFill>
                <a:latin typeface="Arial" pitchFamily="34" charset="0"/>
                <a:ea typeface="Arial" pitchFamily="34" charset="-122"/>
                <a:cs typeface="Arial" pitchFamily="34" charset="-120"/>
              </a:rPr>
              <a:t> an RQ3 modification, only if the analysis supports it.</a:t>
            </a:r>
            <a:endParaRPr lang="en-US" sz="1200" dirty="0"/>
          </a:p>
        </p:txBody>
      </p:sp>
      <p:sp>
        <p:nvSpPr>
          <p:cNvPr id="17" name="Text 14"/>
          <p:cNvSpPr/>
          <p:nvPr/>
        </p:nvSpPr>
        <p:spPr>
          <a:xfrm>
            <a:off x="812800" y="6238255"/>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6"/>
                </a:solidFill>
                <a:latin typeface="Arial" pitchFamily="34" charset="0"/>
                <a:ea typeface="Arial" pitchFamily="34" charset="-122"/>
                <a:cs typeface="Arial" pitchFamily="34" charset="-120"/>
              </a:rPr>
              <a:t>Deprioritized: better basis selection (ApET’s own ablation shows FPS ≈ random basis). · 9 / 9</a:t>
            </a:r>
            <a:endParaRPr lang="en-US" sz="1200" dirty="0"/>
          </a:p>
        </p:txBody>
      </p:sp>
    </p:spTree>
  </p:cSld>
  <p:clrMapOvr>
    <a:masterClrMapping/>
  </p:clrMapOvr>
</p:sld>
</file>

<file path=ppt/theme/theme1.xml><?xml version="1.0" encoding="utf-8"?>
<a:theme xmlns:a="http://schemas.openxmlformats.org/drawingml/2006/main" name="ApET Midterm Progress">
  <a:themeElements>
    <a:clrScheme name="ApET Midterm Progress">
      <a:dk1>
        <a:srgbClr val="1B2A41"/>
      </a:dk1>
      <a:lt1>
        <a:srgbClr val="F7F6F2"/>
      </a:lt1>
      <a:dk2>
        <a:srgbClr val="525D6D"/>
      </a:dk2>
      <a:lt2>
        <a:srgbClr val="E1E2E0"/>
      </a:lt2>
      <a:accent1>
        <a:srgbClr val="E8A55C"/>
      </a:accent1>
      <a:accent2>
        <a:srgbClr val="9A4512"/>
      </a:accent2>
      <a:accent3>
        <a:srgbClr val="C2611F"/>
      </a:accent3>
      <a:accent4>
        <a:srgbClr val="5F7590"/>
      </a:accent4>
      <a:accent5>
        <a:srgbClr val="A84E16"/>
      </a:accent5>
      <a:accent6>
        <a:srgbClr val="F2D48F"/>
      </a:accent6>
      <a:hlink>
        <a:srgbClr val="0563C1"/>
      </a:hlink>
      <a:folHlink>
        <a:srgbClr val="954F72"/>
      </a:folHlink>
    </a:clrScheme>
    <a:fontScheme name="ApET Midterm Progre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ApET Midterm Progress</dc:title>
  <dc:subject/>
  <dc:creator/>
  <cp:lastModifiedBy/>
  <cp:revision>1</cp:revision>
  <dcterms:created xsi:type="dcterms:W3CDTF">2026-10-26T19:09:22Z</dcterms:created>
  <dcterms:modified xsi:type="dcterms:W3CDTF">2026-10-26T19:09:22Z</dcterms:modified>
</cp:coreProperties>
</file>