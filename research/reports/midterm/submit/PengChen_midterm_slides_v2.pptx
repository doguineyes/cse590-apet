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646366e70d4eec" /><Relationship Type="http://schemas.openxmlformats.org/officeDocument/2006/relationships/extended-properties" Target="/docProps/app.xml" Id="Rec93b0e0659f4a44" /><Relationship Type="http://schemas.openxmlformats.org/officeDocument/2006/relationships/officeDocument" Target="/ppt/presentation.xml" Id="R9734b7f7193744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b56ba625ad47dd"/>
  </p:sldMasterIdLst>
  <p:notesMasterIdLst>
    <p:notesMasterId xmlns:r="http://schemas.openxmlformats.org/officeDocument/2006/relationships" r:id="Rfc9f7b1e29cb4bde"/>
  </p:notesMasterIdLst>
  <p:sldIdLst>
    <p:sldId xmlns:r="http://schemas.openxmlformats.org/officeDocument/2006/relationships" id="256" r:id="Re07fc40a68c6444e"/>
    <p:sldId xmlns:r="http://schemas.openxmlformats.org/officeDocument/2006/relationships" id="257" r:id="Rebf53bc2c7f242da"/>
    <p:sldId xmlns:r="http://schemas.openxmlformats.org/officeDocument/2006/relationships" id="258" r:id="R3d26422a159e4115"/>
    <p:sldId xmlns:r="http://schemas.openxmlformats.org/officeDocument/2006/relationships" id="259" r:id="R5642632a5a374b52"/>
    <p:sldId xmlns:r="http://schemas.openxmlformats.org/officeDocument/2006/relationships" id="260" r:id="R21e8cb7b32084b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078eb1a6ab4edf" /><Relationship Type="http://schemas.openxmlformats.org/officeDocument/2006/relationships/slideMaster" Target="/ppt/slideMasters/slideMaster1.xml" Id="R79b56ba625ad47dd" /><Relationship Type="http://schemas.openxmlformats.org/officeDocument/2006/relationships/notesMaster" Target="/ppt/notesMasters/notesMaster1.xml" Id="Rfc9f7b1e29cb4bde" /><Relationship Type="http://schemas.openxmlformats.org/officeDocument/2006/relationships/presProps" Target="/ppt/presProps.xml" Id="R4c12e3afdb7e40b6" /><Relationship Type="http://schemas.openxmlformats.org/officeDocument/2006/relationships/tableStyles" Target="/ppt/tableStyles.xml" Id="R5001e495410049e1" /><Relationship Type="http://schemas.openxmlformats.org/officeDocument/2006/relationships/slide" Target="/ppt/slides/slide1.xml" Id="Re07fc40a68c6444e" /><Relationship Type="http://schemas.openxmlformats.org/officeDocument/2006/relationships/slide" Target="/ppt/slides/slide2.xml" Id="Rebf53bc2c7f242da" /><Relationship Type="http://schemas.openxmlformats.org/officeDocument/2006/relationships/slide" Target="/ppt/slides/slide3.xml" Id="R3d26422a159e4115" /><Relationship Type="http://schemas.openxmlformats.org/officeDocument/2006/relationships/slide" Target="/ppt/slides/slide4.xml" Id="R5642632a5a374b52" /><Relationship Type="http://schemas.openxmlformats.org/officeDocument/2006/relationships/slide" Target="/ppt/slides/slide5.xml" Id="R21e8cb7b32084b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f6c87407a44f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ApET Midterm — 5 Slides">
  <a:themeElements>
    <a:clrScheme name="ApET Midterm — 5 Slides">
      <a:dk1>
        <a:srgbClr val="0F4C5C"/>
      </a:dk1>
      <a:lt1>
        <a:srgbClr val="F7F4EA"/>
      </a:lt1>
      <a:dk2>
        <a:srgbClr val="265D6A"/>
      </a:dk2>
      <a:lt2>
        <a:srgbClr val="BDCAC7"/>
      </a:lt2>
      <a:accent1>
        <a:srgbClr val="E9B949"/>
      </a:accent1>
      <a:accent2>
        <a:srgbClr val="5C4300"/>
      </a:accent2>
      <a:accent3>
        <a:srgbClr val="F6E3A8"/>
      </a:accent3>
      <a:accent4>
        <a:srgbClr val="D9A62B"/>
      </a:accent4>
      <a:accent5>
        <a:srgbClr val="0F6B6E"/>
      </a:accent5>
      <a:accent6>
        <a:srgbClr val="12343B"/>
      </a:accent6>
      <a:hlink>
        <a:srgbClr val="0563C1"/>
      </a:hlink>
      <a:folHlink>
        <a:srgbClr val="954F72"/>
      </a:folHlink>
    </a:clrScheme>
    <a:fontScheme name="ApET Midterm — 5 Slid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pET Midterm — 5 Slide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d414e428484cd2" /><Relationship Type="http://schemas.openxmlformats.org/officeDocument/2006/relationships/notesMaster" Target="/ppt/notesMasters/notesMaster1.xml" Id="R1bb414c70c964c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23f7c23666404d" /><Relationship Type="http://schemas.openxmlformats.org/officeDocument/2006/relationships/notesMaster" Target="/ppt/notesMasters/notesMaster1.xml" Id="R84fe8c6dbe7244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4feae11593404b" /><Relationship Type="http://schemas.openxmlformats.org/officeDocument/2006/relationships/notesMaster" Target="/ppt/notesMasters/notesMaster1.xml" Id="R2a7564a353db46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4c1738e0344f28" /><Relationship Type="http://schemas.openxmlformats.org/officeDocument/2006/relationships/notesMaster" Target="/ppt/notesMasters/notesMaster1.xml" Id="R9ee2aadfcb784a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20ce49f12240e1" /><Relationship Type="http://schemas.openxmlformats.org/officeDocument/2006/relationships/notesMaster" Target="/ppt/notesMasters/notesMaster1.xml" Id="Ree551090a2e24a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Hello, I’m Peng Chen. My project asks when and why ApET preserves a vision-language model’s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tokens make inference expensive. ApET keeps features that are difficult to reconstruct from a small basis, and combines discarded features with similar retained 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paper reports about ninety-five percent of its average benchmark performance at a much smaller token budget. The speedup shown here also comes from the paper, not my Kaggle measurements.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My goal is to understand how this geometric criterion relates to preserving information needed for actual answers.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use LLaVA one point five, with seven billion parameters, and the native ApET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model starts with five hundred and seventy-six visual tokens. ApET compresses before the language model and again after block sixteen. Our two schedules average sixty-four or one hundred and ninety-two tokens across the decoder layers.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Experiments run on two Kaggle T4 GPUs with a locked environment. The larger comparisons cover GQA, MMStar and TextVQA.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RQ1 compares reconstruction-error rankings with measured answer sensitivity. RQ2 asks how selection and merging contribute to preservation. RQ3 considers a lightweight improvement only if the evidence supports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small RQ1 study is largely complete. Component attribution remains the main open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There are three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First, reconstruction error does not consistently agree with measured answer sensitivity. On thirty selected questions, we compared E rankings with an IH-inspired retain-one ranking. Median correlations were slightly negative, although individual questions differed. This scores the first reference-answer token, not true token importance.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Second, retained tokens receive very different amounts of merging. In the earlier input-only panel, the lowest-E quarter of ordinary retained targets received about sixty-six percent of incoming merges. The highest-E quarter received about two percent.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may be expected: discarded low-error features may resemble these targets. It also explains why protecting the highest-E targets barely changed the computation: few sources were merging into them. Some retained states may preserve distinctive features, while others collect discarded information. Whether this division helps answers still needs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Third, complete ApET performs better than random in some settings, but the advantage depends on task and budget. On TextVQA, the gap is about twenty-one points at the smaller budget and nine at the larger budget. It is smaller on GQA and unclear on MMStar.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Average scores also hide answer turnover. At the larger budget, GQA loses thirty-four previously correct answers and gains twenty-six. Accuracy drops by only one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findings connect reconstruction, aggregation, and answer preservation. They also suggest specific next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There were three main roadblocks.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First, Kaggle package updates caused compatibility problems. The locked environment now makes the setup reproducible.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Second, some fresh compressed runs changed answers, while replaying saved features gave identical outputs. One diagnostic found differences after merging. Floating-point accumulation is a possible cause, but the exact cause is unconfirmed. I keep first captures and repeat critical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Third, the diagnostic panel includes known ApET failures. It supports case analysis, while broader outcome-unselected cohorts are needed for method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next steps follow directly from the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First, separate selection from merging on a cohort not selected from ApET’s wins or losses. Compare E-based and random selection with basis handling and the merge rule fixed. Compare merging with dropping under the same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Second, investigate the different roles of retained tokens. Check merge loads across stages and budgets, measure actual feature changes, and test whether changing the strength of merging affects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Third, test reconstruction more directly. Replace a few features with their linear approximations while keeping sequence length unchanged. Control the size of the feature change, so a smaller perturbation is not mistaken for a special reconstruction effect.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RQ3 stays conditional. If these tests identify a consistent problem, we can evaluate one small modification.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main deliverable is one controlled comparison on at least one hundred outcome-unselected questions, with matched budgets, random seeds where relevant, and paired uncertainty estimates. A clear negative result also counts. Thank you.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0b2381cb842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bfaa03384428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 and body">
    <p:bg>
      <p:bgPr>
        <a:solidFill xmlns:a="http://schemas.openxmlformats.org/drawingml/2006/main">
          <a:srgbClr val="0F4C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8BE6171-E027-4640-8DB3-D49548AAF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1196323"/>
            <a:ext cx="10566401" cy="670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10000"/>
              </a:lnSpc>
              <a:buNone/>
              <a:defRPr sz="4800">
                <a:solidFill>
                  <a:srgbClr val="F7F4EA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pPr marL="0" indent="0" algn="l">
              <a:lnSpc>
                <a:spcPct val="110000"/>
              </a:lnSpc>
              <a:buNone/>
            </a:p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E905D1-4489-4B0D-888F-93DD6EBE6024}"/>
              </a:ext>
            </a:extLst>
          </p:cNvPr>
          <p:cNvSpPr>
            <a:spLocks xmlns:a="http://schemas.openxmlformats.org/drawingml/2006/main" noGrp="1"/>
          </p:cNvSpPr>
          <p:nvPr>
            <p:ph type="body" idx="101"/>
          </p:nvPr>
        </p:nvSpPr>
        <p:spPr>
          <a:xfrm xmlns:a="http://schemas.openxmlformats.org/drawingml/2006/main">
            <a:off x="812800" y="2171672"/>
            <a:ext cx="10566400" cy="3873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40000"/>
              </a:lnSpc>
              <a:buNone/>
              <a:defRPr sz="1600">
                <a:solidFill>
                  <a:srgbClr val="F7F4E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40000"/>
              </a:lnSpc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3fdc9df6434f10" /><Relationship Type="http://schemas.openxmlformats.org/officeDocument/2006/relationships/slideLayout" Target="/ppt/slideLayouts/slideLayout1.xml" Id="Rc4f1dc93321440c1" /><Relationship Type="http://schemas.openxmlformats.org/officeDocument/2006/relationships/slideLayout" Target="/ppt/slideLayouts/slideLayout2.xml" Id="Re82a83c08d62424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F4C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C242A16-0F4A-4CDF-9B03-AA9A61BF3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1196323"/>
            <a:ext cx="10566401" cy="670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10000"/>
              </a:lnSpc>
              <a:buNone/>
              <a:defRPr sz="4800">
                <a:solidFill>
                  <a:srgbClr val="F7F4EA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pPr marL="0" indent="0" algn="l">
              <a:lnSpc>
                <a:spcPct val="110000"/>
              </a:lnSpc>
              <a:buNone/>
            </a:pP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AF8A3F-B886-4A58-98C7-AAEFA8545DDD}"/>
              </a:ext>
            </a:extLst>
          </p:cNvPr>
          <p:cNvSpPr>
            <a:spLocks xmlns:a="http://schemas.openxmlformats.org/drawingml/2006/main" noGrp="1"/>
          </p:cNvSpPr>
          <p:nvPr>
            <p:ph type="body" idx="101"/>
          </p:nvPr>
        </p:nvSpPr>
        <p:spPr>
          <a:xfrm xmlns:a="http://schemas.openxmlformats.org/drawingml/2006/main">
            <a:off x="812800" y="2171672"/>
            <a:ext cx="10566400" cy="3873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lvl1pPr marL="0" indent="0" algn="l">
              <a:lnSpc>
                <a:spcPct val="140000"/>
              </a:lnSpc>
              <a:buNone/>
              <a:defRPr sz="1600">
                <a:solidFill>
                  <a:srgbClr val="F7F4E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40000"/>
              </a:lnSpc>
              <a:buNone/>
            </a:p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f1dc93321440c1"/>
    <p:sldLayoutId xmlns:r="http://schemas.openxmlformats.org/officeDocument/2006/relationships" id="2147483650" r:id="Re82a83c08d624241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ApET Midterm — 5 Slides">
  <a:themeElements>
    <a:clrScheme name="ApET Midterm — 5 Slides">
      <a:dk1>
        <a:srgbClr val="0F4C5C"/>
      </a:dk1>
      <a:lt1>
        <a:srgbClr val="F7F4EA"/>
      </a:lt1>
      <a:dk2>
        <a:srgbClr val="265D6A"/>
      </a:dk2>
      <a:lt2>
        <a:srgbClr val="BDCAC7"/>
      </a:lt2>
      <a:accent1>
        <a:srgbClr val="E9B949"/>
      </a:accent1>
      <a:accent2>
        <a:srgbClr val="5C4300"/>
      </a:accent2>
      <a:accent3>
        <a:srgbClr val="F6E3A8"/>
      </a:accent3>
      <a:accent4>
        <a:srgbClr val="D9A62B"/>
      </a:accent4>
      <a:accent5>
        <a:srgbClr val="0F6B6E"/>
      </a:accent5>
      <a:accent6>
        <a:srgbClr val="12343B"/>
      </a:accent6>
      <a:hlink>
        <a:srgbClr val="0563C1"/>
      </a:hlink>
      <a:folHlink>
        <a:srgbClr val="954F72"/>
      </a:folHlink>
    </a:clrScheme>
    <a:fontScheme name="ApET Midterm — 5 Slid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pET Midterm — 5 Slide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6b73811a054968" /><Relationship Type="http://schemas.openxmlformats.org/officeDocument/2006/relationships/notesSlide" Target="/ppt/notesSlides/notesSlide1.xml" Id="R4d40954689ca46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a4482f57c44082" /><Relationship Type="http://schemas.openxmlformats.org/officeDocument/2006/relationships/image" Target="/ppt/media/image.png" Id="R06c549216d10413f" /><Relationship Type="http://schemas.openxmlformats.org/officeDocument/2006/relationships/image" Target="/ppt/media/image2.png" Id="R5e3f899f1e1c460a" /><Relationship Type="http://schemas.openxmlformats.org/officeDocument/2006/relationships/image" Target="/ppt/media/image3.png" Id="R975e310f8b3148f3" /><Relationship Type="http://schemas.openxmlformats.org/officeDocument/2006/relationships/image" Target="/ppt/media/image4.png" Id="R562a21f253be495f" /><Relationship Type="http://schemas.openxmlformats.org/officeDocument/2006/relationships/image" Target="/ppt/media/image5.png" Id="R5d6a84b4a72e40b3" /><Relationship Type="http://schemas.openxmlformats.org/officeDocument/2006/relationships/notesSlide" Target="/ppt/notesSlides/notesSlide2.xml" Id="R5d69a6bc122648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e2d8438bd140d9" /><Relationship Type="http://schemas.openxmlformats.org/officeDocument/2006/relationships/image" Target="/ppt/media/image6.png" Id="R440552d75b8a4baa" /><Relationship Type="http://schemas.openxmlformats.org/officeDocument/2006/relationships/notesSlide" Target="/ppt/notesSlides/notesSlide3.xml" Id="R765bb922eeac41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1879319e404ffd" /><Relationship Type="http://schemas.openxmlformats.org/officeDocument/2006/relationships/notesSlide" Target="/ppt/notesSlides/notesSlide4.xml" Id="R6d267f8157e247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87e47892334031" /><Relationship Type="http://schemas.openxmlformats.org/officeDocument/2006/relationships/notesSlide" Target="/ppt/notesSlides/notesSlide5.xml" Id="R8270577476834d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4C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D134904-CD5D-48DD-A3E7-2010F92C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3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E9B949"/>
                </a:solidFill>
                <a:latin typeface="Arial"/>
                <a:ea typeface="Arial"/>
                <a:cs typeface="Arial"/>
              </a:rPr>
              <a:t>CSE590 · MIDTERM PROGRESS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8C3E408-AAA5-4075-8EBB-A2CA459919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1196323"/>
            <a:ext cx="11379200" cy="695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5280"/>
              </a:lnSpc>
              <a:buNone/>
            </a:pPr>
            <a:r>
              <a:rPr sz="4800" b="1" i="0">
                <a:solidFill>
                  <a:srgbClr val="F7F4EA"/>
                </a:solidFill>
                <a:latin typeface="Georgia"/>
                <a:ea typeface="Georgia"/>
                <a:cs typeface="Georgia"/>
              </a:rPr>
              <a:t>When and why does ApET work?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27E44A-0574-4AB0-9039-5497A87F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019272"/>
            <a:ext cx="9156701" cy="3276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80"/>
              </a:lnSpc>
              <a:buNone/>
            </a:pPr>
            <a:r>
              <a:rPr sz="1700">
                <a:solidFill>
                  <a:srgbClr val="CFE3E1"/>
                </a:solidFill>
                <a:latin typeface="Arial"/>
                <a:ea typeface="Arial"/>
                <a:cs typeface="Arial"/>
              </a:rPr>
              <a:t>Understanding reconstruction-based visual token compression in LLaVA-1.5-7B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E42AF4-C3FE-4C05-BF84-9EA5E76A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70307"/>
            <a:ext cx="0" cy="1361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9B94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8BAD7A-0FF1-44BB-980C-14B07595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43" y="3308407"/>
            <a:ext cx="3238482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E9B949"/>
                </a:solidFill>
                <a:latin typeface="Arial"/>
                <a:ea typeface="Arial"/>
                <a:cs typeface="Arial"/>
              </a:rPr>
              <a:t>APET IN ONE LINE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299866-68A1-4047-99CB-4824BFB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443" y="3597956"/>
            <a:ext cx="3238482" cy="10209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60"/>
              </a:lnSpc>
              <a:buNone/>
              <a:defRPr sz="1400" b="0" i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F7F4EA"/>
                </a:solidFill>
                <a:latin typeface="Arial"/>
                <a:ea typeface="Arial"/>
                <a:cs typeface="Arial"/>
              </a:rPr>
              <a:t>No attention scores for selection: keep hard-to-reconstruct features; merge discarded states into similar retained states.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8F525C4-D4B4-47B0-9DDE-3C164047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3270307"/>
            <a:ext cx="0" cy="1361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9B949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0CD48DB-480D-4392-9F84-EE7ACCCE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243" y="3308407"/>
            <a:ext cx="3238482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E9B949"/>
                </a:solidFill>
                <a:latin typeface="Arial"/>
                <a:ea typeface="Arial"/>
                <a:cs typeface="Arial"/>
              </a:rPr>
              <a:t>SIMPLE, AND STRONG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1B7404-62ED-4C1C-82CF-2381D25E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243" y="3597956"/>
            <a:ext cx="3238482" cy="10209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60"/>
              </a:lnSpc>
              <a:buNone/>
              <a:defRPr sz="1400" b="0" i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F7F4EA"/>
                </a:solidFill>
                <a:latin typeface="Arial"/>
                <a:ea typeface="Arial"/>
                <a:cs typeface="Arial"/>
              </a:rPr>
              <a:t>At an average budget of 64 visual tokens, the paper reports 95.2% relative performance and 1.46× total inference speedup.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2DE44A6-4027-4E62-85AC-70B689EB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275" y="3270307"/>
            <a:ext cx="0" cy="1361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9B949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005E1AC-0AA3-4835-8E6F-09B41B3A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43" y="3308407"/>
            <a:ext cx="3238482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E9B949"/>
                </a:solidFill>
                <a:latin typeface="Arial"/>
                <a:ea typeface="Arial"/>
                <a:cs typeface="Arial"/>
              </a:rPr>
              <a:t>OUR QUESTION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92DE69A-A6B1-4813-B616-33FF117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43" y="3597956"/>
            <a:ext cx="3238482" cy="7720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60"/>
              </a:lnSpc>
              <a:buNone/>
            </a:pPr>
            <a:r>
              <a:rPr sz="1400">
                <a:solidFill>
                  <a:srgbClr val="F7F4EA"/>
                </a:solidFill>
                <a:latin typeface="Arial"/>
                <a:ea typeface="Arial"/>
                <a:cs typeface="Arial"/>
              </a:rPr>
              <a:t>How can a linear, geometric criterion work inside a nonlinear VLM, and when does it fail?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CFC9144-390D-4FD0-8FC4-C77F2EAF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80403"/>
            <a:ext cx="10883393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CFE3E1"/>
                </a:solidFill>
                <a:latin typeface="Arial"/>
                <a:ea typeface="Arial"/>
                <a:cs typeface="Arial"/>
              </a:rPr>
              <a:t>Peng Chen · SBU ID 117702477 · October 2026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43F1A88-F762-4526-95C8-B5B9BE3C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831852"/>
            <a:ext cx="11379200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CFE3E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FE3E1"/>
                </a:solidFill>
                <a:latin typeface="Arial"/>
                <a:ea typeface="Arial"/>
                <a:cs typeface="Arial"/>
              </a:rPr>
              <a:t>Published results: Ma et al., CVPR 2026, Tables 1 and 7. Speed measured on POPE / single A100; not our Kaggle timing.</a:t>
            </a:r>
          </a:p>
        </p:txBody>
      </p:sp>
    </p:spTree>
    <p:extLst>
      <p:ext uri="{BB962C8B-B14F-4D97-AF65-F5344CB8AC3E}">
        <p14:creationId xmlns:p14="http://schemas.microsoft.com/office/powerpoint/2010/main" val="20111974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5767118-26F2-44F8-9F85-1EC15BFEC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3" cy="4724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 i="0">
                <a:solidFill>
                  <a:srgbClr val="0F4C5C"/>
                </a:solidFill>
                <a:latin typeface="Georgia"/>
                <a:ea typeface="Georgia"/>
                <a:cs typeface="Georgia"/>
              </a:rPr>
              <a:t>Method and three research questions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91BE9B1-8952-47B6-A29E-9705CABD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9416"/>
            <a:ext cx="1427219" cy="736572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FCFBF6"/>
          </a:solidFill>
          <a:ln xmlns:a="http://schemas.openxmlformats.org/drawingml/2006/main" w="12700">
            <a:solidFill>
              <a:srgbClr val="7FA9AC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806D9-4E61-4C42-A95A-9E17A746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434" y="1582766"/>
            <a:ext cx="572623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 b="1">
                <a:solidFill>
                  <a:srgbClr val="1C354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940C11-B740-48B2-97A2-E195E48E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214" y="1839289"/>
            <a:ext cx="717062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4A5E66"/>
                </a:solidFill>
                <a:latin typeface="Arial"/>
                <a:ea typeface="Arial"/>
                <a:cs typeface="Arial"/>
              </a:rPr>
              <a:t>336×336</a:t>
            </a:r>
          </a:p>
        </p:txBody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549216d10413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328919" y="1760538"/>
            <a:ext cx="228600" cy="114300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9B05A10-FABD-4BDB-A031-C66C5EC5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0069" y="1449416"/>
            <a:ext cx="1427248" cy="736572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FCFBF6"/>
          </a:solidFill>
          <a:ln xmlns:a="http://schemas.openxmlformats.org/drawingml/2006/main" w="12700">
            <a:solidFill>
              <a:srgbClr val="7FA9AC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C15370B-29E2-422E-AA5E-E853D947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933" y="1582766"/>
            <a:ext cx="1273493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 b="1">
                <a:solidFill>
                  <a:srgbClr val="1C3540"/>
                </a:solidFill>
                <a:latin typeface="Arial"/>
                <a:ea typeface="Arial"/>
                <a:cs typeface="Arial"/>
              </a:rPr>
              <a:t>CLIP encoder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818B39F-AB99-4DB7-8139-F9ED6AE3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307" y="1839289"/>
            <a:ext cx="894772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4A5E66"/>
                </a:solidFill>
                <a:latin typeface="Arial"/>
                <a:ea typeface="Arial"/>
                <a:cs typeface="Arial"/>
              </a:rPr>
              <a:t>576 tokens</a:t>
            </a:r>
          </a:p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f899f1e1c460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49867" y="1760538"/>
            <a:ext cx="228600" cy="114300"/>
          </a:xfrm>
          <a:prstGeom xmlns:a="http://schemas.openxmlformats.org/drawingml/2006/main" prst="rect">
            <a:avLst/>
          </a:prstGeom>
        </p:spPr>
      </p:pic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1950111C-E653-44DB-A6E6-7555737D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192" y="1447148"/>
            <a:ext cx="1431755" cy="741107"/>
          </a:xfrm>
          <a:prstGeom xmlns:a="http://schemas.openxmlformats.org/drawingml/2006/main" prst="roundRect">
            <a:avLst>
              <a:gd name="adj" fmla="val 8997"/>
            </a:avLst>
          </a:prstGeom>
          <a:solidFill xmlns:a="http://schemas.openxmlformats.org/drawingml/2006/main">
            <a:srgbClr val="F6E3A8"/>
          </a:solidFill>
          <a:ln xmlns:a="http://schemas.openxmlformats.org/drawingml/2006/main" w="19050">
            <a:solidFill>
              <a:srgbClr val="C99A1E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AE0C0A6-A5AB-4066-86F1-80E4E0C4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511" y="1582766"/>
            <a:ext cx="1255089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 b="1">
                <a:solidFill>
                  <a:srgbClr val="5C4300"/>
                </a:solidFill>
                <a:latin typeface="Arial"/>
                <a:ea typeface="Arial"/>
                <a:cs typeface="Arial"/>
              </a:rPr>
              <a:t>ApET stage 1</a:t>
            </a:r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45ED08C1-8BE6-4AA7-8197-0623DF41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3" y="1839289"/>
            <a:ext cx="614124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5C4300"/>
                </a:solidFill>
                <a:latin typeface="Arial"/>
                <a:ea typeface="Arial"/>
                <a:cs typeface="Arial"/>
              </a:rPr>
              <a:t>keep K₁</a:t>
            </a:r>
          </a:p>
        </p:txBody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e310f8b3148f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1672" y="1760538"/>
            <a:ext cx="228600" cy="114300"/>
          </a:xfrm>
          <a:prstGeom xmlns:a="http://schemas.openxmlformats.org/drawingml/2006/main" prst="rect">
            <a:avLst/>
          </a:prstGeom>
        </p:spPr>
      </p:pic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6786CC8A-DA27-4E34-826F-2CB1907F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822" y="1449416"/>
            <a:ext cx="1427248" cy="736572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FCFBF6"/>
          </a:solidFill>
          <a:ln xmlns:a="http://schemas.openxmlformats.org/drawingml/2006/main" w="12700">
            <a:solidFill>
              <a:srgbClr val="7FA9AC"/>
            </a:solidFill>
            <a:prstDash val="solid"/>
          </a:ln>
        </p:spPr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DBCF6D2A-2665-458B-8F9E-515DA782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900" y="1582766"/>
            <a:ext cx="407092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 b="1">
                <a:solidFill>
                  <a:srgbClr val="1C3540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04347FF2-F3D4-4CBC-8364-7A00F8A3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412" y="1839289"/>
            <a:ext cx="976040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4A5E66"/>
                </a:solidFill>
                <a:latin typeface="Arial"/>
                <a:ea typeface="Arial"/>
                <a:cs typeface="Arial"/>
              </a:rPr>
              <a:t>blocks 1–16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a21f253be495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02620" y="1760538"/>
            <a:ext cx="228600" cy="114300"/>
          </a:xfrm>
          <a:prstGeom xmlns:a="http://schemas.openxmlformats.org/drawingml/2006/main" prst="rect">
            <a:avLst/>
          </a:prstGeom>
        </p:spPr>
      </p:pic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74264589-7A2D-48CE-A59B-180F4510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945" y="1447148"/>
            <a:ext cx="1431783" cy="741107"/>
          </a:xfrm>
          <a:prstGeom xmlns:a="http://schemas.openxmlformats.org/drawingml/2006/main" prst="roundRect">
            <a:avLst>
              <a:gd name="adj" fmla="val 8997"/>
            </a:avLst>
          </a:prstGeom>
          <a:solidFill xmlns:a="http://schemas.openxmlformats.org/drawingml/2006/main">
            <a:srgbClr val="F6E3A8"/>
          </a:solidFill>
          <a:ln xmlns:a="http://schemas.openxmlformats.org/drawingml/2006/main" w="19050">
            <a:solidFill>
              <a:srgbClr val="C99A1E"/>
            </a:solidFill>
            <a:prstDash val="solid"/>
          </a:ln>
        </p:spPr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29A0ACF7-58DB-4D04-A969-8D8FA86E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292" y="1582766"/>
            <a:ext cx="1255089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 b="1">
                <a:solidFill>
                  <a:srgbClr val="5C4300"/>
                </a:solidFill>
                <a:latin typeface="Arial"/>
                <a:ea typeface="Arial"/>
                <a:cs typeface="Arial"/>
              </a:rPr>
              <a:t>ApET stage 2</a:t>
            </a:r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7455DA7F-42D2-4F6F-A146-877ABA70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9583" y="1839289"/>
            <a:ext cx="626507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5C4300"/>
                </a:solidFill>
                <a:latin typeface="Arial"/>
                <a:ea typeface="Arial"/>
                <a:cs typeface="Arial"/>
              </a:rPr>
              <a:t>keep K₂</a:t>
            </a:r>
          </a:p>
        </p:txBody>
      </p:sp>
      <p:pic>
        <p:nvPicPr>
          <p:cNvPr id="6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a84b4a72e40b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34453" y="1760538"/>
            <a:ext cx="228600" cy="114300"/>
          </a:xfrm>
          <a:prstGeom xmlns:a="http://schemas.openxmlformats.org/drawingml/2006/main" prst="rect">
            <a:avLst/>
          </a:prstGeom>
        </p:spPr>
      </p:pic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EB177A9A-948A-4832-9FF5-8F2C4AA7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603" y="1449416"/>
            <a:ext cx="1427248" cy="736572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FCFBF6"/>
          </a:solidFill>
          <a:ln xmlns:a="http://schemas.openxmlformats.org/drawingml/2006/main" w="12700">
            <a:solidFill>
              <a:srgbClr val="7FA9AC"/>
            </a:solidFill>
            <a:prstDash val="solid"/>
          </a:ln>
        </p:spPr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A7656862-8F83-4C89-973B-B326B82D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681" y="1582766"/>
            <a:ext cx="407092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820"/>
              </a:lnSpc>
              <a:buNone/>
            </a:pPr>
            <a:r>
              <a:rPr sz="1300" b="1">
                <a:solidFill>
                  <a:srgbClr val="1C3540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88C58559-12E0-4DC5-BD9B-42D78B8F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0335" y="1839289"/>
            <a:ext cx="1077754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4A5E66"/>
                </a:solidFill>
                <a:latin typeface="Arial"/>
                <a:ea typeface="Arial"/>
                <a:cs typeface="Arial"/>
              </a:rPr>
              <a:t>blocks 17–32</a:t>
            </a:r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DC73D267-AFCF-47D3-8D1A-CC9C43D1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375581"/>
            <a:ext cx="10883393" cy="231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</a:pPr>
            <a:r>
              <a:rPr sz="1200" b="1">
                <a:solidFill>
                  <a:srgbClr val="0F4C5C"/>
                </a:solidFill>
                <a:latin typeface="Arial"/>
                <a:ea typeface="Arial"/>
                <a:cs typeface="Arial"/>
              </a:rPr>
              <a:t>Setup:</a:t>
            </a:r>
            <a:r>
              <a:rPr sz="1200">
                <a:solidFill>
                  <a:srgbClr val="4A5E66"/>
                </a:solidFill>
                <a:latin typeface="Arial"/>
                <a:ea typeface="Arial"/>
                <a:cs typeface="Arial"/>
              </a:rPr>
              <a:t> LLaVA-1.5-7B · native ApET code · Kaggle 2×T4, locked environment · GQA 800, MMStar 1,500, TextVQA 100 · avg. 64 or 192 tokens</a:t>
            </a:r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3DAACE3A-5BC1-466F-A5E0-F487E3E0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759104"/>
            <a:ext cx="3420524" cy="1981767"/>
          </a:xfrm>
          <a:prstGeom xmlns:a="http://schemas.openxmlformats.org/drawingml/2006/main" prst="roundRect">
            <a:avLst>
              <a:gd name="adj" fmla="val 3845"/>
            </a:avLst>
          </a:prstGeom>
          <a:solidFill xmlns:a="http://schemas.openxmlformats.org/drawingml/2006/main">
            <a:srgbClr val="FCFBF6"/>
          </a:solidFill>
        </p:spPr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87CE6312-6048-4BA8-AB8C-D37DDD61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759104"/>
            <a:ext cx="3420524" cy="1981767"/>
          </a:xfrm>
          <a:custGeom xmlns:a="http://schemas.openxmlformats.org/drawingml/2006/main">
            <a:rect l="l" t="t" r="r" b="b"/>
            <a:pathLst>
              <a:path w="3420524" h="198176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44324" y="0"/>
                </a:lnTo>
                <a:arcTo wR="76200" hR="76200" stAng="16200000" swAng="5400000"/>
                <a:lnTo>
                  <a:pt x="3420524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 xmlns:a="http://schemas.openxmlformats.org/drawingml/2006/main">
            <a:srgbClr val="0F6B6E"/>
          </a:solidFill>
        </p:spPr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D381C38C-B558-41A9-BE17-3506C18A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975004"/>
            <a:ext cx="3104548" cy="48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  <a:defRPr sz="1500" b="1" i="0">
                <a:solidFill>
                  <a:srgbClr val="0F4C5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4C5C"/>
                </a:solidFill>
                <a:latin typeface="Arial"/>
                <a:ea typeface="Arial"/>
                <a:cs typeface="Arial"/>
              </a:rPr>
              <a:t>RQ1 · Does E track answer sensitivity?</a:t>
            </a:r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85A14BCF-6282-4F41-8FC7-5D6ED6A5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495704"/>
            <a:ext cx="3104548" cy="9168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5"/>
              </a:lnSpc>
              <a:buNone/>
              <a:defRPr sz="1300" b="0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30 selected questions. Compare E ranking with an IH-inspired retain-one response: first reference-token probability relative to all visual states removed.</a:t>
            </a:r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6F48C154-063E-44B0-8CC3-0E87CBC1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724" y="2759104"/>
            <a:ext cx="3420552" cy="1981767"/>
          </a:xfrm>
          <a:prstGeom xmlns:a="http://schemas.openxmlformats.org/drawingml/2006/main" prst="roundRect">
            <a:avLst>
              <a:gd name="adj" fmla="val 3845"/>
            </a:avLst>
          </a:prstGeom>
          <a:solidFill xmlns:a="http://schemas.openxmlformats.org/drawingml/2006/main">
            <a:srgbClr val="FCFBF6"/>
          </a:solidFill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C6C3018F-6703-4E5C-A78E-BEA46BED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724" y="2759104"/>
            <a:ext cx="3420552" cy="1981767"/>
          </a:xfrm>
          <a:custGeom xmlns:a="http://schemas.openxmlformats.org/drawingml/2006/main">
            <a:rect l="l" t="t" r="r" b="b"/>
            <a:pathLst>
              <a:path w="3420552" h="198176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44352" y="0"/>
                </a:lnTo>
                <a:arcTo wR="76200" hR="76200" stAng="16200000" swAng="5400000"/>
                <a:lnTo>
                  <a:pt x="3420552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 xmlns:a="http://schemas.openxmlformats.org/drawingml/2006/main">
            <a:srgbClr val="0F6B6E"/>
          </a:solidFill>
        </p:spPr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2B6F0778-FE92-4972-9A06-E74E995B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924" y="2975004"/>
            <a:ext cx="3104577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  <a:defRPr sz="1500" b="1" i="0">
                <a:solidFill>
                  <a:srgbClr val="0F4C5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4C5C"/>
                </a:solidFill>
                <a:latin typeface="Arial"/>
                <a:ea typeface="Arial"/>
                <a:cs typeface="Arial"/>
              </a:rPr>
              <a:t>RQ2 · Selection and merging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182DC4C0-22DF-4860-8641-473B5A53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924" y="3267104"/>
            <a:ext cx="3104577" cy="6940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5"/>
              </a:lnSpc>
              <a:buNone/>
              <a:defRPr sz="1300" b="0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Component pilots and broad native-versus-random comparisons are complete. Attribution remains open.</a:t>
            </a:r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94D7AD4C-9DF3-4C40-847B-5C152E12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924" y="3999225"/>
            <a:ext cx="3014152" cy="563846"/>
          </a:xfrm>
          <a:prstGeom xmlns:a="http://schemas.openxmlformats.org/drawingml/2006/main" prst="roundRect">
            <a:avLst>
              <a:gd name="adj" fmla="val 9010"/>
            </a:avLst>
          </a:prstGeom>
          <a:solidFill xmlns:a="http://schemas.openxmlformats.org/drawingml/2006/main">
            <a:srgbClr val="F6E3A8"/>
          </a:solidFill>
        </p:spPr>
        <p:txBody>
          <a:bodyPr xmlns:a="http://schemas.openxmlformats.org/drawingml/2006/main" wrap="square" lIns="86678" tIns="61341" rIns="2381" bIns="35909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  <a:defRPr sz="1200" b="0" i="0">
                <a:solidFill>
                  <a:srgbClr val="5C430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4300"/>
                </a:solidFill>
                <a:latin typeface="Arial"/>
                <a:ea typeface="Arial"/>
                <a:cs typeface="Arial"/>
              </a:rPr>
              <a:t>Next: controlled component tests on outcome-unselected cohorts.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32611F69-EF79-4AE4-9AD4-C6DAE424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676" y="2759104"/>
            <a:ext cx="3420524" cy="1981767"/>
          </a:xfrm>
          <a:prstGeom xmlns:a="http://schemas.openxmlformats.org/drawingml/2006/main" prst="roundRect">
            <a:avLst>
              <a:gd name="adj" fmla="val 3845"/>
            </a:avLst>
          </a:prstGeom>
          <a:solidFill xmlns:a="http://schemas.openxmlformats.org/drawingml/2006/main">
            <a:srgbClr val="FCFBF6"/>
          </a:solidFill>
        </p:spPr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DEFA62D5-DA8F-4FE2-A7C5-20F453D3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676" y="2759104"/>
            <a:ext cx="3420524" cy="1981767"/>
          </a:xfrm>
          <a:custGeom xmlns:a="http://schemas.openxmlformats.org/drawingml/2006/main">
            <a:rect l="l" t="t" r="r" b="b"/>
            <a:pathLst>
              <a:path w="3420524" h="1981767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44324" y="0"/>
                </a:lnTo>
                <a:arcTo wR="76200" hR="76200" stAng="16200000" swAng="5400000"/>
                <a:lnTo>
                  <a:pt x="3420524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 xmlns:a="http://schemas.openxmlformats.org/drawingml/2006/main">
            <a:srgbClr val="0F6B6E"/>
          </a:solidFill>
        </p:spPr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E48A4354-062F-4A60-84C0-3D0E04B7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876" y="2975004"/>
            <a:ext cx="3104548" cy="48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  <a:defRPr sz="1500" b="1" i="0">
                <a:solidFill>
                  <a:srgbClr val="0F4C5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F4C5C"/>
                </a:solidFill>
                <a:latin typeface="Arial"/>
                <a:ea typeface="Arial"/>
                <a:cs typeface="Arial"/>
              </a:rPr>
              <a:t>RQ3 · An evidence-led improvement?</a:t>
            </a:r>
          </a:p>
        </p:txBody>
      </p:sp>
      <p:sp>
        <p:nvSpPr>
          <p:cNvPr id="39" name="Text 32">
            <a:extLst xmlns:a="http://schemas.openxmlformats.org/drawingml/2006/main">
              <a:ext uri="{FF2B5EF4-FFF2-40B4-BE49-F238E27FC236}">
                <a16:creationId xmlns:a16="http://schemas.microsoft.com/office/drawing/2014/main" id="{A082BECB-2522-4015-8563-D4079E8A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876" y="3495704"/>
            <a:ext cx="3104548" cy="4711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5"/>
              </a:lnSpc>
              <a:buNone/>
              <a:defRPr sz="1300" b="0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Conditional on the analysis. No validated improvement or adaptive policy yet.</a:t>
            </a:r>
          </a:p>
        </p:txBody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DDAAF92A-CA33-4995-845F-E3CE10D8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52"/>
            <a:ext cx="10883393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6B7D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B7D84"/>
                </a:solidFill>
                <a:latin typeface="Arial"/>
                <a:ea typeface="Arial"/>
                <a:cs typeface="Arial"/>
              </a:rPr>
              <a:t>E: reconstruction error from 10 FPS basis features. Two stages: 96→32 (avg. 64) or 288→96 (avg. 192). · 2 / 5</a:t>
            </a:r>
          </a:p>
        </p:txBody>
      </p:sp>
    </p:spTree>
    <p:extLst>
      <p:ext uri="{BB962C8B-B14F-4D97-AF65-F5344CB8AC3E}">
        <p14:creationId xmlns:p14="http://schemas.microsoft.com/office/powerpoint/2010/main" val="11253475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F3494C-ED4D-437D-AAE8-E65088404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3" cy="416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80"/>
              </a:lnSpc>
              <a:buNone/>
              <a:defRPr sz="2800" b="1" i="0">
                <a:solidFill>
                  <a:srgbClr val="0F4C5C"/>
                </a:solidFill>
                <a:latin typeface="Georgia"/>
                <a:ea typeface="Georgia"/>
                <a:cs typeface="Georgia"/>
              </a:defRPr>
            </a:pPr>
            <a:r>
              <a:rPr sz="2800" b="1" i="0">
                <a:solidFill>
                  <a:srgbClr val="0F4C5C"/>
                </a:solidFill>
                <a:latin typeface="Georgia"/>
                <a:ea typeface="Georgia"/>
                <a:cs typeface="Georgia"/>
              </a:rPr>
              <a:t>From reconstruction error to answer preservation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4F609A-CF8A-4619-A26D-AC9628E4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407150"/>
            <a:ext cx="3488247" cy="5130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20"/>
              </a:lnSpc>
              <a:buNone/>
              <a:defRPr sz="1600" b="1" i="0">
                <a:solidFill>
                  <a:srgbClr val="0F4C5C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F4C5C"/>
                </a:solidFill>
                <a:latin typeface="Arial"/>
                <a:ea typeface="Arial"/>
                <a:cs typeface="Arial"/>
              </a:rPr>
              <a:t>① E and answer sensitivity differ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A8E1F33-2967-49C1-B55C-08882DA1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970996"/>
            <a:ext cx="3488247" cy="6425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  <a:defRPr sz="1200" b="0" i="0">
                <a:solidFill>
                  <a:srgbClr val="4A5E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A5E66"/>
                </a:solidFill>
                <a:latin typeface="Arial"/>
                <a:ea typeface="Arial"/>
                <a:cs typeface="Arial"/>
              </a:rPr>
              <a:t>IH-inspired retain-one test: first reference-token probability relative to removing all visual states. 30 selected questions.</a:t>
            </a:r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552d75b8a4baa"/>
          <a:srcRect xmlns:a="http://schemas.openxmlformats.org/drawingml/2006/main" l="0" t="-22" r="0" b="-22"/>
          <a:stretch xmlns:a="http://schemas.openxmlformats.org/drawingml/2006/main"/>
        </p:blipFill>
        <p:spPr>
          <a:xfrm xmlns:a="http://schemas.openxmlformats.org/drawingml/2006/main">
            <a:off x="812800" y="2664365"/>
            <a:ext cx="3149600" cy="2159000"/>
          </a:xfrm>
          <a:prstGeom xmlns:a="http://schemas.openxmlformats.org/drawingml/2006/main" prst="round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3C46AAC-5251-4E89-9EAD-8C5FFAB0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899565"/>
            <a:ext cx="3488247" cy="4368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  <a:defRPr sz="1200" b="0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Median correlations: −0.14 to −0.07.</a:t>
            </a:r>
          </a:p>
          <a:p xmlns:a="http://schemas.openxmlformats.org/drawingml/2006/main">
            <a:pPr marL="0" indent="0" algn="l">
              <a:lnSpc>
                <a:spcPts val="1620"/>
              </a:lnSpc>
              <a:buNone/>
              <a:defRPr sz="1200" b="0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Interpretation depends on the intervention.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D76EFAD-3023-44EB-A6A3-4E679FC2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648" y="1407150"/>
            <a:ext cx="3488277" cy="5130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20"/>
              </a:lnSpc>
              <a:buNone/>
              <a:defRPr sz="1600" b="1" i="0">
                <a:solidFill>
                  <a:srgbClr val="0F4C5C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F4C5C"/>
                </a:solidFill>
                <a:latin typeface="Arial"/>
                <a:ea typeface="Arial"/>
                <a:cs typeface="Arial"/>
              </a:rPr>
              <a:t>② Merging has uneven roles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3B2005C-0C1F-48C5-AF65-E99024D6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648" y="1970996"/>
            <a:ext cx="3488277" cy="4368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  <a:defRPr sz="1200" b="0" i="0">
                <a:solidFill>
                  <a:srgbClr val="4A5E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A5E66"/>
                </a:solidFill>
                <a:latin typeface="Arial"/>
                <a:ea typeface="Arial"/>
                <a:cs typeface="Arial"/>
              </a:rPr>
              <a:t>Earlier input-only288 panel: 24 images. Basis slots excluded from merge targets.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EA0EBB1-4F49-4A11-AB3C-3F01FAD0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614" y="2458688"/>
            <a:ext cx="3143250" cy="238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Share of incoming merges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EBA206-35A7-4E31-B356-0D636513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648" y="2748190"/>
            <a:ext cx="3386676" cy="1188669"/>
          </a:xfrm>
          <a:prstGeom xmlns:a="http://schemas.openxmlformats.org/drawingml/2006/main" prst="roundRect">
            <a:avLst>
              <a:gd name="adj" fmla="val 5342"/>
            </a:avLst>
          </a:prstGeom>
          <a:solidFill xmlns:a="http://schemas.openxmlformats.org/drawingml/2006/main">
            <a:srgbClr val="FCFBF6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75B9732-A7D3-4EA2-A62D-1919EF00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648" y="2849790"/>
            <a:ext cx="3226657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  <a:defRPr sz="1300" b="1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Lowest-E retained quarter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1D3EA6E3-87EB-4302-B7E2-52ACF172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614" y="3228975"/>
            <a:ext cx="1574064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B6E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030961C-E3BD-4A46-8BA2-A0353B31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403" y="3162300"/>
            <a:ext cx="838200" cy="34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2000" b="1" i="0">
                <a:solidFill>
                  <a:srgbClr val="0F4C5C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0F4C5C"/>
                </a:solidFill>
                <a:latin typeface="Arial"/>
                <a:ea typeface="Arial"/>
                <a:cs typeface="Arial"/>
              </a:rPr>
              <a:t>66.1%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084C33A-8BC1-4A57-925B-9AF8100A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614" y="3590925"/>
            <a:ext cx="3143250" cy="238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4961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9616B"/>
                </a:solidFill>
                <a:latin typeface="Arial"/>
                <a:ea typeface="Arial"/>
                <a:cs typeface="Arial"/>
              </a:rPr>
              <a:t>4,569 of 6,912 dropped sources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CDDD2F2-F339-446B-BECC-0799C4D7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648" y="4013059"/>
            <a:ext cx="3386676" cy="1188669"/>
          </a:xfrm>
          <a:prstGeom xmlns:a="http://schemas.openxmlformats.org/drawingml/2006/main" prst="roundRect">
            <a:avLst>
              <a:gd name="adj" fmla="val 5342"/>
            </a:avLst>
          </a:prstGeom>
          <a:solidFill xmlns:a="http://schemas.openxmlformats.org/drawingml/2006/main">
            <a:srgbClr val="FCFBF6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FEB2F01-AABC-4627-9E0B-CB98A685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648" y="4114659"/>
            <a:ext cx="3226657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  <a:defRPr sz="1300" b="1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Highest-E retained quarter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406C48DD-A062-48F0-B2CF-F87A3A9D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614" y="4467225"/>
            <a:ext cx="4340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62B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78842FF2-1274-4047-B7C3-B5E438C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064" y="4400550"/>
            <a:ext cx="838200" cy="345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2000" b="1" i="0">
                <a:solidFill>
                  <a:srgbClr val="0F4C5C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0F4C5C"/>
                </a:solidFill>
                <a:latin typeface="Arial"/>
                <a:ea typeface="Arial"/>
                <a:cs typeface="Arial"/>
              </a:rPr>
              <a:t>1.8%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7877163-E09E-4FAB-AFC0-D27271D0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614" y="4781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4961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9616B"/>
                </a:solidFill>
                <a:latin typeface="Arial"/>
                <a:ea typeface="Arial"/>
                <a:cs typeface="Arial"/>
              </a:rPr>
              <a:t>Protecting the top 28 rerouted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24B8D3C3-492A-4618-996F-8E474922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614" y="4991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49616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9616B"/>
                </a:solidFill>
                <a:latin typeface="Arial"/>
                <a:ea typeface="Arial"/>
                <a:cs typeface="Arial"/>
              </a:rPr>
              <a:t>only 21 / 6,912 sources.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52697EDB-628E-4178-8D4B-101DF08F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525" y="1407150"/>
            <a:ext cx="3488277" cy="5130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20"/>
              </a:lnSpc>
              <a:buNone/>
              <a:defRPr sz="1600" b="1" i="0">
                <a:solidFill>
                  <a:srgbClr val="0F4C5C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F4C5C"/>
                </a:solidFill>
                <a:latin typeface="Arial"/>
                <a:ea typeface="Arial"/>
                <a:cs typeface="Arial"/>
              </a:rPr>
              <a:t>③ Performance hides details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4DBC905-9CA9-485A-B7C9-63F6CAFD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525" y="1970996"/>
            <a:ext cx="3488277" cy="4368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  <a:defRPr sz="1200" b="0" i="0">
                <a:solidFill>
                  <a:srgbClr val="4A5E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A5E66"/>
                </a:solidFill>
                <a:latin typeface="Arial"/>
                <a:ea typeface="Arial"/>
                <a:cs typeface="Arial"/>
              </a:rPr>
              <a:t>Native advantage varies by task and budget; similar scores hide answer turnover.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28D6D1C-AC4B-4DB8-9BAF-0AADB7AF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525" y="2458641"/>
            <a:ext cx="3386676" cy="1102320"/>
          </a:xfrm>
          <a:prstGeom xmlns:a="http://schemas.openxmlformats.org/drawingml/2006/main" prst="roundRect">
            <a:avLst>
              <a:gd name="adj" fmla="val 5761"/>
            </a:avLst>
          </a:prstGeom>
          <a:solidFill xmlns:a="http://schemas.openxmlformats.org/drawingml/2006/main">
            <a:srgbClr val="FCFBF6"/>
          </a:solidFill>
        </p:spPr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A5B9636-8584-4A24-9BAD-5BC4F236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525" y="2458641"/>
            <a:ext cx="3386676" cy="1102320"/>
          </a:xfrm>
          <a:custGeom xmlns:a="http://schemas.openxmlformats.org/drawingml/2006/main">
            <a:rect l="l" t="t" r="r" b="b"/>
            <a:pathLst>
              <a:path w="3386676" h="1102320">
                <a:moveTo>
                  <a:pt x="63500" y="1102320"/>
                </a:moveTo>
                <a:lnTo>
                  <a:pt x="63500" y="110232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1038820"/>
                </a:lnTo>
                <a:arcTo wR="25400" hR="63500" stAng="10800000" swAng="-5400000"/>
                <a:close/>
              </a:path>
            </a:pathLst>
          </a:custGeom>
          <a:solidFill xmlns:a="http://schemas.openxmlformats.org/drawingml/2006/main">
            <a:srgbClr val="D9A62B"/>
          </a:solidFill>
        </p:spPr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22B0A477-7785-472B-88D8-916AAAEC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025" y="2585641"/>
            <a:ext cx="3135090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4A5E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A5E66"/>
                </a:solidFill>
                <a:latin typeface="Arial"/>
                <a:ea typeface="Arial"/>
                <a:cs typeface="Arial"/>
              </a:rPr>
              <a:t>TextVQA100 · native − random</a:t>
            </a:r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6ABFCB33-B9ED-4649-BE90-114181B6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025" y="2849790"/>
            <a:ext cx="3135090" cy="3454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buNone/>
              <a:defRPr sz="1800" b="1" i="0">
                <a:solidFill>
                  <a:srgbClr val="0F4C5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F4C5C"/>
                </a:solidFill>
                <a:latin typeface="Arial"/>
                <a:ea typeface="Arial"/>
                <a:cs typeface="Arial"/>
              </a:rPr>
              <a:t>64 avg: +20.9 pts</a:t>
            </a:r>
          </a:p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B817FE3-1D59-4209-8DC8-051F2AC9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025" y="3220613"/>
            <a:ext cx="3135090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192 avg: +9.4 pts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11B275EF-33A2-46E4-841C-8EC1C3B3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525" y="3637162"/>
            <a:ext cx="3386676" cy="1102320"/>
          </a:xfrm>
          <a:prstGeom xmlns:a="http://schemas.openxmlformats.org/drawingml/2006/main" prst="roundRect">
            <a:avLst>
              <a:gd name="adj" fmla="val 5761"/>
            </a:avLst>
          </a:prstGeom>
          <a:solidFill xmlns:a="http://schemas.openxmlformats.org/drawingml/2006/main">
            <a:srgbClr val="FCFBF6"/>
          </a:solidFill>
        </p:spPr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972C655E-3A37-4F78-90F2-8A5D54A9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525" y="3637162"/>
            <a:ext cx="3386676" cy="1102320"/>
          </a:xfrm>
          <a:custGeom xmlns:a="http://schemas.openxmlformats.org/drawingml/2006/main">
            <a:rect l="l" t="t" r="r" b="b"/>
            <a:pathLst>
              <a:path w="3386676" h="1102320">
                <a:moveTo>
                  <a:pt x="63500" y="1102320"/>
                </a:moveTo>
                <a:lnTo>
                  <a:pt x="63500" y="110232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1038820"/>
                </a:lnTo>
                <a:arcTo wR="25400" hR="63500" stAng="10800000" swAng="-5400000"/>
                <a:close/>
              </a:path>
            </a:pathLst>
          </a:custGeom>
          <a:solidFill xmlns:a="http://schemas.openxmlformats.org/drawingml/2006/main">
            <a:srgbClr val="D9A62B"/>
          </a:solidFill>
        </p:spPr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0612CC5B-030D-45F8-BD62-DD435CEF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025" y="3764162"/>
            <a:ext cx="3135090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4A5E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A5E66"/>
                </a:solidFill>
                <a:latin typeface="Arial"/>
                <a:ea typeface="Arial"/>
                <a:cs typeface="Arial"/>
              </a:rPr>
              <a:t>GQA800 · average budget 192</a:t>
            </a:r>
          </a:p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D68E8B11-484C-4BEA-B8A4-35FD6D53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025" y="4028311"/>
            <a:ext cx="3135090" cy="3454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buNone/>
              <a:defRPr sz="1800" b="1" i="0">
                <a:solidFill>
                  <a:srgbClr val="0F4C5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F4C5C"/>
                </a:solidFill>
                <a:latin typeface="Arial"/>
                <a:ea typeface="Arial"/>
                <a:cs typeface="Arial"/>
              </a:rPr>
              <a:t>34 lost · 26 gained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FBC2142D-9576-4F45-A7B0-723C0619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025" y="4399133"/>
            <a:ext cx="3135090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Accuracy 69.0% → 68.0%</a:t>
            </a:r>
          </a:p>
        </p:txBody>
      </p:sp>
      <p:sp>
        <p:nvSpPr>
          <p:cNvPr id="43" name="Text 40">
            <a:extLst xmlns:a="http://schemas.openxmlformats.org/drawingml/2006/main">
              <a:ext uri="{FF2B5EF4-FFF2-40B4-BE49-F238E27FC236}">
                <a16:creationId xmlns:a16="http://schemas.microsoft.com/office/drawing/2014/main" id="{DAFC615B-5DCC-4044-9117-8E100745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525" y="4815683"/>
            <a:ext cx="3488277" cy="4368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  <a:defRPr sz="1200" b="1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Smaller gap on GQA;</a:t>
            </a:r>
          </a:p>
          <a:p xmlns:a="http://schemas.openxmlformats.org/drawingml/2006/main">
            <a:pPr marL="0" indent="0" algn="l">
              <a:lnSpc>
                <a:spcPts val="1620"/>
              </a:lnSpc>
              <a:buNone/>
              <a:defRPr sz="1200" b="1" i="0">
                <a:solidFill>
                  <a:srgbClr val="1C354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C3540"/>
                </a:solidFill>
                <a:latin typeface="Arial"/>
                <a:ea typeface="Arial"/>
                <a:cs typeface="Arial"/>
              </a:rPr>
              <a:t>no clear gap on MMStar.</a:t>
            </a:r>
          </a:p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C008B0E4-0494-422D-86C8-899DE3FC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52"/>
            <a:ext cx="10883393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6B7D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B7D84"/>
                </a:solidFill>
                <a:latin typeface="Arial"/>
                <a:ea typeface="Arial"/>
                <a:cs typeface="Arial"/>
              </a:rPr>
              <a:t>① Selected30; IH-inspired. ② Input288 / 24 images. ③ Staged cohorts; random = 3-seed mean. Sources: saved RQ1/RQ2 records. · 3 / 5</a:t>
            </a:r>
          </a:p>
        </p:txBody>
      </p:sp>
    </p:spTree>
    <p:extLst>
      <p:ext uri="{BB962C8B-B14F-4D97-AF65-F5344CB8AC3E}">
        <p14:creationId xmlns:p14="http://schemas.microsoft.com/office/powerpoint/2010/main" val="849209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587FCF-A201-4B21-AB21-3B083ECE29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3" cy="4724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520"/>
              </a:lnSpc>
              <a:buNone/>
            </a:pPr>
            <a:r>
              <a:rPr sz="3200" b="1" i="0">
                <a:solidFill>
                  <a:srgbClr val="0F4C5C"/>
                </a:solidFill>
                <a:latin typeface="Georgia"/>
                <a:ea typeface="Georgia"/>
                <a:cs typeface="Georgia"/>
              </a:rPr>
              <a:t>Roadblocks and fixes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6547E4-035C-4FA3-9E46-F83501F3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336022"/>
            <a:ext cx="10883393" cy="2742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60"/>
              </a:lnSpc>
              <a:buNone/>
              <a:defRPr sz="1400" b="0" i="0">
                <a:solidFill>
                  <a:srgbClr val="4A5E66"/>
                </a:solidFill>
                <a:latin typeface="Arial"/>
                <a:ea typeface="Arial"/>
                <a:cs typeface="Arial"/>
              </a:defRPr>
            </a:pPr>
            <a:r>
              <a:rPr sz="1400" b="0" i="0">
                <a:solidFill>
                  <a:srgbClr val="4A5E66"/>
                </a:solidFill>
                <a:latin typeface="Arial"/>
                <a:ea typeface="Arial"/>
                <a:cs typeface="Arial"/>
              </a:rPr>
              <a:t>A stable pipeline; remaining scientific limits are explicit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9DA8C8B-961D-4159-8743-CD5035AE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37320"/>
            <a:ext cx="10566401" cy="2742917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CFBF6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7D75B5F-14E9-453F-BA63-458E5B65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37320"/>
            <a:ext cx="10566401" cy="2742917"/>
          </a:xfrm>
          <a:custGeom xmlns:a="http://schemas.openxmlformats.org/drawingml/2006/main">
            <a:rect l="l" t="t" r="r" b="b"/>
            <a:pathLst>
              <a:path w="10566401" h="2742917">
                <a:moveTo>
                  <a:pt x="76200" y="2742917"/>
                </a:moveTo>
                <a:lnTo>
                  <a:pt x="76200" y="2742917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10490201" y="0"/>
                </a:lnTo>
                <a:arcTo wR="76200" hR="76200" stAng="16200000" swAng="5400000"/>
                <a:lnTo>
                  <a:pt x="10566401" y="76200"/>
                </a:lnTo>
                <a:arcTo wR="76200" hR="63500" stAng="0" swAng="-5400000"/>
                <a:lnTo>
                  <a:pt x="76200" y="12700"/>
                </a:lnTo>
                <a:arcTo wR="63500" hR="63500" stAng="16200000" swAng="-5400000"/>
                <a:lnTo>
                  <a:pt x="12700" y="2666717"/>
                </a:lnTo>
                <a:arcTo wR="63500" hR="76200" stAng="10800000" swAng="-5400000"/>
                <a:close/>
              </a:path>
            </a:pathLst>
          </a:custGeom>
          <a:solidFill xmlns:a="http://schemas.openxmlformats.org/drawingml/2006/main">
            <a:srgbClr val="141413">
              <a:alpha val="22000"/>
            </a:srgbClr>
          </a:solidFill>
        </p:spPr>
      </p:sp>
      <p:graphicFrame>
        <p:nvGraphicFramePr>
          <p:cNvPr id="13" name="Table 0"/>
          <p:cNvGraphicFramePr/>
          <p:nvPr/>
        </p:nvGraphicFramePr>
        <p:xfrm>
          <a:off xmlns:a="http://schemas.openxmlformats.org/drawingml/2006/main" x="825500" y="1750020"/>
          <a:ext xmlns:a="http://schemas.openxmlformats.org/drawingml/2006/main" cx="10553701" cy="273021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99666"/>
                <a:gridCol w="3271647"/>
                <a:gridCol w="3693795"/>
                <a:gridCol w="1688592"/>
              </a:tblGrid>
              <a:tr h="332695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F7F4EA"/>
                          </a:solidFill>
                          <a:latin typeface="Arial"/>
                          <a:ea typeface="Arial"/>
                          <a:cs typeface="Arial"/>
                        </a:rPr>
                        <a:t>Roadblock</a:t>
                      </a:r>
                    </a:p>
                  </a:txBody>
                  <a:tcPr marL="53340" marR="53340" marT="53340" marB="53340" anchor="t">
                    <a:lnL w="0" cmpd="sng">
                      <a:noFill/>
                    </a:lnL>
                    <a:lnR w="12700" cmpd="sng">
                      <a:solidFill>
                        <a:srgbClr val="10404C"/>
                      </a:solidFill>
                      <a:prstDash val="solid"/>
                    </a:lnR>
                    <a:lnT w="0" cmpd="sng">
                      <a:noFill/>
                    </a:lnT>
                    <a:lnB w="12700" cmpd="sng">
                      <a:solidFill>
                        <a:srgbClr val="10404C"/>
                      </a:solidFill>
                      <a:prstDash val="soli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F7F4EA"/>
                          </a:solidFill>
                          <a:latin typeface="Arial"/>
                          <a:ea typeface="Arial"/>
                          <a:cs typeface="Arial"/>
                        </a:rPr>
                        <a:t>Problem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10404C"/>
                      </a:solidFill>
                      <a:prstDash val="solid"/>
                    </a:lnL>
                    <a:lnR w="12700" cmpd="sng">
                      <a:solidFill>
                        <a:srgbClr val="10404C"/>
                      </a:solidFill>
                      <a:prstDash val="solid"/>
                    </a:lnR>
                    <a:lnT w="0" cmpd="sng">
                      <a:noFill/>
                    </a:lnT>
                    <a:lnB w="12700" cmpd="sng">
                      <a:solidFill>
                        <a:srgbClr val="10404C"/>
                      </a:solidFill>
                      <a:prstDash val="soli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F7F4EA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10404C"/>
                      </a:solidFill>
                      <a:prstDash val="solid"/>
                    </a:lnL>
                    <a:lnR w="12700" cmpd="sng">
                      <a:solidFill>
                        <a:srgbClr val="10404C"/>
                      </a:solidFill>
                      <a:prstDash val="solid"/>
                    </a:lnR>
                    <a:lnT w="0" cmpd="sng">
                      <a:noFill/>
                    </a:lnT>
                    <a:lnB w="12700" cmpd="sng">
                      <a:solidFill>
                        <a:srgbClr val="10404C"/>
                      </a:solidFill>
                      <a:prstDash val="soli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F7F4EA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10404C"/>
                      </a:solidFill>
                      <a:prstDash val="solid"/>
                    </a:lnL>
                    <a:lnR w="12700" cmpd="sng">
                      <a:solidFill>
                        <a:srgbClr val="10404C"/>
                      </a:solidFill>
                      <a:prstDash val="solid"/>
                    </a:lnR>
                    <a:lnT w="0" cmpd="sng">
                      <a:noFill/>
                    </a:lnT>
                    <a:lnB w="12700" cmpd="sng">
                      <a:solidFill>
                        <a:srgbClr val="10404C"/>
                      </a:solidFill>
                      <a:prstDash val="solid"/>
                    </a:lnB>
                    <a:solidFill>
                      <a:srgbClr val="0F4C5C"/>
                    </a:solidFill>
                  </a:tcPr>
                </a:tc>
              </a:tr>
              <a:tr h="54604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Integration</a:t>
                      </a:r>
                    </a:p>
                  </a:txBody>
                  <a:tcPr marL="53340" marR="53340" marT="53340" marB="53340" anchor="t">
                    <a:lnL w="0" cmpd="sng">
                      <a:noFill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10404C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Kaggle package drift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10404C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Locked native environment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10404C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F6B45"/>
                          </a:solidFill>
                          <a:latin typeface="Arial"/>
                          <a:ea typeface="Arial"/>
                          <a:cs typeface="Arial"/>
                        </a:rPr>
                        <a:t>Resolved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10404C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</a:tr>
              <a:tr h="75939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Run-to-run variation</a:t>
                      </a:r>
                    </a:p>
                  </a:txBody>
                  <a:tcPr marL="53340" marR="53340" marT="53340" marB="53340" anchor="t">
                    <a:lnL w="0" cmpd="sng">
                      <a:noFill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Fresh encodes vary; saved-feature replays agree.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Differences appear after merging; cause unconfirmed. Keep first captures; repeat critical cases.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7A5A00"/>
                          </a:solidFill>
                          <a:latin typeface="Arial"/>
                          <a:ea typeface="Arial"/>
                          <a:cs typeface="Arial"/>
                        </a:rPr>
                        <a:t>Managed; cause open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</a:tr>
              <a:tr h="54604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Selection bias</a:t>
                      </a:r>
                    </a:p>
                  </a:txBody>
                  <a:tcPr marL="53340" marR="53340" marT="53340" marB="53340" anchor="t">
                    <a:lnL w="0" cmpd="sng">
                      <a:noFill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Diagnostic cases include known native failures.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Use for case analysis; compare methods on outcome-unselected cohorts.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7A5A00"/>
                          </a:solidFill>
                          <a:latin typeface="Arial"/>
                          <a:ea typeface="Arial"/>
                          <a:cs typeface="Arial"/>
                        </a:rPr>
                        <a:t>Limited scope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</a:tr>
              <a:tr h="546043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Planning risk</a:t>
                      </a:r>
                    </a:p>
                  </a:txBody>
                  <a:tcPr marL="53340" marR="53340" marT="53340" marB="53340" anchor="t">
                    <a:lnL w="0" cmpd="sng">
                      <a:noFill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Component attribution remains open.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1C3540"/>
                          </a:solidFill>
                          <a:latin typeface="Arial"/>
                          <a:ea typeface="Arial"/>
                          <a:cs typeface="Arial"/>
                        </a:rPr>
                        <a:t>One controlled comparison; negative results also count.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7A5A00"/>
                          </a:solidFill>
                          <a:latin typeface="Arial"/>
                          <a:ea typeface="Arial"/>
                          <a:cs typeface="Arial"/>
                        </a:rPr>
                        <a:t>Open</a:t>
                      </a:r>
                    </a:p>
                  </a:txBody>
                  <a:tcPr marL="53340" marR="53340" marT="53340" marB="53340" anchor="t">
                    <a:lnL w="12700" cmpd="sng">
                      <a:solidFill>
                        <a:srgbClr val="C9C8C4"/>
                      </a:solidFill>
                      <a:prstDash val="solid"/>
                    </a:lnL>
                    <a:lnR w="12700" cmpd="sng">
                      <a:solidFill>
                        <a:srgbClr val="C9C8C4"/>
                      </a:solidFill>
                      <a:prstDash val="solid"/>
                    </a:lnR>
                    <a:lnT w="12700" cmpd="sng">
                      <a:solidFill>
                        <a:srgbClr val="C9C8C4"/>
                      </a:solidFill>
                      <a:prstDash val="solid"/>
                    </a:lnT>
                    <a:lnB w="12700" cmpd="sng">
                      <a:solidFill>
                        <a:srgbClr val="C9C8C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0886127-2CE4-4319-820F-874AB8FF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50"/>
            <a:ext cx="10883393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0" i="0">
                <a:solidFill>
                  <a:srgbClr val="6B7D8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B7D84"/>
                </a:solidFill>
                <a:latin typeface="Arial"/>
                <a:ea typeface="Arial"/>
                <a:cs typeface="Arial"/>
              </a:rPr>
              <a:t>FP16 accumulation is a candidate explanation, not a confirmed root cause. Fixed-feature replay and fresh-run repeatability are different checks. · 4 / 5</a:t>
            </a:r>
          </a:p>
        </p:txBody>
      </p:sp>
    </p:spTree>
    <p:extLst>
      <p:ext uri="{BB962C8B-B14F-4D97-AF65-F5344CB8AC3E}">
        <p14:creationId xmlns:p14="http://schemas.microsoft.com/office/powerpoint/2010/main" val="1617706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4C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C44C55-6167-47A7-9365-47F79AD414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2800" y="812800"/>
            <a:ext cx="10883393" cy="4724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520"/>
              </a:lnSpc>
              <a:buNone/>
              <a:defRPr sz="3200" b="1" i="0">
                <a:solidFill>
                  <a:srgbClr val="F7F4EA"/>
                </a:solidFill>
                <a:latin typeface="Georgia"/>
                <a:ea typeface="Georgia"/>
                <a:cs typeface="Georgia"/>
              </a:defRPr>
            </a:pPr>
            <a:r>
              <a:rPr sz="3200" b="1" i="0">
                <a:solidFill>
                  <a:srgbClr val="F7F4EA"/>
                </a:solidFill>
                <a:latin typeface="Georgia"/>
                <a:ea typeface="Georgia"/>
                <a:cs typeface="Georgia"/>
              </a:rPr>
              <a:t>Next steps follow the three findings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A36BE2-8C49-4058-B1AB-B27B77D1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437624"/>
            <a:ext cx="3420524" cy="1946190"/>
          </a:xfrm>
          <a:prstGeom xmlns:a="http://schemas.openxmlformats.org/drawingml/2006/main" prst="roundRect">
            <a:avLst>
              <a:gd name="adj" fmla="val 3915"/>
            </a:avLst>
          </a:prstGeom>
          <a:solidFill xmlns:a="http://schemas.openxmlformats.org/drawingml/2006/main">
            <a:srgbClr val="175E6E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70AA8E2-CB55-447A-9982-ACFF3A3A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640824"/>
            <a:ext cx="3104548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  <a:defRPr sz="1300" b="1" i="0">
                <a:solidFill>
                  <a:srgbClr val="E9B949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E9B949"/>
                </a:solidFill>
                <a:latin typeface="Arial"/>
                <a:ea typeface="Arial"/>
                <a:cs typeface="Arial"/>
              </a:rPr>
              <a:t>01 · Separate the components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D3E79BF-0F5F-4EA6-98A5-69BD5D12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48148"/>
            <a:ext cx="3104548" cy="269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20"/>
              </a:lnSpc>
              <a:buNone/>
              <a:defRPr sz="1600" b="1" i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7F4EA"/>
                </a:solidFill>
                <a:latin typeface="Arial"/>
                <a:ea typeface="Arial"/>
                <a:cs typeface="Arial"/>
              </a:rPr>
              <a:t>Which operation helps?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4FBF97A-81A3-4C45-AB44-933FB19C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24100"/>
            <a:ext cx="310457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5"/>
              </a:lnSpc>
              <a:buNone/>
              <a:defRPr sz="1300" b="0" i="0">
                <a:solidFill>
                  <a:srgbClr val="CFE3E1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CFE3E1"/>
                </a:solidFill>
                <a:latin typeface="Arial"/>
                <a:ea typeface="Arial"/>
                <a:cs typeface="Arial"/>
              </a:rPr>
              <a:t>E vs. random: basis + merge rule fixed.</a:t>
            </a:r>
          </a:p>
          <a:p xmlns:a="http://schemas.openxmlformats.org/drawingml/2006/main">
            <a:pPr marL="0" indent="0" algn="l">
              <a:lnSpc>
                <a:spcPts val="1755"/>
              </a:lnSpc>
              <a:buNone/>
              <a:defRPr sz="1300" b="0" i="0">
                <a:solidFill>
                  <a:srgbClr val="CFE3E1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CFE3E1"/>
                </a:solidFill>
                <a:latin typeface="Arial"/>
                <a:ea typeface="Arial"/>
                <a:cs typeface="Arial"/>
              </a:rPr>
              <a:t>Merge vs. drop: selection fixed.</a:t>
            </a:r>
          </a:p>
          <a:p xmlns:a="http://schemas.openxmlformats.org/drawingml/2006/main">
            <a:pPr marL="0" indent="0" algn="l">
              <a:lnSpc>
                <a:spcPts val="1755"/>
              </a:lnSpc>
              <a:buNone/>
              <a:defRPr sz="1300" b="0" i="0">
                <a:solidFill>
                  <a:srgbClr val="CFE3E1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CFE3E1"/>
                </a:solidFill>
                <a:latin typeface="Arial"/>
                <a:ea typeface="Arial"/>
                <a:cs typeface="Arial"/>
              </a:rPr>
              <a:t>Use an outcome-unselected cohort.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12A8B2-4512-47B3-AF9A-CB1A86EF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724" y="1437624"/>
            <a:ext cx="3420552" cy="1946190"/>
          </a:xfrm>
          <a:prstGeom xmlns:a="http://schemas.openxmlformats.org/drawingml/2006/main" prst="roundRect">
            <a:avLst>
              <a:gd name="adj" fmla="val 3915"/>
            </a:avLst>
          </a:prstGeom>
          <a:solidFill xmlns:a="http://schemas.openxmlformats.org/drawingml/2006/main">
            <a:srgbClr val="175E6E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88488BB-1322-4AF6-8460-8D1B8177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924" y="1640824"/>
            <a:ext cx="3104577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  <a:defRPr sz="1300" b="1" i="0">
                <a:solidFill>
                  <a:srgbClr val="E9B949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E9B949"/>
                </a:solidFill>
                <a:latin typeface="Arial"/>
                <a:ea typeface="Arial"/>
                <a:cs typeface="Arial"/>
              </a:rPr>
              <a:t>02 · Roles of retained tokens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712EC99-9BCB-416B-8E22-91ECAB0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924" y="1948148"/>
            <a:ext cx="3104577" cy="269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20"/>
              </a:lnSpc>
              <a:buNone/>
              <a:defRPr sz="1600" b="1" i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7F4EA"/>
                </a:solidFill>
                <a:latin typeface="Arial"/>
                <a:ea typeface="Arial"/>
                <a:cs typeface="Arial"/>
              </a:rPr>
              <a:t>Who collects information?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58074A2-9A22-4BE8-88E8-71154C82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924" y="2324100"/>
            <a:ext cx="310457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5"/>
              </a:lnSpc>
              <a:buNone/>
              <a:defRPr sz="1300" b="0" i="0">
                <a:solidFill>
                  <a:srgbClr val="CFE3E1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CFE3E1"/>
                </a:solidFill>
                <a:latin typeface="Arial"/>
                <a:ea typeface="Arial"/>
                <a:cs typeface="Arial"/>
              </a:rPr>
              <a:t>Check loads and feature changes across stages and budgets. Compare no, half-strength and native merging.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514EC76-1D65-4CA8-8FEC-EABCE294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676" y="1437624"/>
            <a:ext cx="3420524" cy="1946190"/>
          </a:xfrm>
          <a:prstGeom xmlns:a="http://schemas.openxmlformats.org/drawingml/2006/main" prst="roundRect">
            <a:avLst>
              <a:gd name="adj" fmla="val 3915"/>
            </a:avLst>
          </a:prstGeom>
          <a:solidFill xmlns:a="http://schemas.openxmlformats.org/drawingml/2006/main">
            <a:srgbClr val="175E6E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C993625-C4B4-4BE0-9EC7-B1C89DFB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876" y="1640824"/>
            <a:ext cx="3104548" cy="2565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  <a:defRPr sz="1300" b="1" i="0">
                <a:solidFill>
                  <a:srgbClr val="E9B949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E9B949"/>
                </a:solidFill>
                <a:latin typeface="Arial"/>
                <a:ea typeface="Arial"/>
                <a:cs typeface="Arial"/>
              </a:rPr>
              <a:t>03 · Test reconstruction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3A4F100-BB34-40D5-A186-7023C789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876" y="1948148"/>
            <a:ext cx="3104548" cy="2691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20"/>
              </a:lnSpc>
              <a:buNone/>
              <a:defRPr sz="1600" b="1" i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F7F4EA"/>
                </a:solidFill>
                <a:latin typeface="Arial"/>
                <a:ea typeface="Arial"/>
                <a:cs typeface="Arial"/>
              </a:rPr>
              <a:t>Is reconstruction safe?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292EDB5-52A0-4A23-8533-2272F257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876" y="2324100"/>
            <a:ext cx="310457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5"/>
              </a:lnSpc>
              <a:buNone/>
              <a:defRPr sz="1300" b="0" i="0">
                <a:solidFill>
                  <a:srgbClr val="CFE3E1"/>
                </a:solidFill>
                <a:latin typeface="Arial"/>
                <a:ea typeface="Arial"/>
                <a:cs typeface="Arial"/>
              </a:defRPr>
            </a:pPr>
            <a:r>
              <a:rPr sz="1300" b="0" i="0">
                <a:solidFill>
                  <a:srgbClr val="CFE3E1"/>
                </a:solidFill>
                <a:latin typeface="Arial"/>
                <a:ea typeface="Arial"/>
                <a:cs typeface="Arial"/>
              </a:rPr>
              <a:t>Replace a few features with linear reconstructions. Keep sequence length; control the change size.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3003F1E-0C12-4E5E-8585-7206AB49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561615"/>
            <a:ext cx="10566401" cy="1146799"/>
          </a:xfrm>
          <a:prstGeom xmlns:a="http://schemas.openxmlformats.org/drawingml/2006/main" prst="roundRect">
            <a:avLst>
              <a:gd name="adj" fmla="val 6645"/>
            </a:avLst>
          </a:prstGeom>
          <a:solidFill xmlns:a="http://schemas.openxmlformats.org/drawingml/2006/main">
            <a:srgbClr val="E9B949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2E2A0FA-55F7-4FE4-ACE3-A96B893A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739415"/>
            <a:ext cx="10412477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  <a:defRPr sz="1200" b="1" i="0">
                <a:solidFill>
                  <a:srgbClr val="0F4C5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4C5C"/>
                </a:solidFill>
                <a:latin typeface="Arial"/>
                <a:ea typeface="Arial"/>
                <a:cs typeface="Arial"/>
              </a:rPr>
              <a:t>SUCCESS CRITERION · RQ3 REMAINS CONDITIONAL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7C620EF-04E2-4103-83E8-ADBCD33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016263"/>
            <a:ext cx="10412477" cy="539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025"/>
              </a:lnSpc>
              <a:buNone/>
              <a:defRPr sz="1500" b="0" i="0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2343B"/>
                </a:solidFill>
                <a:latin typeface="Arial"/>
                <a:ea typeface="Arial"/>
                <a:cs typeface="Arial"/>
              </a:rPr>
              <a:t>One controlled comparison on ≥100 outcome-unselected questions: matched budgets, 3 random seeds and paired intervals. Negative results count; a small improvement is optional.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E9E8758-0E40-49F2-B0C0-E917BF2A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52"/>
            <a:ext cx="10883393" cy="238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CFE3E1"/>
                </a:solidFill>
                <a:latin typeface="Arial"/>
                <a:ea typeface="Arial"/>
                <a:cs typeface="Arial"/>
              </a:rPr>
              <a:t>Protocol Nov 6 · pilot Nov 13 · main run Nov 20 · RQ3 go/no-go Nov 24 · final Dec 15 · 5 / 5</a:t>
            </a:r>
          </a:p>
        </p:txBody>
      </p:sp>
    </p:spTree>
    <p:extLst>
      <p:ext uri="{BB962C8B-B14F-4D97-AF65-F5344CB8AC3E}">
        <p14:creationId xmlns:p14="http://schemas.microsoft.com/office/powerpoint/2010/main" val="621488111"/>
      </p:ext>
    </p:extLst>
  </p:cSld>
</p:sld>
</file>

<file path=ppt/theme/theme1.xml><?xml version="1.0" encoding="utf-8"?>
<a:theme xmlns:a="http://schemas.openxmlformats.org/drawingml/2006/main" name="ApET Midterm — 5 Slides">
  <a:themeElements>
    <a:clrScheme name="ApET Midterm — 5 Slides">
      <a:dk1>
        <a:srgbClr val="0F4C5C"/>
      </a:dk1>
      <a:lt1>
        <a:srgbClr val="F7F4EA"/>
      </a:lt1>
      <a:dk2>
        <a:srgbClr val="265D6A"/>
      </a:dk2>
      <a:lt2>
        <a:srgbClr val="BDCAC7"/>
      </a:lt2>
      <a:accent1>
        <a:srgbClr val="E9B949"/>
      </a:accent1>
      <a:accent2>
        <a:srgbClr val="5C4300"/>
      </a:accent2>
      <a:accent3>
        <a:srgbClr val="F6E3A8"/>
      </a:accent3>
      <a:accent4>
        <a:srgbClr val="D9A62B"/>
      </a:accent4>
      <a:accent5>
        <a:srgbClr val="0F6B6E"/>
      </a:accent5>
      <a:accent6>
        <a:srgbClr val="12343B"/>
      </a:accent6>
      <a:hlink>
        <a:srgbClr val="0563C1"/>
      </a:hlink>
      <a:folHlink>
        <a:srgbClr val="954F72"/>
      </a:folHlink>
    </a:clrScheme>
    <a:fontScheme name="ApET Midterm — 5 Slid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pET Midterm — 5 Slide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2026-10-30T14:14:53.9680000Z</dcterms:created>
  <dcterms:modified xsi:type="dcterms:W3CDTF">2026-10-30T14:14:53.9680000Z</dcterms:modified>
</coreProperties>
</file>