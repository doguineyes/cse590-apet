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ApET is a training-free method that shrinks the visual tokens of a vision-language model without looking at attention. It reconstructs every token as a linear combination of a few basis tokens, keeps the tokens with the largest reconstruction error, and averages each remaining token into its most similar kept token. The method is very simple, yet the paper reports strong results: on LLaVA-1.5, keeping only 64 of 576 tokens still gives 95.2 percent of the original performance, better than VisionZip, and inference is about 1.46 times faster. That raises our question: how can a linear, geometric criterion work so well inside a nonlinear model, and when does it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ApET in LLaVA-1.5. The image becomes 576 tokens, and ApET compresses twice: after the vision encoder and again after block 16. Inside each stage it picks 10 basis tokens, keeps the tokens with the largest reconstruction error, and averages the rest into similar kept tokens. Our setup: LLaVA-1.5-7B with the native ApET code on Kaggle, three datasets, and two budgets that average 64 or 192 tokens. RQ1 asks whether the error E tracks what the answer needs; we test this on a 30-question diagnostic set with an Information-Horizon-style test that keeps only one token at a time. RQ2 asks whether ApET’s strength comes from selection or from merging; the plan compares E-based with random selection, and merging with dropping or other merge targets. In pilot tests, random selection sometimes kept answers ApET lost, so we first ran a large comparison of ApET against random pruning. RQ3, a lightweight improvement, stays exploratory.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three findings. First, RQ1. We used an Information-Horizon-style test: keep only one of the 576 visual tokens, and measure how much that single token raises the probability of the correct answer. We did this for every token in 30 diagnostic questions, which is 17,280 token tests. Then, for each question, we checked whether ApET’s reconstruction error ranks tokens the same way. It does not: the median correlation is slightly negative in all three datasets, and only 11 of 30 questions show a positive correlation. So, token by token, “hard to reconstruct” is not the same as “useful for the answer.” Second, the surprise: complete ApET still beats random pruning at the same budget. On TextVQA, with 64 tokens on average, ApET scores 41.5 versus 20.6 for random — about 21 points better. On GQA the gap is only 2.5 points. So ApET’s advantage depends strongly on the task. Third, ApET’s good average accuracy hides a lot of change in individual answers. Compared with the uncompressed model at 192 tokens, on 800 GQA questions ApET turns 34 correct answers wrong but 26 wrong answers right, so accuracy only drops from 69 to 68 percent. On MMStar it loses 36 and gains 40, so accuracy even goes up slightly. Compression reshuffles which questions are answered correctly, in both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separate problems, each with its own fix. Integration: package updates on Kaggle broke compatibility; a locked environment solved it. Run-to-run variation: re-running the same compressed setting from scratch changed a few answers, while replays from saved features did not. A diagnostic showed everything was identical up to the merge step; the likely cause is that the GPU adds merged tokens in a different order each run, which slightly changes 16-bit results. We keep first runs as official results and repeat any case a conclusion depends on. Selection bias: our small diagnostic set was chosen from ApET’s own outcomes, which favors other methods, so we use it only for RQ1 and case studies. Finally, a planning risk: if we cannot pin down which component matters, we will report a careful negative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First, continue RQ2 on selection: does linear reconstruction pick the tokens the model actually uses? We will vary only the selection rule with merging fixed, and for low-error tokens compare keeping, merging, dropping, or replacing them with their linear reconstruction. Second, continue RQ2 on merging: should we merge at all, and how? We will compare merging, dropping, and random or protected merge targets, and measure how the averaged tokens differ from the originals. Third, RQ3 stays exploratory: a lightweight improvement, such as a question-aware budget, only if the analysis supports it. Our success criterion is one controlled comparison that isolates a single ApET component on at least 100 unselected questions, with matched budgets, three seeds, and paired confidence intervals. A clear negative result also counts. The timeline runs from a written protocol on November 6 to the final report on December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4C5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96323"/>
            <a:ext cx="10566401" cy="670549"/>
          </a:xfrm>
          <a:prstGeom prst="rect">
            <a:avLst/>
          </a:prstGeom>
          <a:noFill/>
          <a:ln/>
        </p:spPr>
        <p:txBody>
          <a:bodyPr wrap="square" lIns="0" tIns="0" rIns="0" bIns="0" rtlCol="0" anchor="t"/>
          <a:lstStyle>
            <a:lvl1pPr algn="l" indent="0" marL="0">
              <a:lnSpc>
                <a:spcPct val="110000"/>
              </a:lnSpc>
              <a:buNone/>
              <a:defRPr lang="en-US" sz="4800" dirty="0">
                <a:solidFill>
                  <a:srgbClr val="F7F4EA"/>
                </a:solidFill>
                <a:latin typeface="Georgia" pitchFamily="34" charset="0"/>
                <a:ea typeface="Georgia" pitchFamily="34" charset="-122"/>
                <a:cs typeface="Georgia" pitchFamily="34" charset="-120"/>
              </a:defRPr>
            </a:lvl1pPr>
          </a:lstStyle>
          <a:p>
            <a:pPr algn="l" indent="0" marL="0">
              <a:lnSpc>
                <a:spcPct val="110000"/>
              </a:lnSpc>
              <a:buNone/>
            </a:pPr>
            <a:endParaRPr lang="en-US" sz="4800" dirty="0"/>
          </a:p>
        </p:txBody>
      </p:sp>
      <p:sp>
        <p:nvSpPr>
          <p:cNvPr id="3" name="Text Placeholder 2"/>
          <p:cNvSpPr/>
          <p:nvPr>
            <p:ph idx="101" type="body"/>
          </p:nvPr>
        </p:nvSpPr>
        <p:spPr>
          <a:xfrm>
            <a:off x="812800" y="2171672"/>
            <a:ext cx="10566400" cy="3873528"/>
          </a:xfrm>
          <a:prstGeom prst="rect">
            <a:avLst/>
          </a:prstGeom>
          <a:noFill/>
          <a:ln/>
        </p:spPr>
        <p:txBody>
          <a:bodyPr wrap="square" lIns="0" tIns="0" rIns="0" bIns="0" rtlCol="0" anchor="t"/>
          <a:lstStyle>
            <a:lvl1pPr algn="l" indent="0" marL="0">
              <a:lnSpc>
                <a:spcPct val="140000"/>
              </a:lnSpc>
              <a:buNone/>
              <a:defRPr lang="en-US" sz="1600" dirty="0">
                <a:solidFill>
                  <a:srgbClr val="F7F4E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4C5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96323"/>
            <a:ext cx="10566401" cy="670549"/>
          </a:xfrm>
          <a:prstGeom prst="rect">
            <a:avLst/>
          </a:prstGeom>
          <a:noFill/>
          <a:ln/>
        </p:spPr>
        <p:txBody>
          <a:bodyPr wrap="square" lIns="0" tIns="0" rIns="0" bIns="0" rtlCol="0" anchor="t"/>
          <a:lstStyle>
            <a:lvl1pPr algn="l" indent="0" marL="0">
              <a:lnSpc>
                <a:spcPct val="110000"/>
              </a:lnSpc>
              <a:buNone/>
              <a:defRPr lang="en-US" sz="4800" dirty="0">
                <a:solidFill>
                  <a:srgbClr val="F7F4EA"/>
                </a:solidFill>
                <a:latin typeface="Georgia" pitchFamily="34" charset="0"/>
                <a:ea typeface="Georgia" pitchFamily="34" charset="-122"/>
                <a:cs typeface="Georgia" pitchFamily="34" charset="-120"/>
              </a:defRPr>
            </a:lvl1pPr>
          </a:lstStyle>
          <a:p>
            <a:pPr algn="l" indent="0" marL="0">
              <a:lnSpc>
                <a:spcPct val="110000"/>
              </a:lnSpc>
              <a:buNone/>
            </a:pPr>
            <a:endParaRPr lang="en-US" sz="4800" dirty="0"/>
          </a:p>
        </p:txBody>
      </p:sp>
      <p:sp>
        <p:nvSpPr>
          <p:cNvPr id="3" name="Text Placeholder 2"/>
          <p:cNvSpPr/>
          <p:nvPr>
            <p:ph idx="101" type="body"/>
          </p:nvPr>
        </p:nvSpPr>
        <p:spPr>
          <a:xfrm>
            <a:off x="812800" y="2171672"/>
            <a:ext cx="10566400" cy="3873528"/>
          </a:xfrm>
          <a:prstGeom prst="rect">
            <a:avLst/>
          </a:prstGeom>
          <a:noFill/>
          <a:ln/>
        </p:spPr>
        <p:txBody>
          <a:bodyPr wrap="square" lIns="0" tIns="0" rIns="0" bIns="0" rtlCol="0" anchor="t"/>
          <a:lstStyle>
            <a:lvl1pPr algn="l" indent="0" marL="0">
              <a:lnSpc>
                <a:spcPct val="140000"/>
              </a:lnSpc>
              <a:buNone/>
              <a:defRPr lang="en-US" sz="1600" dirty="0">
                <a:solidFill>
                  <a:srgbClr val="F7F4E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812800" y="812800"/>
            <a:ext cx="10883393" cy="256523"/>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E9B949"/>
                </a:solidFill>
                <a:latin typeface="Arial" pitchFamily="34" charset="0"/>
                <a:ea typeface="Arial" pitchFamily="34" charset="-122"/>
                <a:cs typeface="Arial" pitchFamily="34" charset="-120"/>
              </a:rPr>
              <a:t>CSE590 · MIDTERM PROGRESS</a:t>
            </a:r>
            <a:endParaRPr lang="en-US" sz="1300" dirty="0"/>
          </a:p>
        </p:txBody>
      </p:sp>
      <p:sp>
        <p:nvSpPr>
          <p:cNvPr id="3" name="Text 1"/>
          <p:cNvSpPr/>
          <p:nvPr>
            <p:ph type="title"/>
          </p:nvPr>
        </p:nvSpPr>
        <p:spPr>
          <a:xfrm>
            <a:off x="812800" y="1196323"/>
            <a:ext cx="11379200" cy="695949"/>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7F4EA"/>
                </a:solidFill>
                <a:latin typeface="Georgia" pitchFamily="18" charset="0"/>
                <a:ea typeface="Georgia" pitchFamily="18" charset="-122"/>
                <a:cs typeface="Georgia" pitchFamily="18" charset="-120"/>
              </a:rPr>
              <a:t>When and why does ApET work?</a:t>
            </a:r>
            <a:endParaRPr lang="en-US" sz="4800" dirty="0"/>
          </a:p>
        </p:txBody>
      </p:sp>
      <p:sp>
        <p:nvSpPr>
          <p:cNvPr id="4" name="Text 2"/>
          <p:cNvSpPr/>
          <p:nvPr/>
        </p:nvSpPr>
        <p:spPr>
          <a:xfrm>
            <a:off x="812800" y="2019272"/>
            <a:ext cx="9156701" cy="327649"/>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FE3E1"/>
                </a:solidFill>
                <a:latin typeface="Arial" pitchFamily="34" charset="0"/>
                <a:ea typeface="Arial" pitchFamily="34" charset="-122"/>
                <a:cs typeface="Arial" pitchFamily="34" charset="-120"/>
              </a:rPr>
              <a:t>Understanding reconstruction-based visual token compression in LLaVA-1.5-7B</a:t>
            </a:r>
            <a:endParaRPr lang="en-US" sz="1700" dirty="0"/>
          </a:p>
        </p:txBody>
      </p:sp>
      <p:sp>
        <p:nvSpPr>
          <p:cNvPr id="5" name="Shape 3"/>
          <p:cNvSpPr/>
          <p:nvPr/>
        </p:nvSpPr>
        <p:spPr>
          <a:xfrm>
            <a:off x="828675" y="3270307"/>
            <a:ext cx="0" cy="1361338"/>
          </a:xfrm>
          <a:prstGeom prst="line">
            <a:avLst/>
          </a:prstGeom>
          <a:noFill/>
          <a:ln w="31750">
            <a:solidFill>
              <a:srgbClr val="E9B949"/>
            </a:solidFill>
            <a:prstDash val="solid"/>
          </a:ln>
        </p:spPr>
      </p:sp>
      <p:sp>
        <p:nvSpPr>
          <p:cNvPr id="6" name="Text 4"/>
          <p:cNvSpPr/>
          <p:nvPr/>
        </p:nvSpPr>
        <p:spPr>
          <a:xfrm>
            <a:off x="1021443" y="3308407"/>
            <a:ext cx="3238482"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9B949"/>
                </a:solidFill>
                <a:latin typeface="Arial" pitchFamily="34" charset="0"/>
                <a:ea typeface="Arial" pitchFamily="34" charset="-122"/>
                <a:cs typeface="Arial" pitchFamily="34" charset="-120"/>
              </a:rPr>
              <a:t>APET IN ONE LINE</a:t>
            </a:r>
            <a:endParaRPr lang="en-US" sz="1200" dirty="0"/>
          </a:p>
        </p:txBody>
      </p:sp>
      <p:sp>
        <p:nvSpPr>
          <p:cNvPr id="7" name="Text 5"/>
          <p:cNvSpPr/>
          <p:nvPr/>
        </p:nvSpPr>
        <p:spPr>
          <a:xfrm>
            <a:off x="1021443" y="3597956"/>
            <a:ext cx="3238482" cy="102098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4EA"/>
                </a:solidFill>
                <a:latin typeface="Arial" pitchFamily="34" charset="0"/>
                <a:ea typeface="Arial" pitchFamily="34" charset="-122"/>
                <a:cs typeface="Arial" pitchFamily="34" charset="-120"/>
              </a:rPr>
              <a:t>Without attention, keep visual tokens that are hard to reconstruct linearly; average the rest into their most similar kept token.</a:t>
            </a:r>
            <a:endParaRPr lang="en-US" sz="1400" dirty="0"/>
          </a:p>
        </p:txBody>
      </p:sp>
      <p:sp>
        <p:nvSpPr>
          <p:cNvPr id="8" name="Shape 6"/>
          <p:cNvSpPr/>
          <p:nvPr/>
        </p:nvSpPr>
        <p:spPr>
          <a:xfrm>
            <a:off x="4435475" y="3270307"/>
            <a:ext cx="0" cy="1361338"/>
          </a:xfrm>
          <a:prstGeom prst="line">
            <a:avLst/>
          </a:prstGeom>
          <a:noFill/>
          <a:ln w="31750">
            <a:solidFill>
              <a:srgbClr val="E9B949"/>
            </a:solidFill>
            <a:prstDash val="solid"/>
          </a:ln>
        </p:spPr>
      </p:sp>
      <p:sp>
        <p:nvSpPr>
          <p:cNvPr id="9" name="Text 7"/>
          <p:cNvSpPr/>
          <p:nvPr/>
        </p:nvSpPr>
        <p:spPr>
          <a:xfrm>
            <a:off x="4628243" y="3308407"/>
            <a:ext cx="3238482"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9B949"/>
                </a:solidFill>
                <a:latin typeface="Arial" pitchFamily="34" charset="0"/>
                <a:ea typeface="Arial" pitchFamily="34" charset="-122"/>
                <a:cs typeface="Arial" pitchFamily="34" charset="-120"/>
              </a:rPr>
              <a:t>SIMPLE, AND STRONG</a:t>
            </a:r>
            <a:endParaRPr lang="en-US" sz="1200" dirty="0"/>
          </a:p>
        </p:txBody>
      </p:sp>
      <p:sp>
        <p:nvSpPr>
          <p:cNvPr id="10" name="Text 8"/>
          <p:cNvSpPr/>
          <p:nvPr/>
        </p:nvSpPr>
        <p:spPr>
          <a:xfrm>
            <a:off x="4628243" y="3597956"/>
            <a:ext cx="3238482" cy="102098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4EA"/>
                </a:solidFill>
                <a:latin typeface="Arial" pitchFamily="34" charset="0"/>
                <a:ea typeface="Arial" pitchFamily="34" charset="-122"/>
                <a:cs typeface="Arial" pitchFamily="34" charset="-120"/>
              </a:rPr>
              <a:t>With 64 of 576 tokens, LLaVA-1.5 keeps 95.2% of its performance (VisionZip: 92.7%) and runs 1.46× faster.</a:t>
            </a:r>
            <a:endParaRPr lang="en-US" sz="1400" dirty="0"/>
          </a:p>
        </p:txBody>
      </p:sp>
      <p:sp>
        <p:nvSpPr>
          <p:cNvPr id="11" name="Shape 9"/>
          <p:cNvSpPr/>
          <p:nvPr/>
        </p:nvSpPr>
        <p:spPr>
          <a:xfrm>
            <a:off x="8042275" y="3270307"/>
            <a:ext cx="0" cy="1361338"/>
          </a:xfrm>
          <a:prstGeom prst="line">
            <a:avLst/>
          </a:prstGeom>
          <a:noFill/>
          <a:ln w="31750">
            <a:solidFill>
              <a:srgbClr val="E9B949"/>
            </a:solidFill>
            <a:prstDash val="solid"/>
          </a:ln>
        </p:spPr>
      </p:sp>
      <p:sp>
        <p:nvSpPr>
          <p:cNvPr id="12" name="Text 10"/>
          <p:cNvSpPr/>
          <p:nvPr/>
        </p:nvSpPr>
        <p:spPr>
          <a:xfrm>
            <a:off x="8235043" y="3308407"/>
            <a:ext cx="3238482"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9B949"/>
                </a:solidFill>
                <a:latin typeface="Arial" pitchFamily="34" charset="0"/>
                <a:ea typeface="Arial" pitchFamily="34" charset="-122"/>
                <a:cs typeface="Arial" pitchFamily="34" charset="-120"/>
              </a:rPr>
              <a:t>OUR QUESTION</a:t>
            </a:r>
            <a:endParaRPr lang="en-US" sz="1200" dirty="0"/>
          </a:p>
        </p:txBody>
      </p:sp>
      <p:sp>
        <p:nvSpPr>
          <p:cNvPr id="13" name="Text 11"/>
          <p:cNvSpPr/>
          <p:nvPr/>
        </p:nvSpPr>
        <p:spPr>
          <a:xfrm>
            <a:off x="8235043" y="3597956"/>
            <a:ext cx="3238482" cy="77209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4EA"/>
                </a:solidFill>
                <a:latin typeface="Arial" pitchFamily="34" charset="0"/>
                <a:ea typeface="Arial" pitchFamily="34" charset="-122"/>
                <a:cs typeface="Arial" pitchFamily="34" charset="-120"/>
              </a:rPr>
              <a:t>How can a linear, geometric criterion work inside a nonlinear VLM, and when does it fail?</a:t>
            </a:r>
            <a:endParaRPr lang="en-US" sz="1400" dirty="0"/>
          </a:p>
        </p:txBody>
      </p:sp>
      <p:sp>
        <p:nvSpPr>
          <p:cNvPr id="14" name="Text 12"/>
          <p:cNvSpPr/>
          <p:nvPr/>
        </p:nvSpPr>
        <p:spPr>
          <a:xfrm>
            <a:off x="812800" y="5580403"/>
            <a:ext cx="1088339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E3E1"/>
                </a:solidFill>
                <a:latin typeface="Arial" pitchFamily="34" charset="0"/>
                <a:ea typeface="Arial" pitchFamily="34" charset="-122"/>
                <a:cs typeface="Arial" pitchFamily="34" charset="-120"/>
              </a:rPr>
              <a:t>Peng Chen · SBU ID 117702477 · October 2026</a:t>
            </a:r>
            <a:endParaRPr lang="en-US" sz="1200" dirty="0"/>
          </a:p>
        </p:txBody>
      </p:sp>
      <p:sp>
        <p:nvSpPr>
          <p:cNvPr id="15" name="Text 13"/>
          <p:cNvSpPr/>
          <p:nvPr/>
        </p:nvSpPr>
        <p:spPr>
          <a:xfrm>
            <a:off x="812800" y="5831852"/>
            <a:ext cx="1137920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E3E1"/>
                </a:solidFill>
                <a:latin typeface="Arial" pitchFamily="34" charset="0"/>
                <a:ea typeface="Arial" pitchFamily="34" charset="-122"/>
                <a:cs typeface="Arial" pitchFamily="34" charset="-120"/>
              </a:rPr>
              <a:t>Paper: Q. Ma et al., “ApET: Approximation-Error Guided Token Compression for Efficient VLMs,” CVPR 2026. Middle-column numbers are from this paper.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3" cy="472423"/>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4C5C"/>
                </a:solidFill>
                <a:latin typeface="Georgia" pitchFamily="18" charset="0"/>
                <a:ea typeface="Georgia" pitchFamily="18" charset="-122"/>
                <a:cs typeface="Georgia" pitchFamily="18" charset="-120"/>
              </a:rPr>
              <a:t>Method and three research questions</a:t>
            </a:r>
            <a:endParaRPr lang="en-US" sz="3200" dirty="0"/>
          </a:p>
        </p:txBody>
      </p:sp>
      <p:sp>
        <p:nvSpPr>
          <p:cNvPr id="3" name="Shape 1"/>
          <p:cNvSpPr/>
          <p:nvPr/>
        </p:nvSpPr>
        <p:spPr>
          <a:xfrm>
            <a:off x="819150" y="1449416"/>
            <a:ext cx="1427219" cy="736572"/>
          </a:xfrm>
          <a:prstGeom prst="roundRect">
            <a:avLst>
              <a:gd name="adj" fmla="val 9483"/>
            </a:avLst>
          </a:prstGeom>
          <a:solidFill>
            <a:srgbClr val="FCFBF6"/>
          </a:solidFill>
          <a:ln w="12700">
            <a:solidFill>
              <a:srgbClr val="7FA9AC"/>
            </a:solidFill>
            <a:prstDash val="solid"/>
          </a:ln>
        </p:spPr>
      </p:sp>
      <p:sp>
        <p:nvSpPr>
          <p:cNvPr id="4" name="Text 2"/>
          <p:cNvSpPr/>
          <p:nvPr/>
        </p:nvSpPr>
        <p:spPr>
          <a:xfrm>
            <a:off x="1246434" y="1582766"/>
            <a:ext cx="572623" cy="256523"/>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C3540"/>
                </a:solidFill>
                <a:latin typeface="Arial" pitchFamily="34" charset="0"/>
                <a:ea typeface="Arial" pitchFamily="34" charset="-122"/>
                <a:cs typeface="Arial" pitchFamily="34" charset="-120"/>
              </a:rPr>
              <a:t>Image</a:t>
            </a:r>
            <a:endParaRPr lang="en-US" sz="1300" dirty="0"/>
          </a:p>
        </p:txBody>
      </p:sp>
      <p:sp>
        <p:nvSpPr>
          <p:cNvPr id="5" name="Text 3"/>
          <p:cNvSpPr/>
          <p:nvPr/>
        </p:nvSpPr>
        <p:spPr>
          <a:xfrm>
            <a:off x="1174214" y="1839289"/>
            <a:ext cx="717062" cy="23874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E66"/>
                </a:solidFill>
                <a:latin typeface="Arial" pitchFamily="34" charset="0"/>
                <a:ea typeface="Arial" pitchFamily="34" charset="-122"/>
                <a:cs typeface="Arial" pitchFamily="34" charset="-120"/>
              </a:rPr>
              <a:t>336×336</a:t>
            </a:r>
            <a:endParaRPr lang="en-US" sz="1200" dirty="0"/>
          </a:p>
        </p:txBody>
      </p:sp>
      <p:pic>
        <p:nvPicPr>
          <p:cNvPr id="6" name="Image 0" descr="arrow-right">    </p:cNvPr>
          <p:cNvPicPr>
            <a:picLocks noChangeAspect="1"/>
          </p:cNvPicPr>
          <p:nvPr/>
        </p:nvPicPr>
        <p:blipFill>
          <a:blip r:embed="rId1"/>
          <a:srcRect l="0" r="0" t="0" b="0"/>
          <a:stretch/>
        </p:blipFill>
        <p:spPr>
          <a:xfrm>
            <a:off x="2328919" y="1760538"/>
            <a:ext cx="228600" cy="114300"/>
          </a:xfrm>
          <a:prstGeom prst="rect">
            <a:avLst/>
          </a:prstGeom>
        </p:spPr>
      </p:pic>
      <p:sp>
        <p:nvSpPr>
          <p:cNvPr id="7" name="Shape 4"/>
          <p:cNvSpPr/>
          <p:nvPr/>
        </p:nvSpPr>
        <p:spPr>
          <a:xfrm>
            <a:off x="2640069" y="1449416"/>
            <a:ext cx="1427248" cy="736572"/>
          </a:xfrm>
          <a:prstGeom prst="roundRect">
            <a:avLst>
              <a:gd name="adj" fmla="val 9483"/>
            </a:avLst>
          </a:prstGeom>
          <a:solidFill>
            <a:srgbClr val="FCFBF6"/>
          </a:solidFill>
          <a:ln w="12700">
            <a:solidFill>
              <a:srgbClr val="7FA9AC"/>
            </a:solidFill>
            <a:prstDash val="solid"/>
          </a:ln>
        </p:spPr>
      </p:sp>
      <p:sp>
        <p:nvSpPr>
          <p:cNvPr id="8" name="Text 5"/>
          <p:cNvSpPr/>
          <p:nvPr/>
        </p:nvSpPr>
        <p:spPr>
          <a:xfrm>
            <a:off x="2716933" y="1582766"/>
            <a:ext cx="1273493" cy="256523"/>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C3540"/>
                </a:solidFill>
                <a:latin typeface="Arial" pitchFamily="34" charset="0"/>
                <a:ea typeface="Arial" pitchFamily="34" charset="-122"/>
                <a:cs typeface="Arial" pitchFamily="34" charset="-120"/>
              </a:rPr>
              <a:t>CLIP encoder</a:t>
            </a:r>
            <a:endParaRPr lang="en-US" sz="1300" dirty="0"/>
          </a:p>
        </p:txBody>
      </p:sp>
      <p:sp>
        <p:nvSpPr>
          <p:cNvPr id="9" name="Text 6"/>
          <p:cNvSpPr/>
          <p:nvPr/>
        </p:nvSpPr>
        <p:spPr>
          <a:xfrm>
            <a:off x="2906307" y="1839289"/>
            <a:ext cx="894772" cy="23874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E66"/>
                </a:solidFill>
                <a:latin typeface="Arial" pitchFamily="34" charset="0"/>
                <a:ea typeface="Arial" pitchFamily="34" charset="-122"/>
                <a:cs typeface="Arial" pitchFamily="34" charset="-120"/>
              </a:rPr>
              <a:t>576 tokens</a:t>
            </a:r>
            <a:endParaRPr lang="en-US" sz="1200" dirty="0"/>
          </a:p>
        </p:txBody>
      </p:sp>
      <p:pic>
        <p:nvPicPr>
          <p:cNvPr id="10" name="Image 1" descr="arrow-right">    </p:cNvPr>
          <p:cNvPicPr>
            <a:picLocks noChangeAspect="1"/>
          </p:cNvPicPr>
          <p:nvPr/>
        </p:nvPicPr>
        <p:blipFill>
          <a:blip r:embed="rId2"/>
          <a:srcRect l="0" r="0" t="0" b="0"/>
          <a:stretch/>
        </p:blipFill>
        <p:spPr>
          <a:xfrm>
            <a:off x="4149867" y="1760538"/>
            <a:ext cx="228600" cy="114300"/>
          </a:xfrm>
          <a:prstGeom prst="rect">
            <a:avLst/>
          </a:prstGeom>
        </p:spPr>
      </p:pic>
      <p:sp>
        <p:nvSpPr>
          <p:cNvPr id="11" name="Shape 7"/>
          <p:cNvSpPr/>
          <p:nvPr/>
        </p:nvSpPr>
        <p:spPr>
          <a:xfrm>
            <a:off x="4464192" y="1447148"/>
            <a:ext cx="1431755" cy="741107"/>
          </a:xfrm>
          <a:prstGeom prst="roundRect">
            <a:avLst>
              <a:gd name="adj" fmla="val 8997"/>
            </a:avLst>
          </a:prstGeom>
          <a:solidFill>
            <a:srgbClr val="F6E3A8"/>
          </a:solidFill>
          <a:ln w="19050">
            <a:solidFill>
              <a:srgbClr val="C99A1E"/>
            </a:solidFill>
            <a:prstDash val="solid"/>
          </a:ln>
        </p:spPr>
      </p:sp>
      <p:sp>
        <p:nvSpPr>
          <p:cNvPr id="12" name="Text 8"/>
          <p:cNvSpPr/>
          <p:nvPr/>
        </p:nvSpPr>
        <p:spPr>
          <a:xfrm>
            <a:off x="4552511" y="1582766"/>
            <a:ext cx="1255089" cy="256523"/>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5C4300"/>
                </a:solidFill>
                <a:latin typeface="Arial" pitchFamily="34" charset="0"/>
                <a:ea typeface="Arial" pitchFamily="34" charset="-122"/>
                <a:cs typeface="Arial" pitchFamily="34" charset="-120"/>
              </a:rPr>
              <a:t>ApET stage 1</a:t>
            </a:r>
            <a:endParaRPr lang="en-US" sz="1300" dirty="0"/>
          </a:p>
        </p:txBody>
      </p:sp>
      <p:sp>
        <p:nvSpPr>
          <p:cNvPr id="13" name="Text 9"/>
          <p:cNvSpPr/>
          <p:nvPr/>
        </p:nvSpPr>
        <p:spPr>
          <a:xfrm>
            <a:off x="4872993" y="1839289"/>
            <a:ext cx="614124" cy="23874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C4300"/>
                </a:solidFill>
                <a:latin typeface="Arial" pitchFamily="34" charset="0"/>
                <a:ea typeface="Arial" pitchFamily="34" charset="-122"/>
                <a:cs typeface="Arial" pitchFamily="34" charset="-120"/>
              </a:rPr>
              <a:t>keep K₁</a:t>
            </a:r>
            <a:endParaRPr lang="en-US" sz="1200" dirty="0"/>
          </a:p>
        </p:txBody>
      </p:sp>
      <p:pic>
        <p:nvPicPr>
          <p:cNvPr id="14" name="Image 2" descr="arrow-right">    </p:cNvPr>
          <p:cNvPicPr>
            <a:picLocks noChangeAspect="1"/>
          </p:cNvPicPr>
          <p:nvPr/>
        </p:nvPicPr>
        <p:blipFill>
          <a:blip r:embed="rId3"/>
          <a:srcRect l="0" r="0" t="0" b="0"/>
          <a:stretch/>
        </p:blipFill>
        <p:spPr>
          <a:xfrm>
            <a:off x="5981672" y="1760538"/>
            <a:ext cx="228600" cy="114300"/>
          </a:xfrm>
          <a:prstGeom prst="rect">
            <a:avLst/>
          </a:prstGeom>
        </p:spPr>
      </p:pic>
      <p:sp>
        <p:nvSpPr>
          <p:cNvPr id="15" name="Shape 10"/>
          <p:cNvSpPr/>
          <p:nvPr/>
        </p:nvSpPr>
        <p:spPr>
          <a:xfrm>
            <a:off x="6292822" y="1449416"/>
            <a:ext cx="1427248" cy="736572"/>
          </a:xfrm>
          <a:prstGeom prst="roundRect">
            <a:avLst>
              <a:gd name="adj" fmla="val 9483"/>
            </a:avLst>
          </a:prstGeom>
          <a:solidFill>
            <a:srgbClr val="FCFBF6"/>
          </a:solidFill>
          <a:ln w="12700">
            <a:solidFill>
              <a:srgbClr val="7FA9AC"/>
            </a:solidFill>
            <a:prstDash val="solid"/>
          </a:ln>
        </p:spPr>
      </p:sp>
      <p:sp>
        <p:nvSpPr>
          <p:cNvPr id="16" name="Text 11"/>
          <p:cNvSpPr/>
          <p:nvPr/>
        </p:nvSpPr>
        <p:spPr>
          <a:xfrm>
            <a:off x="6802900" y="1582766"/>
            <a:ext cx="407092" cy="256523"/>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C3540"/>
                </a:solidFill>
                <a:latin typeface="Arial" pitchFamily="34" charset="0"/>
                <a:ea typeface="Arial" pitchFamily="34" charset="-122"/>
                <a:cs typeface="Arial" pitchFamily="34" charset="-120"/>
              </a:rPr>
              <a:t>LLM</a:t>
            </a:r>
            <a:endParaRPr lang="en-US" sz="1300" dirty="0"/>
          </a:p>
        </p:txBody>
      </p:sp>
      <p:sp>
        <p:nvSpPr>
          <p:cNvPr id="17" name="Text 12"/>
          <p:cNvSpPr/>
          <p:nvPr/>
        </p:nvSpPr>
        <p:spPr>
          <a:xfrm>
            <a:off x="6518412" y="1839289"/>
            <a:ext cx="976040" cy="23874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E66"/>
                </a:solidFill>
                <a:latin typeface="Arial" pitchFamily="34" charset="0"/>
                <a:ea typeface="Arial" pitchFamily="34" charset="-122"/>
                <a:cs typeface="Arial" pitchFamily="34" charset="-120"/>
              </a:rPr>
              <a:t>blocks 1–16</a:t>
            </a:r>
            <a:endParaRPr lang="en-US" sz="1200" dirty="0"/>
          </a:p>
        </p:txBody>
      </p:sp>
      <p:pic>
        <p:nvPicPr>
          <p:cNvPr id="18" name="Image 3" descr="arrow-right">    </p:cNvPr>
          <p:cNvPicPr>
            <a:picLocks noChangeAspect="1"/>
          </p:cNvPicPr>
          <p:nvPr/>
        </p:nvPicPr>
        <p:blipFill>
          <a:blip r:embed="rId4"/>
          <a:srcRect l="0" r="0" t="0" b="0"/>
          <a:stretch/>
        </p:blipFill>
        <p:spPr>
          <a:xfrm>
            <a:off x="7802620" y="1760538"/>
            <a:ext cx="228600" cy="114300"/>
          </a:xfrm>
          <a:prstGeom prst="rect">
            <a:avLst/>
          </a:prstGeom>
        </p:spPr>
      </p:pic>
      <p:sp>
        <p:nvSpPr>
          <p:cNvPr id="19" name="Shape 13"/>
          <p:cNvSpPr/>
          <p:nvPr/>
        </p:nvSpPr>
        <p:spPr>
          <a:xfrm>
            <a:off x="8116945" y="1447148"/>
            <a:ext cx="1431783" cy="741107"/>
          </a:xfrm>
          <a:prstGeom prst="roundRect">
            <a:avLst>
              <a:gd name="adj" fmla="val 8997"/>
            </a:avLst>
          </a:prstGeom>
          <a:solidFill>
            <a:srgbClr val="F6E3A8"/>
          </a:solidFill>
          <a:ln w="19050">
            <a:solidFill>
              <a:srgbClr val="C99A1E"/>
            </a:solidFill>
            <a:prstDash val="solid"/>
          </a:ln>
        </p:spPr>
      </p:sp>
      <p:sp>
        <p:nvSpPr>
          <p:cNvPr id="20" name="Text 14"/>
          <p:cNvSpPr/>
          <p:nvPr/>
        </p:nvSpPr>
        <p:spPr>
          <a:xfrm>
            <a:off x="8205292" y="1582766"/>
            <a:ext cx="1255089" cy="256523"/>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5C4300"/>
                </a:solidFill>
                <a:latin typeface="Arial" pitchFamily="34" charset="0"/>
                <a:ea typeface="Arial" pitchFamily="34" charset="-122"/>
                <a:cs typeface="Arial" pitchFamily="34" charset="-120"/>
              </a:rPr>
              <a:t>ApET stage 2</a:t>
            </a:r>
            <a:endParaRPr lang="en-US" sz="1300" dirty="0"/>
          </a:p>
        </p:txBody>
      </p:sp>
      <p:sp>
        <p:nvSpPr>
          <p:cNvPr id="21" name="Text 15"/>
          <p:cNvSpPr/>
          <p:nvPr/>
        </p:nvSpPr>
        <p:spPr>
          <a:xfrm>
            <a:off x="8519583" y="1839289"/>
            <a:ext cx="626507" cy="23874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C4300"/>
                </a:solidFill>
                <a:latin typeface="Arial" pitchFamily="34" charset="0"/>
                <a:ea typeface="Arial" pitchFamily="34" charset="-122"/>
                <a:cs typeface="Arial" pitchFamily="34" charset="-120"/>
              </a:rPr>
              <a:t>keep K₂</a:t>
            </a:r>
            <a:endParaRPr lang="en-US" sz="1200" dirty="0"/>
          </a:p>
        </p:txBody>
      </p:sp>
      <p:pic>
        <p:nvPicPr>
          <p:cNvPr id="22" name="Image 4" descr="arrow-right">    </p:cNvPr>
          <p:cNvPicPr>
            <a:picLocks noChangeAspect="1"/>
          </p:cNvPicPr>
          <p:nvPr/>
        </p:nvPicPr>
        <p:blipFill>
          <a:blip r:embed="rId5"/>
          <a:srcRect l="0" r="0" t="0" b="0"/>
          <a:stretch/>
        </p:blipFill>
        <p:spPr>
          <a:xfrm>
            <a:off x="9634453" y="1760538"/>
            <a:ext cx="228600" cy="114300"/>
          </a:xfrm>
          <a:prstGeom prst="rect">
            <a:avLst/>
          </a:prstGeom>
        </p:spPr>
      </p:pic>
      <p:sp>
        <p:nvSpPr>
          <p:cNvPr id="23" name="Shape 16"/>
          <p:cNvSpPr/>
          <p:nvPr/>
        </p:nvSpPr>
        <p:spPr>
          <a:xfrm>
            <a:off x="9945603" y="1449416"/>
            <a:ext cx="1427248" cy="736572"/>
          </a:xfrm>
          <a:prstGeom prst="roundRect">
            <a:avLst>
              <a:gd name="adj" fmla="val 9483"/>
            </a:avLst>
          </a:prstGeom>
          <a:solidFill>
            <a:srgbClr val="FCFBF6"/>
          </a:solidFill>
          <a:ln w="12700">
            <a:solidFill>
              <a:srgbClr val="7FA9AC"/>
            </a:solidFill>
            <a:prstDash val="solid"/>
          </a:ln>
        </p:spPr>
      </p:sp>
      <p:sp>
        <p:nvSpPr>
          <p:cNvPr id="24" name="Text 17"/>
          <p:cNvSpPr/>
          <p:nvPr/>
        </p:nvSpPr>
        <p:spPr>
          <a:xfrm>
            <a:off x="10455681" y="1582766"/>
            <a:ext cx="407092" cy="256523"/>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C3540"/>
                </a:solidFill>
                <a:latin typeface="Arial" pitchFamily="34" charset="0"/>
                <a:ea typeface="Arial" pitchFamily="34" charset="-122"/>
                <a:cs typeface="Arial" pitchFamily="34" charset="-120"/>
              </a:rPr>
              <a:t>LLM</a:t>
            </a:r>
            <a:endParaRPr lang="en-US" sz="1300" dirty="0"/>
          </a:p>
        </p:txBody>
      </p:sp>
      <p:sp>
        <p:nvSpPr>
          <p:cNvPr id="25" name="Text 18"/>
          <p:cNvSpPr/>
          <p:nvPr/>
        </p:nvSpPr>
        <p:spPr>
          <a:xfrm>
            <a:off x="10120335" y="1839289"/>
            <a:ext cx="1077754" cy="23874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E66"/>
                </a:solidFill>
                <a:latin typeface="Arial" pitchFamily="34" charset="0"/>
                <a:ea typeface="Arial" pitchFamily="34" charset="-122"/>
                <a:cs typeface="Arial" pitchFamily="34" charset="-120"/>
              </a:rPr>
              <a:t>blocks 17–32</a:t>
            </a:r>
            <a:endParaRPr lang="en-US" sz="1200" dirty="0"/>
          </a:p>
        </p:txBody>
      </p:sp>
      <p:sp>
        <p:nvSpPr>
          <p:cNvPr id="26" name="Text 19"/>
          <p:cNvSpPr/>
          <p:nvPr/>
        </p:nvSpPr>
        <p:spPr>
          <a:xfrm>
            <a:off x="812800" y="2375581"/>
            <a:ext cx="10883393" cy="231123"/>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F4C5C"/>
                </a:solidFill>
                <a:latin typeface="Arial" pitchFamily="34" charset="0"/>
                <a:ea typeface="Arial" pitchFamily="34" charset="-122"/>
                <a:cs typeface="Arial" pitchFamily="34" charset="-120"/>
              </a:rPr>
              <a:t>Setup:</a:t>
            </a:r>
            <a:r>
              <a:rPr lang="en-US" sz="1200" dirty="0">
                <a:solidFill>
                  <a:srgbClr val="4A5E66"/>
                </a:solidFill>
                <a:latin typeface="Arial" pitchFamily="34" charset="0"/>
                <a:ea typeface="Arial" pitchFamily="34" charset="-122"/>
                <a:cs typeface="Arial" pitchFamily="34" charset="-120"/>
              </a:rPr>
              <a:t> LLaVA-1.5-7B · native ApET code · Kaggle 2×T4, locked environment · GQA 800, MMStar 1,500, TextVQA 100 · avg. 64 or 192 tokens</a:t>
            </a:r>
            <a:endParaRPr lang="en-US" sz="1200" dirty="0"/>
          </a:p>
        </p:txBody>
      </p:sp>
      <p:sp>
        <p:nvSpPr>
          <p:cNvPr id="27" name="Shape 20"/>
          <p:cNvSpPr/>
          <p:nvPr/>
        </p:nvSpPr>
        <p:spPr>
          <a:xfrm>
            <a:off x="812800" y="2759104"/>
            <a:ext cx="3420524" cy="1981767"/>
          </a:xfrm>
          <a:prstGeom prst="roundRect">
            <a:avLst>
              <a:gd name="adj" fmla="val 3845"/>
            </a:avLst>
          </a:prstGeom>
          <a:solidFill>
            <a:srgbClr val="FCFBF6"/>
          </a:solidFill>
          <a:ln/>
        </p:spPr>
      </p:sp>
      <p:sp>
        <p:nvSpPr>
          <p:cNvPr id="28" name="Shape 21"/>
          <p:cNvSpPr/>
          <p:nvPr/>
        </p:nvSpPr>
        <p:spPr>
          <a:xfrm>
            <a:off x="812800" y="2759104"/>
            <a:ext cx="3420524" cy="1981767"/>
          </a:xfrm>
          <a:custGeom>
            <a:avLst/>
            <a:gdLst/>
            <a:ahLst/>
            <a:cxnLst/>
            <a:rect l="l" t="t" r="r" b="b"/>
            <a:pathLst>
              <a:path w="3420524" h="1981767">
                <a:moveTo>
                  <a:pt x="0" y="76200"/>
                </a:moveTo>
                <a:lnTo>
                  <a:pt x="0" y="76200"/>
                </a:lnTo>
                <a:arcTo hR="76200" wR="76200" stAng="10800000" swAng="5400000"/>
                <a:lnTo>
                  <a:pt x="3344324" y="0"/>
                </a:lnTo>
                <a:arcTo hR="76200" wR="76200" stAng="16200000" swAng="5400000"/>
                <a:lnTo>
                  <a:pt x="3420524" y="76200"/>
                </a:lnTo>
                <a:arcTo hR="38100" wR="76200" stAng="0" swAng="-5400000"/>
                <a:lnTo>
                  <a:pt x="76200" y="38100"/>
                </a:lnTo>
                <a:arcTo hR="38100" wR="76200" stAng="16200000" swAng="-5400000"/>
                <a:close/>
              </a:path>
            </a:pathLst>
          </a:custGeom>
          <a:solidFill>
            <a:srgbClr val="0F6B6E"/>
          </a:solidFill>
          <a:ln/>
        </p:spPr>
      </p:sp>
      <p:sp>
        <p:nvSpPr>
          <p:cNvPr id="29" name="Text 22"/>
          <p:cNvSpPr/>
          <p:nvPr/>
        </p:nvSpPr>
        <p:spPr>
          <a:xfrm>
            <a:off x="1016000" y="2975004"/>
            <a:ext cx="3104548"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4C5C"/>
                </a:solidFill>
                <a:latin typeface="Arial" pitchFamily="34" charset="0"/>
                <a:ea typeface="Arial" pitchFamily="34" charset="-122"/>
                <a:cs typeface="Arial" pitchFamily="34" charset="-120"/>
              </a:rPr>
              <a:t>RQ1 · Does E track answer relevance?</a:t>
            </a:r>
            <a:endParaRPr lang="en-US" sz="1500" dirty="0"/>
          </a:p>
        </p:txBody>
      </p:sp>
      <p:sp>
        <p:nvSpPr>
          <p:cNvPr id="30" name="Text 23"/>
          <p:cNvSpPr/>
          <p:nvPr/>
        </p:nvSpPr>
        <p:spPr>
          <a:xfrm>
            <a:off x="1016000" y="3495704"/>
            <a:ext cx="3104548" cy="91689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C3540"/>
                </a:solidFill>
                <a:latin typeface="Arial" pitchFamily="34" charset="0"/>
                <a:ea typeface="Arial" pitchFamily="34" charset="-122"/>
                <a:cs typeface="Arial" pitchFamily="34" charset="-120"/>
              </a:rPr>
              <a:t>30-question diagnostic set. Information Horizon (IH) test: keep only one token, measure its effect on the answer, correlate with E.</a:t>
            </a:r>
            <a:endParaRPr lang="en-US" sz="1300" dirty="0"/>
          </a:p>
        </p:txBody>
      </p:sp>
      <p:sp>
        <p:nvSpPr>
          <p:cNvPr id="31" name="Shape 24"/>
          <p:cNvSpPr/>
          <p:nvPr/>
        </p:nvSpPr>
        <p:spPr>
          <a:xfrm>
            <a:off x="4385724" y="2759104"/>
            <a:ext cx="3420552" cy="1981767"/>
          </a:xfrm>
          <a:prstGeom prst="roundRect">
            <a:avLst>
              <a:gd name="adj" fmla="val 3845"/>
            </a:avLst>
          </a:prstGeom>
          <a:solidFill>
            <a:srgbClr val="FCFBF6"/>
          </a:solidFill>
          <a:ln/>
        </p:spPr>
      </p:sp>
      <p:sp>
        <p:nvSpPr>
          <p:cNvPr id="32" name="Shape 25"/>
          <p:cNvSpPr/>
          <p:nvPr/>
        </p:nvSpPr>
        <p:spPr>
          <a:xfrm>
            <a:off x="4385724" y="2759104"/>
            <a:ext cx="3420552" cy="1981767"/>
          </a:xfrm>
          <a:custGeom>
            <a:avLst/>
            <a:gdLst/>
            <a:ahLst/>
            <a:cxnLst/>
            <a:rect l="l" t="t" r="r" b="b"/>
            <a:pathLst>
              <a:path w="3420552" h="1981767">
                <a:moveTo>
                  <a:pt x="0" y="76200"/>
                </a:moveTo>
                <a:lnTo>
                  <a:pt x="0" y="76200"/>
                </a:lnTo>
                <a:arcTo hR="76200" wR="76200" stAng="10800000" swAng="5400000"/>
                <a:lnTo>
                  <a:pt x="3344352" y="0"/>
                </a:lnTo>
                <a:arcTo hR="76200" wR="76200" stAng="16200000" swAng="5400000"/>
                <a:lnTo>
                  <a:pt x="3420552" y="76200"/>
                </a:lnTo>
                <a:arcTo hR="38100" wR="76200" stAng="0" swAng="-5400000"/>
                <a:lnTo>
                  <a:pt x="76200" y="38100"/>
                </a:lnTo>
                <a:arcTo hR="38100" wR="76200" stAng="16200000" swAng="-5400000"/>
                <a:close/>
              </a:path>
            </a:pathLst>
          </a:custGeom>
          <a:solidFill>
            <a:srgbClr val="0F6B6E"/>
          </a:solidFill>
          <a:ln/>
        </p:spPr>
      </p:sp>
      <p:sp>
        <p:nvSpPr>
          <p:cNvPr id="33" name="Text 26"/>
          <p:cNvSpPr/>
          <p:nvPr/>
        </p:nvSpPr>
        <p:spPr>
          <a:xfrm>
            <a:off x="4588924" y="2975004"/>
            <a:ext cx="310457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4C5C"/>
                </a:solidFill>
                <a:latin typeface="Arial" pitchFamily="34" charset="0"/>
                <a:ea typeface="Arial" pitchFamily="34" charset="-122"/>
                <a:cs typeface="Arial" pitchFamily="34" charset="-120"/>
              </a:rPr>
              <a:t>RQ2 · Selection or merging?</a:t>
            </a:r>
            <a:endParaRPr lang="en-US" sz="1500" dirty="0"/>
          </a:p>
        </p:txBody>
      </p:sp>
      <p:sp>
        <p:nvSpPr>
          <p:cNvPr id="34" name="Text 27"/>
          <p:cNvSpPr/>
          <p:nvPr/>
        </p:nvSpPr>
        <p:spPr>
          <a:xfrm>
            <a:off x="4588924" y="3267104"/>
            <a:ext cx="3104577" cy="69402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C3540"/>
                </a:solidFill>
                <a:latin typeface="Arial" pitchFamily="34" charset="0"/>
                <a:ea typeface="Arial" pitchFamily="34" charset="-122"/>
                <a:cs typeface="Arial" pitchFamily="34" charset="-120"/>
              </a:rPr>
              <a:t>Planned at matched budgets: E vs. random selection; merge vs. drop vs. random or protected merge targets.</a:t>
            </a:r>
            <a:endParaRPr lang="en-US" sz="1300" dirty="0"/>
          </a:p>
        </p:txBody>
      </p:sp>
      <p:sp>
        <p:nvSpPr>
          <p:cNvPr id="35" name="Text 28"/>
          <p:cNvSpPr/>
          <p:nvPr/>
        </p:nvSpPr>
        <p:spPr>
          <a:xfrm>
            <a:off x="4588924" y="3999225"/>
            <a:ext cx="3014152" cy="563846"/>
          </a:xfrm>
          <a:prstGeom prst="roundRect">
            <a:avLst>
              <a:gd name="adj" fmla="val 9010"/>
            </a:avLst>
          </a:prstGeom>
          <a:solidFill>
            <a:srgbClr val="F6E3A8"/>
          </a:solidFill>
          <a:ln/>
        </p:spPr>
        <p:txBody>
          <a:bodyPr wrap="square" lIns="86721" tIns="61321" rIns="2393" bIns="35921" rtlCol="0" anchor="t">
            <a:normAutofit/>
          </a:bodyPr>
          <a:lstStyle/>
          <a:p>
            <a:pPr algn="l" indent="0" marL="0">
              <a:lnSpc>
                <a:spcPts val="1620"/>
              </a:lnSpc>
              <a:buNone/>
            </a:pPr>
            <a:r>
              <a:rPr lang="en-US" sz="1200" dirty="0">
                <a:solidFill>
                  <a:srgbClr val="5C4300"/>
                </a:solidFill>
                <a:latin typeface="Arial" pitchFamily="34" charset="0"/>
                <a:ea typeface="Arial" pitchFamily="34" charset="-122"/>
                <a:cs typeface="Arial" pitchFamily="34" charset="-120"/>
              </a:rPr>
              <a:t>Pilot: random sometimes beat ApET, so we first ran ApET vs. random at scale.</a:t>
            </a:r>
            <a:endParaRPr lang="en-US" sz="1200" dirty="0"/>
          </a:p>
        </p:txBody>
      </p:sp>
      <p:sp>
        <p:nvSpPr>
          <p:cNvPr id="36" name="Shape 29"/>
          <p:cNvSpPr/>
          <p:nvPr/>
        </p:nvSpPr>
        <p:spPr>
          <a:xfrm>
            <a:off x="7958676" y="2759104"/>
            <a:ext cx="3420524" cy="1981767"/>
          </a:xfrm>
          <a:prstGeom prst="roundRect">
            <a:avLst>
              <a:gd name="adj" fmla="val 3845"/>
            </a:avLst>
          </a:prstGeom>
          <a:solidFill>
            <a:srgbClr val="FCFBF6"/>
          </a:solidFill>
          <a:ln/>
        </p:spPr>
      </p:sp>
      <p:sp>
        <p:nvSpPr>
          <p:cNvPr id="37" name="Shape 30"/>
          <p:cNvSpPr/>
          <p:nvPr/>
        </p:nvSpPr>
        <p:spPr>
          <a:xfrm>
            <a:off x="7958676" y="2759104"/>
            <a:ext cx="3420524" cy="1981767"/>
          </a:xfrm>
          <a:custGeom>
            <a:avLst/>
            <a:gdLst/>
            <a:ahLst/>
            <a:cxnLst/>
            <a:rect l="l" t="t" r="r" b="b"/>
            <a:pathLst>
              <a:path w="3420524" h="1981767">
                <a:moveTo>
                  <a:pt x="0" y="76200"/>
                </a:moveTo>
                <a:lnTo>
                  <a:pt x="0" y="76200"/>
                </a:lnTo>
                <a:arcTo hR="76200" wR="76200" stAng="10800000" swAng="5400000"/>
                <a:lnTo>
                  <a:pt x="3344324" y="0"/>
                </a:lnTo>
                <a:arcTo hR="76200" wR="76200" stAng="16200000" swAng="5400000"/>
                <a:lnTo>
                  <a:pt x="3420524" y="76200"/>
                </a:lnTo>
                <a:arcTo hR="38100" wR="76200" stAng="0" swAng="-5400000"/>
                <a:lnTo>
                  <a:pt x="76200" y="38100"/>
                </a:lnTo>
                <a:arcTo hR="38100" wR="76200" stAng="16200000" swAng="-5400000"/>
                <a:close/>
              </a:path>
            </a:pathLst>
          </a:custGeom>
          <a:solidFill>
            <a:srgbClr val="0F6B6E"/>
          </a:solidFill>
          <a:ln/>
        </p:spPr>
      </p:sp>
      <p:sp>
        <p:nvSpPr>
          <p:cNvPr id="38" name="Text 31"/>
          <p:cNvSpPr/>
          <p:nvPr/>
        </p:nvSpPr>
        <p:spPr>
          <a:xfrm>
            <a:off x="8161876" y="2975004"/>
            <a:ext cx="3104548"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4C5C"/>
                </a:solidFill>
                <a:latin typeface="Arial" pitchFamily="34" charset="0"/>
                <a:ea typeface="Arial" pitchFamily="34" charset="-122"/>
                <a:cs typeface="Arial" pitchFamily="34" charset="-120"/>
              </a:rPr>
              <a:t>RQ3 · A lightweight improvement?</a:t>
            </a:r>
            <a:endParaRPr lang="en-US" sz="1500" dirty="0"/>
          </a:p>
        </p:txBody>
      </p:sp>
      <p:sp>
        <p:nvSpPr>
          <p:cNvPr id="39" name="Text 32"/>
          <p:cNvSpPr/>
          <p:nvPr/>
        </p:nvSpPr>
        <p:spPr>
          <a:xfrm>
            <a:off x="8161876" y="3495704"/>
            <a:ext cx="3104548" cy="47114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C3540"/>
                </a:solidFill>
                <a:latin typeface="Arial" pitchFamily="34" charset="0"/>
                <a:ea typeface="Arial" pitchFamily="34" charset="-122"/>
                <a:cs typeface="Arial" pitchFamily="34" charset="-120"/>
              </a:rPr>
              <a:t>Only if the analysis supports it, e.g., an adaptive token budget. Exploratory.</a:t>
            </a:r>
            <a:endParaRPr lang="en-US" sz="1300" dirty="0"/>
          </a:p>
        </p:txBody>
      </p:sp>
      <p:sp>
        <p:nvSpPr>
          <p:cNvPr id="40" name="Text 33"/>
          <p:cNvSpPr/>
          <p:nvPr/>
        </p:nvSpPr>
        <p:spPr>
          <a:xfrm>
            <a:off x="812800" y="6238252"/>
            <a:ext cx="1088339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D84"/>
                </a:solidFill>
                <a:latin typeface="Arial" pitchFamily="34" charset="0"/>
                <a:ea typeface="Arial" pitchFamily="34" charset="-122"/>
                <a:cs typeface="Arial" pitchFamily="34" charset="-120"/>
              </a:rPr>
              <a:t>E = reconstruction error from 10 basis tokens; merging averages each dropped token into its most similar kept token. · 2 / 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3" cy="416549"/>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F4C5C"/>
                </a:solidFill>
                <a:latin typeface="Georgia" pitchFamily="18" charset="0"/>
                <a:ea typeface="Georgia" pitchFamily="18" charset="-122"/>
                <a:cs typeface="Georgia" pitchFamily="18" charset="-120"/>
              </a:rPr>
              <a:t>ApET works on average, but not answer by answer</a:t>
            </a:r>
            <a:endParaRPr lang="en-US" sz="2800" dirty="0"/>
          </a:p>
        </p:txBody>
      </p:sp>
      <p:sp>
        <p:nvSpPr>
          <p:cNvPr id="3" name="Text 1"/>
          <p:cNvSpPr/>
          <p:nvPr/>
        </p:nvSpPr>
        <p:spPr>
          <a:xfrm>
            <a:off x="812800" y="1407150"/>
            <a:ext cx="3488247" cy="51304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4C5C"/>
                </a:solidFill>
                <a:latin typeface="Arial" pitchFamily="34" charset="0"/>
                <a:ea typeface="Arial" pitchFamily="34" charset="-122"/>
                <a:cs typeface="Arial" pitchFamily="34" charset="-120"/>
              </a:rPr>
              <a:t>① E does not predict which tokens matter</a:t>
            </a:r>
            <a:endParaRPr lang="en-US" sz="1600" dirty="0"/>
          </a:p>
        </p:txBody>
      </p:sp>
      <p:sp>
        <p:nvSpPr>
          <p:cNvPr id="4" name="Text 2"/>
          <p:cNvSpPr/>
          <p:nvPr/>
        </p:nvSpPr>
        <p:spPr>
          <a:xfrm>
            <a:off x="812800" y="1970996"/>
            <a:ext cx="3488247" cy="64256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E66"/>
                </a:solidFill>
                <a:latin typeface="Arial" pitchFamily="34" charset="0"/>
                <a:ea typeface="Arial" pitchFamily="34" charset="-122"/>
                <a:cs typeface="Arial" pitchFamily="34" charset="-120"/>
              </a:rPr>
              <a:t>IH test: keep only one of 576 visual tokens and measure how much it raises the answer’s probability. 30 questions, 17,280 token tests.</a:t>
            </a:r>
            <a:endParaRPr lang="en-US" sz="1200" dirty="0"/>
          </a:p>
        </p:txBody>
      </p:sp>
      <p:pic>
        <p:nvPicPr>
          <p:cNvPr id="5" name="Image 0" descr="Dot plot of per-question Spearman correlations between reconstruction error E and IH answer effect for TextVQA, GQA and MMStar; medians are slightly below zero">    </p:cNvPr>
          <p:cNvPicPr>
            <a:picLocks noChangeAspect="1"/>
          </p:cNvPicPr>
          <p:nvPr/>
        </p:nvPicPr>
        <p:blipFill>
          <a:blip r:embed="rId1"/>
          <a:srcRect l="0" r="0" t="-22" b="-22"/>
          <a:stretch/>
        </p:blipFill>
        <p:spPr>
          <a:xfrm>
            <a:off x="812800" y="2664365"/>
            <a:ext cx="3149600" cy="2159000"/>
          </a:xfrm>
          <a:prstGeom prst="roundRect">
            <a:avLst>
              <a:gd name="adj" fmla="val 2353"/>
            </a:avLst>
          </a:prstGeom>
        </p:spPr>
      </p:pic>
      <p:sp>
        <p:nvSpPr>
          <p:cNvPr id="6" name="Text 3"/>
          <p:cNvSpPr/>
          <p:nvPr/>
        </p:nvSpPr>
        <p:spPr>
          <a:xfrm>
            <a:off x="812800" y="4899565"/>
            <a:ext cx="3488247" cy="43684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C3540"/>
                </a:solidFill>
                <a:latin typeface="Arial" pitchFamily="34" charset="0"/>
                <a:ea typeface="Arial" pitchFamily="34" charset="-122"/>
                <a:cs typeface="Arial" pitchFamily="34" charset="-120"/>
              </a:rPr>
              <a:t>Medians −0.07 to −0.14; only 11 of 30 questions positive.</a:t>
            </a:r>
            <a:endParaRPr lang="en-US" sz="1200" dirty="0"/>
          </a:p>
        </p:txBody>
      </p:sp>
      <p:sp>
        <p:nvSpPr>
          <p:cNvPr id="7" name="Text 4"/>
          <p:cNvSpPr/>
          <p:nvPr/>
        </p:nvSpPr>
        <p:spPr>
          <a:xfrm>
            <a:off x="4402648" y="1407150"/>
            <a:ext cx="3488277" cy="51304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4C5C"/>
                </a:solidFill>
                <a:latin typeface="Arial" pitchFamily="34" charset="0"/>
                <a:ea typeface="Arial" pitchFamily="34" charset="-122"/>
                <a:cs typeface="Arial" pitchFamily="34" charset="-120"/>
              </a:rPr>
              <a:t>② Yet ApET beats random pruning, task-dependently</a:t>
            </a:r>
            <a:endParaRPr lang="en-US" sz="1600" dirty="0"/>
          </a:p>
        </p:txBody>
      </p:sp>
      <p:sp>
        <p:nvSpPr>
          <p:cNvPr id="8" name="Text 5"/>
          <p:cNvSpPr/>
          <p:nvPr/>
        </p:nvSpPr>
        <p:spPr>
          <a:xfrm>
            <a:off x="4402648" y="1970996"/>
            <a:ext cx="3488277" cy="43684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E66"/>
                </a:solidFill>
                <a:latin typeface="Arial" pitchFamily="34" charset="0"/>
                <a:ea typeface="Arial" pitchFamily="34" charset="-122"/>
                <a:cs typeface="Arial" pitchFamily="34" charset="-120"/>
              </a:rPr>
              <a:t>Accuracy (%) at the same budget (avg. 64 tokens); random = mean of 3 seeds.</a:t>
            </a:r>
            <a:endParaRPr lang="en-US" sz="1200" dirty="0"/>
          </a:p>
        </p:txBody>
      </p:sp>
      <p:sp>
        <p:nvSpPr>
          <p:cNvPr id="9" name="Shape 6"/>
          <p:cNvSpPr/>
          <p:nvPr/>
        </p:nvSpPr>
        <p:spPr>
          <a:xfrm>
            <a:off x="4402648" y="2489116"/>
            <a:ext cx="152400" cy="152400"/>
          </a:xfrm>
          <a:prstGeom prst="roundRect">
            <a:avLst>
              <a:gd name="adj" fmla="val 16667"/>
            </a:avLst>
          </a:prstGeom>
          <a:solidFill>
            <a:srgbClr val="C9DADB"/>
          </a:solidFill>
          <a:ln/>
        </p:spPr>
      </p:sp>
      <p:sp>
        <p:nvSpPr>
          <p:cNvPr id="10" name="Text 7"/>
          <p:cNvSpPr/>
          <p:nvPr/>
        </p:nvSpPr>
        <p:spPr>
          <a:xfrm>
            <a:off x="4605848" y="2458641"/>
            <a:ext cx="115193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3540"/>
                </a:solidFill>
                <a:latin typeface="Arial" pitchFamily="34" charset="0"/>
                <a:ea typeface="Arial" pitchFamily="34" charset="-122"/>
                <a:cs typeface="Arial" pitchFamily="34" charset="-120"/>
              </a:rPr>
              <a:t>Uncompressed</a:t>
            </a:r>
            <a:endParaRPr lang="en-US" sz="1200" dirty="0"/>
          </a:p>
        </p:txBody>
      </p:sp>
      <p:sp>
        <p:nvSpPr>
          <p:cNvPr id="11" name="Shape 8"/>
          <p:cNvSpPr/>
          <p:nvPr/>
        </p:nvSpPr>
        <p:spPr>
          <a:xfrm>
            <a:off x="5757778" y="2489116"/>
            <a:ext cx="152400" cy="152400"/>
          </a:xfrm>
          <a:prstGeom prst="roundRect">
            <a:avLst>
              <a:gd name="adj" fmla="val 16667"/>
            </a:avLst>
          </a:prstGeom>
          <a:solidFill>
            <a:srgbClr val="D9A62B"/>
          </a:solidFill>
          <a:ln/>
        </p:spPr>
      </p:sp>
      <p:sp>
        <p:nvSpPr>
          <p:cNvPr id="12" name="Text 9"/>
          <p:cNvSpPr/>
          <p:nvPr/>
        </p:nvSpPr>
        <p:spPr>
          <a:xfrm>
            <a:off x="5960978" y="2458641"/>
            <a:ext cx="457404"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3540"/>
                </a:solidFill>
                <a:latin typeface="Arial" pitchFamily="34" charset="0"/>
                <a:ea typeface="Arial" pitchFamily="34" charset="-122"/>
                <a:cs typeface="Arial" pitchFamily="34" charset="-120"/>
              </a:rPr>
              <a:t>ApET</a:t>
            </a:r>
            <a:endParaRPr lang="en-US" sz="1200" dirty="0"/>
          </a:p>
        </p:txBody>
      </p:sp>
      <p:sp>
        <p:nvSpPr>
          <p:cNvPr id="13" name="Shape 10"/>
          <p:cNvSpPr/>
          <p:nvPr/>
        </p:nvSpPr>
        <p:spPr>
          <a:xfrm>
            <a:off x="6469148" y="2489116"/>
            <a:ext cx="152400" cy="152400"/>
          </a:xfrm>
          <a:prstGeom prst="roundRect">
            <a:avLst>
              <a:gd name="adj" fmla="val 16667"/>
            </a:avLst>
          </a:prstGeom>
          <a:solidFill>
            <a:srgbClr val="0F6B6E"/>
          </a:solidFill>
          <a:ln/>
        </p:spPr>
      </p:sp>
      <p:sp>
        <p:nvSpPr>
          <p:cNvPr id="14" name="Text 11"/>
          <p:cNvSpPr/>
          <p:nvPr/>
        </p:nvSpPr>
        <p:spPr>
          <a:xfrm>
            <a:off x="6672348" y="2458641"/>
            <a:ext cx="691277"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3540"/>
                </a:solidFill>
                <a:latin typeface="Arial" pitchFamily="34" charset="0"/>
                <a:ea typeface="Arial" pitchFamily="34" charset="-122"/>
                <a:cs typeface="Arial" pitchFamily="34" charset="-120"/>
              </a:rPr>
              <a:t>Random</a:t>
            </a:r>
            <a:endParaRPr lang="en-US" sz="1200" dirty="0"/>
          </a:p>
        </p:txBody>
      </p:sp>
      <p:sp>
        <p:nvSpPr>
          <p:cNvPr id="15" name="Shape 12"/>
          <p:cNvSpPr/>
          <p:nvPr/>
        </p:nvSpPr>
        <p:spPr>
          <a:xfrm>
            <a:off x="4402648" y="2748190"/>
            <a:ext cx="3386676" cy="1188669"/>
          </a:xfrm>
          <a:prstGeom prst="roundRect">
            <a:avLst>
              <a:gd name="adj" fmla="val 5342"/>
            </a:avLst>
          </a:prstGeom>
          <a:solidFill>
            <a:srgbClr val="FCFBF6"/>
          </a:solidFill>
          <a:ln/>
        </p:spPr>
      </p:sp>
      <p:sp>
        <p:nvSpPr>
          <p:cNvPr id="16" name="Text 13"/>
          <p:cNvSpPr/>
          <p:nvPr/>
        </p:nvSpPr>
        <p:spPr>
          <a:xfrm>
            <a:off x="4529648" y="2849790"/>
            <a:ext cx="3226657" cy="2565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3540"/>
                </a:solidFill>
                <a:latin typeface="Arial" pitchFamily="34" charset="0"/>
                <a:ea typeface="Arial" pitchFamily="34" charset="-122"/>
                <a:cs typeface="Arial" pitchFamily="34" charset="-120"/>
              </a:rPr>
              <a:t>TextVQA, 100 Q </a:t>
            </a:r>
            <a:r>
              <a:rPr lang="en-US" sz="1300" b="1" dirty="0">
                <a:solidFill>
                  <a:srgbClr val="8A6400"/>
                </a:solidFill>
                <a:latin typeface="Arial" pitchFamily="34" charset="0"/>
                <a:ea typeface="Arial" pitchFamily="34" charset="-122"/>
                <a:cs typeface="Arial" pitchFamily="34" charset="-120"/>
              </a:rPr>
              <a:t>· ApET +20.9 pts</a:t>
            </a:r>
            <a:endParaRPr lang="en-US" sz="1300" dirty="0"/>
          </a:p>
        </p:txBody>
      </p:sp>
      <p:sp>
        <p:nvSpPr>
          <p:cNvPr id="17" name="Shape 14"/>
          <p:cNvSpPr/>
          <p:nvPr/>
        </p:nvSpPr>
        <p:spPr>
          <a:xfrm>
            <a:off x="4529648" y="3136787"/>
            <a:ext cx="1924050" cy="177800"/>
          </a:xfrm>
          <a:prstGeom prst="rect">
            <a:avLst/>
          </a:prstGeom>
          <a:solidFill>
            <a:srgbClr val="C9DADB"/>
          </a:solidFill>
          <a:ln/>
        </p:spPr>
      </p:sp>
      <p:sp>
        <p:nvSpPr>
          <p:cNvPr id="18" name="Text 15"/>
          <p:cNvSpPr/>
          <p:nvPr/>
        </p:nvSpPr>
        <p:spPr>
          <a:xfrm>
            <a:off x="6517198" y="3119013"/>
            <a:ext cx="35596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3540"/>
                </a:solidFill>
                <a:latin typeface="Arial" pitchFamily="34" charset="0"/>
                <a:ea typeface="Arial" pitchFamily="34" charset="-122"/>
                <a:cs typeface="Arial" pitchFamily="34" charset="-120"/>
              </a:rPr>
              <a:t>49.7</a:t>
            </a:r>
            <a:endParaRPr lang="en-US" sz="1200" dirty="0"/>
          </a:p>
        </p:txBody>
      </p:sp>
      <p:sp>
        <p:nvSpPr>
          <p:cNvPr id="19" name="Shape 16"/>
          <p:cNvSpPr/>
          <p:nvPr/>
        </p:nvSpPr>
        <p:spPr>
          <a:xfrm>
            <a:off x="4529648" y="3388237"/>
            <a:ext cx="1606550" cy="177800"/>
          </a:xfrm>
          <a:prstGeom prst="rect">
            <a:avLst/>
          </a:prstGeom>
          <a:solidFill>
            <a:srgbClr val="D9A62B"/>
          </a:solidFill>
          <a:ln/>
        </p:spPr>
      </p:sp>
      <p:sp>
        <p:nvSpPr>
          <p:cNvPr id="20" name="Text 17"/>
          <p:cNvSpPr/>
          <p:nvPr/>
        </p:nvSpPr>
        <p:spPr>
          <a:xfrm>
            <a:off x="6199698" y="3370461"/>
            <a:ext cx="355963" cy="23874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3540"/>
                </a:solidFill>
                <a:latin typeface="Arial" pitchFamily="34" charset="0"/>
                <a:ea typeface="Arial" pitchFamily="34" charset="-122"/>
                <a:cs typeface="Arial" pitchFamily="34" charset="-120"/>
              </a:rPr>
              <a:t>41.5</a:t>
            </a:r>
            <a:endParaRPr lang="en-US" sz="1200" dirty="0"/>
          </a:p>
        </p:txBody>
      </p:sp>
      <p:sp>
        <p:nvSpPr>
          <p:cNvPr id="21" name="Shape 18"/>
          <p:cNvSpPr/>
          <p:nvPr/>
        </p:nvSpPr>
        <p:spPr>
          <a:xfrm>
            <a:off x="4529648" y="3639685"/>
            <a:ext cx="793750" cy="177800"/>
          </a:xfrm>
          <a:prstGeom prst="rect">
            <a:avLst/>
          </a:prstGeom>
          <a:solidFill>
            <a:srgbClr val="0F6B6E"/>
          </a:solidFill>
          <a:ln/>
        </p:spPr>
      </p:sp>
      <p:sp>
        <p:nvSpPr>
          <p:cNvPr id="22" name="Text 19"/>
          <p:cNvSpPr/>
          <p:nvPr/>
        </p:nvSpPr>
        <p:spPr>
          <a:xfrm>
            <a:off x="5386898" y="3621911"/>
            <a:ext cx="35596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3540"/>
                </a:solidFill>
                <a:latin typeface="Arial" pitchFamily="34" charset="0"/>
                <a:ea typeface="Arial" pitchFamily="34" charset="-122"/>
                <a:cs typeface="Arial" pitchFamily="34" charset="-120"/>
              </a:rPr>
              <a:t>20.6</a:t>
            </a:r>
            <a:endParaRPr lang="en-US" sz="1200" dirty="0"/>
          </a:p>
        </p:txBody>
      </p:sp>
      <p:sp>
        <p:nvSpPr>
          <p:cNvPr id="23" name="Shape 20"/>
          <p:cNvSpPr/>
          <p:nvPr/>
        </p:nvSpPr>
        <p:spPr>
          <a:xfrm>
            <a:off x="4402648" y="4013059"/>
            <a:ext cx="3386676" cy="1188669"/>
          </a:xfrm>
          <a:prstGeom prst="roundRect">
            <a:avLst>
              <a:gd name="adj" fmla="val 5342"/>
            </a:avLst>
          </a:prstGeom>
          <a:solidFill>
            <a:srgbClr val="FCFBF6"/>
          </a:solidFill>
          <a:ln/>
        </p:spPr>
      </p:sp>
      <p:sp>
        <p:nvSpPr>
          <p:cNvPr id="24" name="Text 21"/>
          <p:cNvSpPr/>
          <p:nvPr/>
        </p:nvSpPr>
        <p:spPr>
          <a:xfrm>
            <a:off x="4529648" y="4114659"/>
            <a:ext cx="3226657" cy="2565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3540"/>
                </a:solidFill>
                <a:latin typeface="Arial" pitchFamily="34" charset="0"/>
                <a:ea typeface="Arial" pitchFamily="34" charset="-122"/>
                <a:cs typeface="Arial" pitchFamily="34" charset="-120"/>
              </a:rPr>
              <a:t>GQA, 800 Q </a:t>
            </a:r>
            <a:r>
              <a:rPr lang="en-US" sz="1300" b="1" dirty="0">
                <a:solidFill>
                  <a:srgbClr val="8A6400"/>
                </a:solidFill>
                <a:latin typeface="Arial" pitchFamily="34" charset="0"/>
                <a:ea typeface="Arial" pitchFamily="34" charset="-122"/>
                <a:cs typeface="Arial" pitchFamily="34" charset="-120"/>
              </a:rPr>
              <a:t>· ApET +2.5 pts</a:t>
            </a:r>
            <a:endParaRPr lang="en-US" sz="1300" dirty="0"/>
          </a:p>
        </p:txBody>
      </p:sp>
      <p:sp>
        <p:nvSpPr>
          <p:cNvPr id="25" name="Shape 22"/>
          <p:cNvSpPr/>
          <p:nvPr/>
        </p:nvSpPr>
        <p:spPr>
          <a:xfrm>
            <a:off x="4529648" y="4401657"/>
            <a:ext cx="2667000" cy="177800"/>
          </a:xfrm>
          <a:prstGeom prst="rect">
            <a:avLst/>
          </a:prstGeom>
          <a:solidFill>
            <a:srgbClr val="C9DADB"/>
          </a:solidFill>
          <a:ln/>
        </p:spPr>
      </p:sp>
      <p:sp>
        <p:nvSpPr>
          <p:cNvPr id="26" name="Text 23"/>
          <p:cNvSpPr/>
          <p:nvPr/>
        </p:nvSpPr>
        <p:spPr>
          <a:xfrm>
            <a:off x="7260148" y="4383883"/>
            <a:ext cx="35596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3540"/>
                </a:solidFill>
                <a:latin typeface="Arial" pitchFamily="34" charset="0"/>
                <a:ea typeface="Arial" pitchFamily="34" charset="-122"/>
                <a:cs typeface="Arial" pitchFamily="34" charset="-120"/>
              </a:rPr>
              <a:t>69.0</a:t>
            </a:r>
            <a:endParaRPr lang="en-US" sz="1200" dirty="0"/>
          </a:p>
        </p:txBody>
      </p:sp>
      <p:sp>
        <p:nvSpPr>
          <p:cNvPr id="27" name="Shape 24"/>
          <p:cNvSpPr/>
          <p:nvPr/>
        </p:nvSpPr>
        <p:spPr>
          <a:xfrm>
            <a:off x="4529648" y="4653105"/>
            <a:ext cx="2463800" cy="177800"/>
          </a:xfrm>
          <a:prstGeom prst="rect">
            <a:avLst/>
          </a:prstGeom>
          <a:solidFill>
            <a:srgbClr val="D9A62B"/>
          </a:solidFill>
          <a:ln/>
        </p:spPr>
      </p:sp>
      <p:sp>
        <p:nvSpPr>
          <p:cNvPr id="28" name="Text 25"/>
          <p:cNvSpPr/>
          <p:nvPr/>
        </p:nvSpPr>
        <p:spPr>
          <a:xfrm>
            <a:off x="7056948" y="4635331"/>
            <a:ext cx="355963" cy="23874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3540"/>
                </a:solidFill>
                <a:latin typeface="Arial" pitchFamily="34" charset="0"/>
                <a:ea typeface="Arial" pitchFamily="34" charset="-122"/>
                <a:cs typeface="Arial" pitchFamily="34" charset="-120"/>
              </a:rPr>
              <a:t>63.8</a:t>
            </a:r>
            <a:endParaRPr lang="en-US" sz="1200" dirty="0"/>
          </a:p>
        </p:txBody>
      </p:sp>
      <p:sp>
        <p:nvSpPr>
          <p:cNvPr id="29" name="Shape 26"/>
          <p:cNvSpPr/>
          <p:nvPr/>
        </p:nvSpPr>
        <p:spPr>
          <a:xfrm>
            <a:off x="4529648" y="4904553"/>
            <a:ext cx="2368550" cy="177800"/>
          </a:xfrm>
          <a:prstGeom prst="rect">
            <a:avLst/>
          </a:prstGeom>
          <a:solidFill>
            <a:srgbClr val="0F6B6E"/>
          </a:solidFill>
          <a:ln/>
        </p:spPr>
      </p:sp>
      <p:sp>
        <p:nvSpPr>
          <p:cNvPr id="30" name="Text 27"/>
          <p:cNvSpPr/>
          <p:nvPr/>
        </p:nvSpPr>
        <p:spPr>
          <a:xfrm>
            <a:off x="6961698" y="4886779"/>
            <a:ext cx="35596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3540"/>
                </a:solidFill>
                <a:latin typeface="Arial" pitchFamily="34" charset="0"/>
                <a:ea typeface="Arial" pitchFamily="34" charset="-122"/>
                <a:cs typeface="Arial" pitchFamily="34" charset="-120"/>
              </a:rPr>
              <a:t>61.3</a:t>
            </a:r>
            <a:endParaRPr lang="en-US" sz="1200" dirty="0"/>
          </a:p>
        </p:txBody>
      </p:sp>
      <p:sp>
        <p:nvSpPr>
          <p:cNvPr id="31" name="Text 28"/>
          <p:cNvSpPr/>
          <p:nvPr/>
        </p:nvSpPr>
        <p:spPr>
          <a:xfrm>
            <a:off x="7992525" y="1407150"/>
            <a:ext cx="3488277" cy="51304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4C5C"/>
                </a:solidFill>
                <a:latin typeface="Arial" pitchFamily="34" charset="0"/>
                <a:ea typeface="Arial" pitchFamily="34" charset="-122"/>
                <a:cs typeface="Arial" pitchFamily="34" charset="-120"/>
              </a:rPr>
              <a:t>③ Similar accuracy hides answer turnover</a:t>
            </a:r>
            <a:endParaRPr lang="en-US" sz="1600" dirty="0"/>
          </a:p>
        </p:txBody>
      </p:sp>
      <p:sp>
        <p:nvSpPr>
          <p:cNvPr id="32" name="Text 29"/>
          <p:cNvSpPr/>
          <p:nvPr/>
        </p:nvSpPr>
        <p:spPr>
          <a:xfrm>
            <a:off x="7992525" y="1970996"/>
            <a:ext cx="3488277" cy="43684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E66"/>
                </a:solidFill>
                <a:latin typeface="Arial" pitchFamily="34" charset="0"/>
                <a:ea typeface="Arial" pitchFamily="34" charset="-122"/>
                <a:cs typeface="Arial" pitchFamily="34" charset="-120"/>
              </a:rPr>
              <a:t>ApET versus the uncompressed model, at avg. 192 tokens:</a:t>
            </a:r>
            <a:endParaRPr lang="en-US" sz="1200" dirty="0"/>
          </a:p>
        </p:txBody>
      </p:sp>
      <p:sp>
        <p:nvSpPr>
          <p:cNvPr id="33" name="Shape 30"/>
          <p:cNvSpPr/>
          <p:nvPr/>
        </p:nvSpPr>
        <p:spPr>
          <a:xfrm>
            <a:off x="7992525" y="2458641"/>
            <a:ext cx="3386676" cy="1102320"/>
          </a:xfrm>
          <a:prstGeom prst="roundRect">
            <a:avLst>
              <a:gd name="adj" fmla="val 5761"/>
            </a:avLst>
          </a:prstGeom>
          <a:solidFill>
            <a:srgbClr val="FCFBF6"/>
          </a:solidFill>
          <a:ln/>
        </p:spPr>
      </p:sp>
      <p:sp>
        <p:nvSpPr>
          <p:cNvPr id="34" name="Shape 31"/>
          <p:cNvSpPr/>
          <p:nvPr/>
        </p:nvSpPr>
        <p:spPr>
          <a:xfrm>
            <a:off x="7992525" y="2458641"/>
            <a:ext cx="3386676" cy="1102320"/>
          </a:xfrm>
          <a:custGeom>
            <a:avLst/>
            <a:gdLst/>
            <a:ahLst/>
            <a:cxnLst/>
            <a:rect l="l" t="t" r="r" b="b"/>
            <a:pathLst>
              <a:path w="3386676" h="1102320">
                <a:moveTo>
                  <a:pt x="63500" y="1102320"/>
                </a:moveTo>
                <a:lnTo>
                  <a:pt x="63500" y="1102320"/>
                </a:lnTo>
                <a:arcTo hR="63500" wR="63500" stAng="5400000" swAng="5400000"/>
                <a:lnTo>
                  <a:pt x="0" y="63500"/>
                </a:lnTo>
                <a:arcTo hR="63500" wR="63500" stAng="10800000" swAng="5400000"/>
                <a:lnTo>
                  <a:pt x="63500" y="0"/>
                </a:lnTo>
                <a:arcTo hR="63500" wR="25400" stAng="16200000" swAng="-5400000"/>
                <a:lnTo>
                  <a:pt x="38100" y="1038820"/>
                </a:lnTo>
                <a:arcTo hR="63500" wR="25400" stAng="10800000" swAng="-5400000"/>
                <a:close/>
              </a:path>
            </a:pathLst>
          </a:custGeom>
          <a:solidFill>
            <a:srgbClr val="D9A62B"/>
          </a:solidFill>
          <a:ln/>
        </p:spPr>
      </p:sp>
      <p:sp>
        <p:nvSpPr>
          <p:cNvPr id="35" name="Text 32"/>
          <p:cNvSpPr/>
          <p:nvPr/>
        </p:nvSpPr>
        <p:spPr>
          <a:xfrm>
            <a:off x="8183025" y="2585641"/>
            <a:ext cx="313509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E66"/>
                </a:solidFill>
                <a:latin typeface="Arial" pitchFamily="34" charset="0"/>
                <a:ea typeface="Arial" pitchFamily="34" charset="-122"/>
                <a:cs typeface="Arial" pitchFamily="34" charset="-120"/>
              </a:rPr>
              <a:t>GQA · 800 questions</a:t>
            </a:r>
            <a:endParaRPr lang="en-US" sz="1200" dirty="0"/>
          </a:p>
        </p:txBody>
      </p:sp>
      <p:sp>
        <p:nvSpPr>
          <p:cNvPr id="36" name="Text 33"/>
          <p:cNvSpPr/>
          <p:nvPr/>
        </p:nvSpPr>
        <p:spPr>
          <a:xfrm>
            <a:off x="8183025" y="2849790"/>
            <a:ext cx="3135090" cy="34542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F4C5C"/>
                </a:solidFill>
                <a:latin typeface="Arial" pitchFamily="34" charset="0"/>
                <a:ea typeface="Arial" pitchFamily="34" charset="-122"/>
                <a:cs typeface="Arial" pitchFamily="34" charset="-120"/>
              </a:rPr>
              <a:t>34 lost · 26 gained</a:t>
            </a:r>
            <a:endParaRPr lang="en-US" sz="1800" dirty="0"/>
          </a:p>
        </p:txBody>
      </p:sp>
      <p:sp>
        <p:nvSpPr>
          <p:cNvPr id="37" name="Text 34"/>
          <p:cNvSpPr/>
          <p:nvPr/>
        </p:nvSpPr>
        <p:spPr>
          <a:xfrm>
            <a:off x="8183025" y="3220613"/>
            <a:ext cx="313509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3540"/>
                </a:solidFill>
                <a:latin typeface="Arial" pitchFamily="34" charset="0"/>
                <a:ea typeface="Arial" pitchFamily="34" charset="-122"/>
                <a:cs typeface="Arial" pitchFamily="34" charset="-120"/>
              </a:rPr>
              <a:t>Accuracy 69.0% → 68.0%</a:t>
            </a:r>
            <a:endParaRPr lang="en-US" sz="1200" dirty="0"/>
          </a:p>
        </p:txBody>
      </p:sp>
      <p:sp>
        <p:nvSpPr>
          <p:cNvPr id="38" name="Shape 35"/>
          <p:cNvSpPr/>
          <p:nvPr/>
        </p:nvSpPr>
        <p:spPr>
          <a:xfrm>
            <a:off x="7992525" y="3637162"/>
            <a:ext cx="3386676" cy="1102320"/>
          </a:xfrm>
          <a:prstGeom prst="roundRect">
            <a:avLst>
              <a:gd name="adj" fmla="val 5761"/>
            </a:avLst>
          </a:prstGeom>
          <a:solidFill>
            <a:srgbClr val="FCFBF6"/>
          </a:solidFill>
          <a:ln/>
        </p:spPr>
      </p:sp>
      <p:sp>
        <p:nvSpPr>
          <p:cNvPr id="39" name="Shape 36"/>
          <p:cNvSpPr/>
          <p:nvPr/>
        </p:nvSpPr>
        <p:spPr>
          <a:xfrm>
            <a:off x="7992525" y="3637162"/>
            <a:ext cx="3386676" cy="1102320"/>
          </a:xfrm>
          <a:custGeom>
            <a:avLst/>
            <a:gdLst/>
            <a:ahLst/>
            <a:cxnLst/>
            <a:rect l="l" t="t" r="r" b="b"/>
            <a:pathLst>
              <a:path w="3386676" h="1102320">
                <a:moveTo>
                  <a:pt x="63500" y="1102320"/>
                </a:moveTo>
                <a:lnTo>
                  <a:pt x="63500" y="1102320"/>
                </a:lnTo>
                <a:arcTo hR="63500" wR="63500" stAng="5400000" swAng="5400000"/>
                <a:lnTo>
                  <a:pt x="0" y="63500"/>
                </a:lnTo>
                <a:arcTo hR="63500" wR="63500" stAng="10800000" swAng="5400000"/>
                <a:lnTo>
                  <a:pt x="63500" y="0"/>
                </a:lnTo>
                <a:arcTo hR="63500" wR="25400" stAng="16200000" swAng="-5400000"/>
                <a:lnTo>
                  <a:pt x="38100" y="1038820"/>
                </a:lnTo>
                <a:arcTo hR="63500" wR="25400" stAng="10800000" swAng="-5400000"/>
                <a:close/>
              </a:path>
            </a:pathLst>
          </a:custGeom>
          <a:solidFill>
            <a:srgbClr val="D9A62B"/>
          </a:solidFill>
          <a:ln/>
        </p:spPr>
      </p:sp>
      <p:sp>
        <p:nvSpPr>
          <p:cNvPr id="40" name="Text 37"/>
          <p:cNvSpPr/>
          <p:nvPr/>
        </p:nvSpPr>
        <p:spPr>
          <a:xfrm>
            <a:off x="8183025" y="3764162"/>
            <a:ext cx="313509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E66"/>
                </a:solidFill>
                <a:latin typeface="Arial" pitchFamily="34" charset="0"/>
                <a:ea typeface="Arial" pitchFamily="34" charset="-122"/>
                <a:cs typeface="Arial" pitchFamily="34" charset="-120"/>
              </a:rPr>
              <a:t>MMStar · 1,500 questions</a:t>
            </a:r>
            <a:endParaRPr lang="en-US" sz="1200" dirty="0"/>
          </a:p>
        </p:txBody>
      </p:sp>
      <p:sp>
        <p:nvSpPr>
          <p:cNvPr id="41" name="Text 38"/>
          <p:cNvSpPr/>
          <p:nvPr/>
        </p:nvSpPr>
        <p:spPr>
          <a:xfrm>
            <a:off x="8183025" y="4028311"/>
            <a:ext cx="3135090" cy="34542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F4C5C"/>
                </a:solidFill>
                <a:latin typeface="Arial" pitchFamily="34" charset="0"/>
                <a:ea typeface="Arial" pitchFamily="34" charset="-122"/>
                <a:cs typeface="Arial" pitchFamily="34" charset="-120"/>
              </a:rPr>
              <a:t>36 lost · 40 gained</a:t>
            </a:r>
            <a:endParaRPr lang="en-US" sz="1800" dirty="0"/>
          </a:p>
        </p:txBody>
      </p:sp>
      <p:sp>
        <p:nvSpPr>
          <p:cNvPr id="42" name="Text 39"/>
          <p:cNvSpPr/>
          <p:nvPr/>
        </p:nvSpPr>
        <p:spPr>
          <a:xfrm>
            <a:off x="8183025" y="4399133"/>
            <a:ext cx="3135090"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3540"/>
                </a:solidFill>
                <a:latin typeface="Arial" pitchFamily="34" charset="0"/>
                <a:ea typeface="Arial" pitchFamily="34" charset="-122"/>
                <a:cs typeface="Arial" pitchFamily="34" charset="-120"/>
              </a:rPr>
              <a:t>Accuracy 34.7% → 35.0%</a:t>
            </a:r>
            <a:endParaRPr lang="en-US" sz="1200" dirty="0"/>
          </a:p>
        </p:txBody>
      </p:sp>
      <p:sp>
        <p:nvSpPr>
          <p:cNvPr id="43" name="Text 40"/>
          <p:cNvSpPr/>
          <p:nvPr/>
        </p:nvSpPr>
        <p:spPr>
          <a:xfrm>
            <a:off x="7992525" y="4815683"/>
            <a:ext cx="3488277" cy="436846"/>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C3540"/>
                </a:solidFill>
                <a:latin typeface="Arial" pitchFamily="34" charset="0"/>
                <a:ea typeface="Arial" pitchFamily="34" charset="-122"/>
                <a:cs typeface="Arial" pitchFamily="34" charset="-120"/>
              </a:rPr>
              <a:t>Lost</a:t>
            </a:r>
            <a:r>
              <a:rPr lang="en-US" sz="1200" dirty="0">
                <a:solidFill>
                  <a:srgbClr val="1C3540"/>
                </a:solidFill>
                <a:latin typeface="Arial" pitchFamily="34" charset="0"/>
                <a:ea typeface="Arial" pitchFamily="34" charset="-122"/>
                <a:cs typeface="Arial" pitchFamily="34" charset="-120"/>
              </a:rPr>
              <a:t> = correct → wrong. </a:t>
            </a:r>
            <a:r>
              <a:rPr lang="en-US" sz="1200" b="1" dirty="0">
                <a:solidFill>
                  <a:srgbClr val="1C3540"/>
                </a:solidFill>
                <a:latin typeface="Arial" pitchFamily="34" charset="0"/>
                <a:ea typeface="Arial" pitchFamily="34" charset="-122"/>
                <a:cs typeface="Arial" pitchFamily="34" charset="-120"/>
              </a:rPr>
              <a:t>Gained</a:t>
            </a:r>
            <a:r>
              <a:rPr lang="en-US" sz="1200" dirty="0">
                <a:solidFill>
                  <a:srgbClr val="1C3540"/>
                </a:solidFill>
                <a:latin typeface="Arial" pitchFamily="34" charset="0"/>
                <a:ea typeface="Arial" pitchFamily="34" charset="-122"/>
                <a:cs typeface="Arial" pitchFamily="34" charset="-120"/>
              </a:rPr>
              <a:t> = wrong → correct.</a:t>
            </a:r>
            <a:endParaRPr lang="en-US" sz="1200" dirty="0"/>
          </a:p>
        </p:txBody>
      </p:sp>
      <p:sp>
        <p:nvSpPr>
          <p:cNvPr id="44" name="Text 41"/>
          <p:cNvSpPr/>
          <p:nvPr/>
        </p:nvSpPr>
        <p:spPr>
          <a:xfrm>
            <a:off x="812800" y="6238252"/>
            <a:ext cx="1088339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D84"/>
                </a:solidFill>
                <a:latin typeface="Arial" pitchFamily="34" charset="0"/>
                <a:ea typeface="Arial" pitchFamily="34" charset="-122"/>
                <a:cs typeface="Arial" pitchFamily="34" charset="-120"/>
              </a:rPr>
              <a:t>IH: Information-Horizon-style retain-one test [Wang et al. 2026] · ① uses 30 hand-picked diagnostic questions · 3 / 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2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3" cy="472423"/>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4C5C"/>
                </a:solidFill>
                <a:latin typeface="Georgia" pitchFamily="18" charset="0"/>
                <a:ea typeface="Georgia" pitchFamily="18" charset="-122"/>
                <a:cs typeface="Georgia" pitchFamily="18" charset="-120"/>
              </a:rPr>
              <a:t>Roadblocks and fixes</a:t>
            </a:r>
            <a:endParaRPr lang="en-US" sz="3200" dirty="0"/>
          </a:p>
        </p:txBody>
      </p:sp>
      <p:sp>
        <p:nvSpPr>
          <p:cNvPr id="3" name="Text 1"/>
          <p:cNvSpPr/>
          <p:nvPr/>
        </p:nvSpPr>
        <p:spPr>
          <a:xfrm>
            <a:off x="812800" y="1336022"/>
            <a:ext cx="10883393"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E66"/>
                </a:solidFill>
                <a:latin typeface="Arial" pitchFamily="34" charset="0"/>
                <a:ea typeface="Arial" pitchFamily="34" charset="-122"/>
                <a:cs typeface="Arial" pitchFamily="34" charset="-120"/>
              </a:rPr>
              <a:t>Independent issues, each with its own fix and status</a:t>
            </a:r>
            <a:endParaRPr lang="en-US" sz="1400" dirty="0"/>
          </a:p>
        </p:txBody>
      </p:sp>
      <p:sp>
        <p:nvSpPr>
          <p:cNvPr id="4" name="Shape 2"/>
          <p:cNvSpPr/>
          <p:nvPr/>
        </p:nvSpPr>
        <p:spPr>
          <a:xfrm>
            <a:off x="812800" y="1737320"/>
            <a:ext cx="10566401" cy="2742917"/>
          </a:xfrm>
          <a:prstGeom prst="roundRect">
            <a:avLst>
              <a:gd name="adj" fmla="val 2778"/>
            </a:avLst>
          </a:prstGeom>
          <a:solidFill>
            <a:srgbClr val="FCFBF6"/>
          </a:solidFill>
          <a:ln/>
        </p:spPr>
      </p:sp>
      <p:sp>
        <p:nvSpPr>
          <p:cNvPr id="5" name="Shape 3"/>
          <p:cNvSpPr/>
          <p:nvPr/>
        </p:nvSpPr>
        <p:spPr>
          <a:xfrm>
            <a:off x="812800" y="1737320"/>
            <a:ext cx="10566401" cy="2742917"/>
          </a:xfrm>
          <a:custGeom>
            <a:avLst/>
            <a:gdLst/>
            <a:ahLst/>
            <a:cxnLst/>
            <a:rect l="l" t="t" r="r" b="b"/>
            <a:pathLst>
              <a:path w="10566401" h="2742917">
                <a:moveTo>
                  <a:pt x="76200" y="2742917"/>
                </a:moveTo>
                <a:lnTo>
                  <a:pt x="76200" y="2742917"/>
                </a:lnTo>
                <a:arcTo hR="76200" wR="76200" stAng="5400000" swAng="5400000"/>
                <a:lnTo>
                  <a:pt x="0" y="76200"/>
                </a:lnTo>
                <a:arcTo hR="76200" wR="76200" stAng="10800000" swAng="5400000"/>
                <a:lnTo>
                  <a:pt x="10490201" y="0"/>
                </a:lnTo>
                <a:arcTo hR="76200" wR="76200" stAng="16200000" swAng="5400000"/>
                <a:lnTo>
                  <a:pt x="10566401" y="76200"/>
                </a:lnTo>
                <a:arcTo hR="63500" wR="76200" stAng="0" swAng="-5400000"/>
                <a:lnTo>
                  <a:pt x="76200" y="12700"/>
                </a:lnTo>
                <a:arcTo hR="63500" wR="63500" stAng="16200000" swAng="-5400000"/>
                <a:lnTo>
                  <a:pt x="12700" y="2666717"/>
                </a:lnTo>
                <a:arcTo hR="76200" wR="635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750020"/>
          <a:ext cx="10553701" cy="2730217"/>
        </p:xfrm>
        <a:graphic>
          <a:graphicData uri="http://schemas.openxmlformats.org/drawingml/2006/table">
            <a:tbl>
              <a:tblPr/>
              <a:tblGrid>
                <a:gridCol w="1899666"/>
                <a:gridCol w="3271647"/>
                <a:gridCol w="3693795"/>
                <a:gridCol w="1688592"/>
              </a:tblGrid>
              <a:tr h="332695">
                <a:tc>
                  <a:txBody>
                    <a:bodyPr/>
                    <a:lstStyle/>
                    <a:p>
                      <a:pPr indent="0" marL="0">
                        <a:lnSpc>
                          <a:spcPts val="1680"/>
                        </a:lnSpc>
                        <a:buNone/>
                      </a:pPr>
                      <a:r>
                        <a:rPr lang="en-US" sz="1200" b="1" dirty="0">
                          <a:solidFill>
                            <a:srgbClr val="F7F4EA"/>
                          </a:solidFill>
                          <a:latin typeface="Arial" pitchFamily="34" charset="0"/>
                          <a:ea typeface="Arial" pitchFamily="34" charset="-122"/>
                          <a:cs typeface="Arial" pitchFamily="34" charset="-120"/>
                        </a:rPr>
                        <a:t>Roadblock</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10404C"/>
                      </a:solidFill>
                      <a:prstDash val="solid"/>
                      <a:round/>
                      <a:headEnd type="none" w="med" len="med"/>
                      <a:tailEnd type="none" w="med" len="med"/>
                    </a:lnR>
                    <a:lnT w="0" cap="flat" cmpd="sng" algn="ctr">
                      <a:noFill/>
                    </a:lnT>
                    <a:lnB w="12700" cap="flat" cmpd="sng" algn="ctr">
                      <a:solidFill>
                        <a:srgbClr val="10404C"/>
                      </a:solidFill>
                      <a:prstDash val="solid"/>
                      <a:round/>
                      <a:headEnd type="none" w="med" len="med"/>
                      <a:tailEnd type="none" w="med" len="med"/>
                    </a:lnB>
                    <a:solidFill>
                      <a:srgbClr val="0F4C5C"/>
                    </a:solidFill>
                  </a:tcPr>
                </a:tc>
                <a:tc>
                  <a:txBody>
                    <a:bodyPr/>
                    <a:lstStyle/>
                    <a:p>
                      <a:pPr indent="0" marL="0">
                        <a:lnSpc>
                          <a:spcPts val="1680"/>
                        </a:lnSpc>
                        <a:buNone/>
                      </a:pPr>
                      <a:r>
                        <a:rPr lang="en-US" sz="1200" b="1" dirty="0">
                          <a:solidFill>
                            <a:srgbClr val="F7F4EA"/>
                          </a:solidFill>
                          <a:latin typeface="Arial" pitchFamily="34" charset="0"/>
                          <a:ea typeface="Arial" pitchFamily="34" charset="-122"/>
                          <a:cs typeface="Arial" pitchFamily="34" charset="-120"/>
                        </a:rPr>
                        <a:t>Problem</a:t>
                      </a:r>
                      <a:endParaRPr lang="en-US" sz="1200" dirty="0">
                        <a:latin typeface="Arial" charset="0"/>
                        <a:ea typeface="Arial" charset="0"/>
                        <a:cs typeface="Arial" charset="0"/>
                      </a:endParaRPr>
                    </a:p>
                  </a:txBody>
                  <a:tcPr marL="53340" marR="53340" marT="53340" marB="53340" anchor="t">
                    <a:lnL w="12700" cap="flat" cmpd="sng" algn="ctr">
                      <a:solidFill>
                        <a:srgbClr val="10404C"/>
                      </a:solidFill>
                      <a:prstDash val="solid"/>
                      <a:round/>
                      <a:headEnd type="none" w="med" len="med"/>
                      <a:tailEnd type="none" w="med" len="med"/>
                    </a:lnL>
                    <a:lnR w="12700" cap="flat" cmpd="sng" algn="ctr">
                      <a:solidFill>
                        <a:srgbClr val="10404C"/>
                      </a:solidFill>
                      <a:prstDash val="solid"/>
                      <a:round/>
                      <a:headEnd type="none" w="med" len="med"/>
                      <a:tailEnd type="none" w="med" len="med"/>
                    </a:lnR>
                    <a:lnT w="0" cap="flat" cmpd="sng" algn="ctr">
                      <a:noFill/>
                    </a:lnT>
                    <a:lnB w="12700" cap="flat" cmpd="sng" algn="ctr">
                      <a:solidFill>
                        <a:srgbClr val="10404C"/>
                      </a:solidFill>
                      <a:prstDash val="solid"/>
                      <a:round/>
                      <a:headEnd type="none" w="med" len="med"/>
                      <a:tailEnd type="none" w="med" len="med"/>
                    </a:lnB>
                    <a:solidFill>
                      <a:srgbClr val="0F4C5C"/>
                    </a:solidFill>
                  </a:tcPr>
                </a:tc>
                <a:tc>
                  <a:txBody>
                    <a:bodyPr/>
                    <a:lstStyle/>
                    <a:p>
                      <a:pPr indent="0" marL="0">
                        <a:lnSpc>
                          <a:spcPts val="1680"/>
                        </a:lnSpc>
                        <a:buNone/>
                      </a:pPr>
                      <a:r>
                        <a:rPr lang="en-US" sz="1200" b="1" dirty="0">
                          <a:solidFill>
                            <a:srgbClr val="F7F4EA"/>
                          </a:solidFill>
                          <a:latin typeface="Arial" pitchFamily="34" charset="0"/>
                          <a:ea typeface="Arial" pitchFamily="34" charset="-122"/>
                          <a:cs typeface="Arial" pitchFamily="34" charset="-120"/>
                        </a:rPr>
                        <a:t>Attempted fix</a:t>
                      </a:r>
                      <a:endParaRPr lang="en-US" sz="1200" dirty="0">
                        <a:latin typeface="Arial" charset="0"/>
                        <a:ea typeface="Arial" charset="0"/>
                        <a:cs typeface="Arial" charset="0"/>
                      </a:endParaRPr>
                    </a:p>
                  </a:txBody>
                  <a:tcPr marL="53340" marR="53340" marT="53340" marB="53340" anchor="t">
                    <a:lnL w="12700" cap="flat" cmpd="sng" algn="ctr">
                      <a:solidFill>
                        <a:srgbClr val="10404C"/>
                      </a:solidFill>
                      <a:prstDash val="solid"/>
                      <a:round/>
                      <a:headEnd type="none" w="med" len="med"/>
                      <a:tailEnd type="none" w="med" len="med"/>
                    </a:lnL>
                    <a:lnR w="12700" cap="flat" cmpd="sng" algn="ctr">
                      <a:solidFill>
                        <a:srgbClr val="10404C"/>
                      </a:solidFill>
                      <a:prstDash val="solid"/>
                      <a:round/>
                      <a:headEnd type="none" w="med" len="med"/>
                      <a:tailEnd type="none" w="med" len="med"/>
                    </a:lnR>
                    <a:lnT w="0" cap="flat" cmpd="sng" algn="ctr">
                      <a:noFill/>
                    </a:lnT>
                    <a:lnB w="12700" cap="flat" cmpd="sng" algn="ctr">
                      <a:solidFill>
                        <a:srgbClr val="10404C"/>
                      </a:solidFill>
                      <a:prstDash val="solid"/>
                      <a:round/>
                      <a:headEnd type="none" w="med" len="med"/>
                      <a:tailEnd type="none" w="med" len="med"/>
                    </a:lnB>
                    <a:solidFill>
                      <a:srgbClr val="0F4C5C"/>
                    </a:solidFill>
                  </a:tcPr>
                </a:tc>
                <a:tc>
                  <a:txBody>
                    <a:bodyPr/>
                    <a:lstStyle/>
                    <a:p>
                      <a:pPr indent="0" marL="0">
                        <a:lnSpc>
                          <a:spcPts val="1680"/>
                        </a:lnSpc>
                        <a:buNone/>
                      </a:pPr>
                      <a:r>
                        <a:rPr lang="en-US" sz="1200" b="1" dirty="0">
                          <a:solidFill>
                            <a:srgbClr val="F7F4EA"/>
                          </a:solidFill>
                          <a:latin typeface="Arial" pitchFamily="34" charset="0"/>
                          <a:ea typeface="Arial" pitchFamily="34" charset="-122"/>
                          <a:cs typeface="Arial" pitchFamily="34" charset="-120"/>
                        </a:rPr>
                        <a:t>Current status</a:t>
                      </a:r>
                      <a:endParaRPr lang="en-US" sz="1200" dirty="0">
                        <a:latin typeface="Arial" charset="0"/>
                        <a:ea typeface="Arial" charset="0"/>
                        <a:cs typeface="Arial" charset="0"/>
                      </a:endParaRPr>
                    </a:p>
                  </a:txBody>
                  <a:tcPr marL="53340" marR="53340" marT="53340" marB="53340" anchor="t">
                    <a:lnL w="12700" cap="flat" cmpd="sng" algn="ctr">
                      <a:solidFill>
                        <a:srgbClr val="10404C"/>
                      </a:solidFill>
                      <a:prstDash val="solid"/>
                      <a:round/>
                      <a:headEnd type="none" w="med" len="med"/>
                      <a:tailEnd type="none" w="med" len="med"/>
                    </a:lnL>
                    <a:lnR w="12700" cap="flat" cmpd="sng" algn="ctr">
                      <a:solidFill>
                        <a:srgbClr val="10404C"/>
                      </a:solidFill>
                      <a:prstDash val="solid"/>
                      <a:round/>
                      <a:headEnd type="none" w="med" len="med"/>
                      <a:tailEnd type="none" w="med" len="med"/>
                    </a:lnR>
                    <a:lnT w="0" cap="flat" cmpd="sng" algn="ctr">
                      <a:noFill/>
                    </a:lnT>
                    <a:lnB w="12700" cap="flat" cmpd="sng" algn="ctr">
                      <a:solidFill>
                        <a:srgbClr val="10404C"/>
                      </a:solidFill>
                      <a:prstDash val="solid"/>
                      <a:round/>
                      <a:headEnd type="none" w="med" len="med"/>
                      <a:tailEnd type="none" w="med" len="med"/>
                    </a:lnB>
                    <a:solidFill>
                      <a:srgbClr val="0F4C5C"/>
                    </a:solidFill>
                  </a:tcPr>
                </a:tc>
              </a:tr>
              <a:tr h="546043">
                <a:tc>
                  <a:txBody>
                    <a:bodyPr/>
                    <a:lstStyle/>
                    <a:p>
                      <a:pPr indent="0" marL="0">
                        <a:lnSpc>
                          <a:spcPts val="1680"/>
                        </a:lnSpc>
                        <a:buNone/>
                      </a:pPr>
                      <a:r>
                        <a:rPr lang="en-US" sz="1200" dirty="0">
                          <a:solidFill>
                            <a:srgbClr val="1C3540"/>
                          </a:solidFill>
                          <a:latin typeface="Arial" pitchFamily="34" charset="0"/>
                          <a:ea typeface="Arial" pitchFamily="34" charset="-122"/>
                          <a:cs typeface="Arial" pitchFamily="34" charset="-120"/>
                        </a:rPr>
                        <a:t>Integration</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C9C8C4"/>
                      </a:solidFill>
                      <a:prstDash val="solid"/>
                      <a:round/>
                      <a:headEnd type="none" w="med" len="med"/>
                      <a:tailEnd type="none" w="med" len="med"/>
                    </a:lnR>
                    <a:lnT w="12700" cap="flat" cmpd="sng" algn="ctr">
                      <a:solidFill>
                        <a:srgbClr val="10404C"/>
                      </a:solidFill>
                      <a:prstDash val="solid"/>
                      <a:round/>
                      <a:headEnd type="none" w="med" len="med"/>
                      <a:tailEnd type="none" w="med" len="med"/>
                    </a:lnT>
                    <a:lnB w="12700" cap="flat" cmpd="sng" algn="ctr">
                      <a:solidFill>
                        <a:srgbClr val="C9C8C4"/>
                      </a:solidFill>
                      <a:prstDash val="solid"/>
                      <a:round/>
                      <a:headEnd type="none" w="med" len="med"/>
                      <a:tailEnd type="none" w="med" len="med"/>
                    </a:lnB>
                  </a:tcPr>
                </a:tc>
                <a:tc>
                  <a:txBody>
                    <a:bodyPr/>
                    <a:lstStyle/>
                    <a:p>
                      <a:pPr indent="0" marL="0">
                        <a:lnSpc>
                          <a:spcPts val="1680"/>
                        </a:lnSpc>
                        <a:buNone/>
                      </a:pPr>
                      <a:r>
                        <a:rPr lang="en-US" sz="1200" dirty="0">
                          <a:solidFill>
                            <a:srgbClr val="1C3540"/>
                          </a:solidFill>
                          <a:latin typeface="Arial" pitchFamily="34" charset="0"/>
                          <a:ea typeface="Arial" pitchFamily="34" charset="-122"/>
                          <a:cs typeface="Arial" pitchFamily="34" charset="-120"/>
                        </a:rPr>
                        <a:t>Kaggle package updates broke ApET/LLaVA compatibility.</a:t>
                      </a:r>
                      <a:endParaRPr lang="en-US" sz="1200" dirty="0">
                        <a:latin typeface="Arial" charset="0"/>
                        <a:ea typeface="Arial" charset="0"/>
                        <a:cs typeface="Arial" charset="0"/>
                      </a:endParaRPr>
                    </a:p>
                  </a:txBody>
                  <a:tcPr marL="53340" marR="53340" marT="53340" marB="53340" anchor="t">
                    <a:lnL w="12700" cap="flat" cmpd="sng" algn="ctr">
                      <a:solidFill>
                        <a:srgbClr val="C9C8C4"/>
                      </a:solidFill>
                      <a:prstDash val="solid"/>
                      <a:round/>
                      <a:headEnd type="none" w="med" len="med"/>
                      <a:tailEnd type="none" w="med" len="med"/>
                    </a:lnL>
                    <a:lnR w="12700" cap="flat" cmpd="sng" algn="ctr">
                      <a:solidFill>
                        <a:srgbClr val="C9C8C4"/>
                      </a:solidFill>
                      <a:prstDash val="solid"/>
                      <a:round/>
                      <a:headEnd type="none" w="med" len="med"/>
                      <a:tailEnd type="none" w="med" len="med"/>
                    </a:lnR>
                    <a:lnT w="12700" cap="flat" cmpd="sng" algn="ctr">
                      <a:solidFill>
                        <a:srgbClr val="10404C"/>
                      </a:solidFill>
                      <a:prstDash val="solid"/>
                      <a:round/>
                      <a:headEnd type="none" w="med" len="med"/>
                      <a:tailEnd type="none" w="med" len="med"/>
                    </a:lnT>
                    <a:lnB w="12700" cap="flat" cmpd="sng" algn="ctr">
                      <a:solidFill>
                        <a:srgbClr val="C9C8C4"/>
                      </a:solidFill>
                      <a:prstDash val="solid"/>
                      <a:round/>
                      <a:headEnd type="none" w="med" len="med"/>
                      <a:tailEnd type="none" w="med" len="med"/>
                    </a:lnB>
                  </a:tcPr>
                </a:tc>
                <a:tc>
                  <a:txBody>
                    <a:bodyPr/>
                    <a:lstStyle/>
                    <a:p>
                      <a:pPr indent="0" marL="0">
                        <a:lnSpc>
                          <a:spcPts val="1680"/>
                        </a:lnSpc>
                        <a:buNone/>
                      </a:pPr>
                      <a:r>
                        <a:rPr lang="en-US" sz="1200" dirty="0">
                          <a:solidFill>
                            <a:srgbClr val="1C3540"/>
                          </a:solidFill>
                          <a:latin typeface="Arial" pitchFamily="34" charset="0"/>
                          <a:ea typeface="Arial" pitchFamily="34" charset="-122"/>
                          <a:cs typeface="Arial" pitchFamily="34" charset="-120"/>
                        </a:rPr>
                        <a:t>Locked environment with recorded fixes.</a:t>
                      </a:r>
                      <a:endParaRPr lang="en-US" sz="1200" dirty="0">
                        <a:latin typeface="Arial" charset="0"/>
                        <a:ea typeface="Arial" charset="0"/>
                        <a:cs typeface="Arial" charset="0"/>
                      </a:endParaRPr>
                    </a:p>
                  </a:txBody>
                  <a:tcPr marL="53340" marR="53340" marT="53340" marB="53340" anchor="t">
                    <a:lnL w="12700" cap="flat" cmpd="sng" algn="ctr">
                      <a:solidFill>
                        <a:srgbClr val="C9C8C4"/>
                      </a:solidFill>
                      <a:prstDash val="solid"/>
                      <a:round/>
                      <a:headEnd type="none" w="med" len="med"/>
                      <a:tailEnd type="none" w="med" len="med"/>
                    </a:lnL>
                    <a:lnR w="12700" cap="flat" cmpd="sng" algn="ctr">
                      <a:solidFill>
                        <a:srgbClr val="C9C8C4"/>
                      </a:solidFill>
                      <a:prstDash val="solid"/>
                      <a:round/>
                      <a:headEnd type="none" w="med" len="med"/>
                      <a:tailEnd type="none" w="med" len="med"/>
                    </a:lnR>
                    <a:lnT w="12700" cap="flat" cmpd="sng" algn="ctr">
                      <a:solidFill>
                        <a:srgbClr val="10404C"/>
                      </a:solidFill>
                      <a:prstDash val="solid"/>
                      <a:round/>
                      <a:headEnd type="none" w="med" len="med"/>
                      <a:tailEnd type="none" w="med" len="med"/>
                    </a:lnT>
                    <a:lnB w="12700" cap="flat" cmpd="sng" algn="ctr">
                      <a:solidFill>
                        <a:srgbClr val="C9C8C4"/>
                      </a:solidFill>
                      <a:prstDash val="solid"/>
                      <a:round/>
                      <a:headEnd type="none" w="med" len="med"/>
                      <a:tailEnd type="none" w="med" len="med"/>
                    </a:lnB>
                  </a:tcPr>
                </a:tc>
                <a:tc>
                  <a:txBody>
                    <a:bodyPr/>
                    <a:lstStyle/>
                    <a:p>
                      <a:pPr indent="0" marL="0">
                        <a:lnSpc>
                          <a:spcPts val="1680"/>
                        </a:lnSpc>
                        <a:buNone/>
                      </a:pPr>
                      <a:r>
                        <a:rPr lang="en-US" sz="1200" dirty="0">
                          <a:solidFill>
                            <a:srgbClr val="1F6B45"/>
                          </a:solidFill>
                          <a:latin typeface="Arial" pitchFamily="34" charset="0"/>
                          <a:ea typeface="Arial" pitchFamily="34" charset="-122"/>
                          <a:cs typeface="Arial" pitchFamily="34" charset="-120"/>
                        </a:rPr>
                        <a:t>Green: resolved</a:t>
                      </a:r>
                      <a:endParaRPr lang="en-US" sz="1200" dirty="0">
                        <a:latin typeface="Arial" charset="0"/>
                        <a:ea typeface="Arial" charset="0"/>
                        <a:cs typeface="Arial" charset="0"/>
                      </a:endParaRPr>
                    </a:p>
                  </a:txBody>
                  <a:tcPr marL="53340" marR="53340" marT="53340" marB="53340" anchor="t">
                    <a:lnL w="12700" cap="flat" cmpd="sng" algn="ctr">
                      <a:solidFill>
                        <a:srgbClr val="C9C8C4"/>
                      </a:solidFill>
                      <a:prstDash val="solid"/>
                      <a:round/>
                      <a:headEnd type="none" w="med" len="med"/>
                      <a:tailEnd type="none" w="med" len="med"/>
                    </a:lnL>
                    <a:lnR w="12700" cap="flat" cmpd="sng" algn="ctr">
                      <a:solidFill>
                        <a:srgbClr val="C9C8C4"/>
                      </a:solidFill>
                      <a:prstDash val="solid"/>
                      <a:round/>
                      <a:headEnd type="none" w="med" len="med"/>
                      <a:tailEnd type="none" w="med" len="med"/>
                    </a:lnR>
                    <a:lnT w="12700" cap="flat" cmpd="sng" algn="ctr">
                      <a:solidFill>
                        <a:srgbClr val="10404C"/>
                      </a:solidFill>
                      <a:prstDash val="solid"/>
                      <a:round/>
                      <a:headEnd type="none" w="med" len="med"/>
                      <a:tailEnd type="none" w="med" len="med"/>
                    </a:lnT>
                    <a:lnB w="12700" cap="flat" cmpd="sng" algn="ctr">
                      <a:solidFill>
                        <a:srgbClr val="C9C8C4"/>
                      </a:solidFill>
                      <a:prstDash val="solid"/>
                      <a:round/>
                      <a:headEnd type="none" w="med" len="med"/>
                      <a:tailEnd type="none" w="med" len="med"/>
                    </a:lnB>
                  </a:tcPr>
                </a:tc>
              </a:tr>
              <a:tr h="759392">
                <a:tc>
                  <a:txBody>
                    <a:bodyPr/>
                    <a:lstStyle/>
                    <a:p>
                      <a:pPr indent="0" marL="0">
                        <a:lnSpc>
                          <a:spcPts val="1680"/>
                        </a:lnSpc>
                        <a:buNone/>
                      </a:pPr>
                      <a:r>
                        <a:rPr lang="en-US" sz="1200" dirty="0">
                          <a:solidFill>
                            <a:srgbClr val="1C3540"/>
                          </a:solidFill>
                          <a:latin typeface="Arial" pitchFamily="34" charset="0"/>
                          <a:ea typeface="Arial" pitchFamily="34" charset="-122"/>
                          <a:cs typeface="Arial" pitchFamily="34" charset="-120"/>
                        </a:rPr>
                        <a:t>Run-to-run variation</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C9C8C4"/>
                      </a:solidFill>
                      <a:prstDash val="solid"/>
                      <a:round/>
                      <a:headEnd type="none" w="med" len="med"/>
                      <a:tailEnd type="none" w="med" len="med"/>
                    </a:lnR>
                    <a:lnT w="12700" cap="flat" cmpd="sng" algn="ctr">
                      <a:solidFill>
                        <a:srgbClr val="C9C8C4"/>
                      </a:solidFill>
                      <a:prstDash val="solid"/>
                      <a:round/>
                      <a:headEnd type="none" w="med" len="med"/>
                      <a:tailEnd type="none" w="med" len="med"/>
                    </a:lnT>
                    <a:lnB w="12700" cap="flat" cmpd="sng" algn="ctr">
                      <a:solidFill>
                        <a:srgbClr val="C9C8C4"/>
                      </a:solidFill>
                      <a:prstDash val="solid"/>
                      <a:round/>
                      <a:headEnd type="none" w="med" len="med"/>
                      <a:tailEnd type="none" w="med" len="med"/>
                    </a:lnB>
                  </a:tcPr>
                </a:tc>
                <a:tc>
                  <a:txBody>
                    <a:bodyPr/>
                    <a:lstStyle/>
                    <a:p>
                      <a:pPr indent="0" marL="0">
                        <a:lnSpc>
                          <a:spcPts val="1680"/>
                        </a:lnSpc>
                        <a:buNone/>
                      </a:pPr>
                      <a:r>
                        <a:rPr lang="en-US" sz="1200" dirty="0">
                          <a:solidFill>
                            <a:srgbClr val="1C3540"/>
                          </a:solidFill>
                          <a:latin typeface="Arial" pitchFamily="34" charset="0"/>
                          <a:ea typeface="Arial" pitchFamily="34" charset="-122"/>
                          <a:cs typeface="Arial" pitchFamily="34" charset="-120"/>
                        </a:rPr>
                        <a:t>Fresh compressed runs changed a few answers; replays from saved features were identical.</a:t>
                      </a:r>
                      <a:endParaRPr lang="en-US" sz="1200" dirty="0">
                        <a:latin typeface="Arial" charset="0"/>
                        <a:ea typeface="Arial" charset="0"/>
                        <a:cs typeface="Arial" charset="0"/>
                      </a:endParaRPr>
                    </a:p>
                  </a:txBody>
                  <a:tcPr marL="53340" marR="53340" marT="53340" marB="53340" anchor="t">
                    <a:lnL w="12700" cap="flat" cmpd="sng" algn="ctr">
                      <a:solidFill>
                        <a:srgbClr val="C9C8C4"/>
                      </a:solidFill>
                      <a:prstDash val="solid"/>
                      <a:round/>
                      <a:headEnd type="none" w="med" len="med"/>
                      <a:tailEnd type="none" w="med" len="med"/>
                    </a:lnL>
                    <a:lnR w="12700" cap="flat" cmpd="sng" algn="ctr">
                      <a:solidFill>
                        <a:srgbClr val="C9C8C4"/>
                      </a:solidFill>
                      <a:prstDash val="solid"/>
                      <a:round/>
                      <a:headEnd type="none" w="med" len="med"/>
                      <a:tailEnd type="none" w="med" len="med"/>
                    </a:lnR>
                    <a:lnT w="12700" cap="flat" cmpd="sng" algn="ctr">
                      <a:solidFill>
                        <a:srgbClr val="C9C8C4"/>
                      </a:solidFill>
                      <a:prstDash val="solid"/>
                      <a:round/>
                      <a:headEnd type="none" w="med" len="med"/>
                      <a:tailEnd type="none" w="med" len="med"/>
                    </a:lnT>
                    <a:lnB w="12700" cap="flat" cmpd="sng" algn="ctr">
                      <a:solidFill>
                        <a:srgbClr val="C9C8C4"/>
                      </a:solidFill>
                      <a:prstDash val="solid"/>
                      <a:round/>
                      <a:headEnd type="none" w="med" len="med"/>
                      <a:tailEnd type="none" w="med" len="med"/>
                    </a:lnB>
                  </a:tcPr>
                </a:tc>
                <a:tc>
                  <a:txBody>
                    <a:bodyPr/>
                    <a:lstStyle/>
                    <a:p>
                      <a:pPr indent="0" marL="0">
                        <a:lnSpc>
                          <a:spcPts val="1680"/>
                        </a:lnSpc>
                        <a:buNone/>
                      </a:pPr>
                      <a:r>
                        <a:rPr lang="en-US" sz="1200" dirty="0">
                          <a:solidFill>
                            <a:srgbClr val="1C3540"/>
                          </a:solidFill>
                          <a:latin typeface="Arial" pitchFamily="34" charset="0"/>
                          <a:ea typeface="Arial" pitchFamily="34" charset="-122"/>
                          <a:cs typeface="Arial" pitchFamily="34" charset="-120"/>
                        </a:rPr>
                        <a:t>Diagnostic traced it to the merge step (likely order-dependent FP16 sums); keep first runs, repeat critical cases.</a:t>
                      </a:r>
                      <a:endParaRPr lang="en-US" sz="1200" dirty="0">
                        <a:latin typeface="Arial" charset="0"/>
                        <a:ea typeface="Arial" charset="0"/>
                        <a:cs typeface="Arial" charset="0"/>
                      </a:endParaRPr>
                    </a:p>
                  </a:txBody>
                  <a:tcPr marL="53340" marR="53340" marT="53340" marB="53340" anchor="t">
                    <a:lnL w="12700" cap="flat" cmpd="sng" algn="ctr">
                      <a:solidFill>
                        <a:srgbClr val="C9C8C4"/>
                      </a:solidFill>
                      <a:prstDash val="solid"/>
                      <a:round/>
                      <a:headEnd type="none" w="med" len="med"/>
                      <a:tailEnd type="none" w="med" len="med"/>
                    </a:lnL>
                    <a:lnR w="12700" cap="flat" cmpd="sng" algn="ctr">
                      <a:solidFill>
                        <a:srgbClr val="C9C8C4"/>
                      </a:solidFill>
                      <a:prstDash val="solid"/>
                      <a:round/>
                      <a:headEnd type="none" w="med" len="med"/>
                      <a:tailEnd type="none" w="med" len="med"/>
                    </a:lnR>
                    <a:lnT w="12700" cap="flat" cmpd="sng" algn="ctr">
                      <a:solidFill>
                        <a:srgbClr val="C9C8C4"/>
                      </a:solidFill>
                      <a:prstDash val="solid"/>
                      <a:round/>
                      <a:headEnd type="none" w="med" len="med"/>
                      <a:tailEnd type="none" w="med" len="med"/>
                    </a:lnT>
                    <a:lnB w="12700" cap="flat" cmpd="sng" algn="ctr">
                      <a:solidFill>
                        <a:srgbClr val="C9C8C4"/>
                      </a:solidFill>
                      <a:prstDash val="solid"/>
                      <a:round/>
                      <a:headEnd type="none" w="med" len="med"/>
                      <a:tailEnd type="none" w="med" len="med"/>
                    </a:lnB>
                  </a:tcPr>
                </a:tc>
                <a:tc>
                  <a:txBody>
                    <a:bodyPr/>
                    <a:lstStyle/>
                    <a:p>
                      <a:pPr indent="0" marL="0">
                        <a:lnSpc>
                          <a:spcPts val="1680"/>
                        </a:lnSpc>
                        <a:buNone/>
                      </a:pPr>
                      <a:r>
                        <a:rPr lang="en-US" sz="1200" dirty="0">
                          <a:solidFill>
                            <a:srgbClr val="7A5A00"/>
                          </a:solidFill>
                          <a:latin typeface="Arial" pitchFamily="34" charset="0"/>
                          <a:ea typeface="Arial" pitchFamily="34" charset="-122"/>
                          <a:cs typeface="Arial" pitchFamily="34" charset="-120"/>
                        </a:rPr>
                        <a:t>Yellow: managed, cause not isolated</a:t>
                      </a:r>
                      <a:endParaRPr lang="en-US" sz="1200" dirty="0">
                        <a:latin typeface="Arial" charset="0"/>
                        <a:ea typeface="Arial" charset="0"/>
                        <a:cs typeface="Arial" charset="0"/>
                      </a:endParaRPr>
                    </a:p>
                  </a:txBody>
                  <a:tcPr marL="53340" marR="53340" marT="53340" marB="53340" anchor="t">
                    <a:lnL w="12700" cap="flat" cmpd="sng" algn="ctr">
                      <a:solidFill>
                        <a:srgbClr val="C9C8C4"/>
                      </a:solidFill>
                      <a:prstDash val="solid"/>
                      <a:round/>
                      <a:headEnd type="none" w="med" len="med"/>
                      <a:tailEnd type="none" w="med" len="med"/>
                    </a:lnL>
                    <a:lnR w="12700" cap="flat" cmpd="sng" algn="ctr">
                      <a:solidFill>
                        <a:srgbClr val="C9C8C4"/>
                      </a:solidFill>
                      <a:prstDash val="solid"/>
                      <a:round/>
                      <a:headEnd type="none" w="med" len="med"/>
                      <a:tailEnd type="none" w="med" len="med"/>
                    </a:lnR>
                    <a:lnT w="12700" cap="flat" cmpd="sng" algn="ctr">
                      <a:solidFill>
                        <a:srgbClr val="C9C8C4"/>
                      </a:solidFill>
                      <a:prstDash val="solid"/>
                      <a:round/>
                      <a:headEnd type="none" w="med" len="med"/>
                      <a:tailEnd type="none" w="med" len="med"/>
                    </a:lnT>
                    <a:lnB w="12700" cap="flat" cmpd="sng" algn="ctr">
                      <a:solidFill>
                        <a:srgbClr val="C9C8C4"/>
                      </a:solidFill>
                      <a:prstDash val="solid"/>
                      <a:round/>
                      <a:headEnd type="none" w="med" len="med"/>
                      <a:tailEnd type="none" w="med" len="med"/>
                    </a:lnB>
                  </a:tcPr>
                </a:tc>
              </a:tr>
              <a:tr h="546043">
                <a:tc>
                  <a:txBody>
                    <a:bodyPr/>
                    <a:lstStyle/>
                    <a:p>
                      <a:pPr indent="0" marL="0">
                        <a:lnSpc>
                          <a:spcPts val="1680"/>
                        </a:lnSpc>
                        <a:buNone/>
                      </a:pPr>
                      <a:r>
                        <a:rPr lang="en-US" sz="1200" dirty="0">
                          <a:solidFill>
                            <a:srgbClr val="1C3540"/>
                          </a:solidFill>
                          <a:latin typeface="Arial" pitchFamily="34" charset="0"/>
                          <a:ea typeface="Arial" pitchFamily="34" charset="-122"/>
                          <a:cs typeface="Arial" pitchFamily="34" charset="-120"/>
                        </a:rPr>
                        <a:t>Selection bias</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C9C8C4"/>
                      </a:solidFill>
                      <a:prstDash val="solid"/>
                      <a:round/>
                      <a:headEnd type="none" w="med" len="med"/>
                      <a:tailEnd type="none" w="med" len="med"/>
                    </a:lnR>
                    <a:lnT w="12700" cap="flat" cmpd="sng" algn="ctr">
                      <a:solidFill>
                        <a:srgbClr val="C9C8C4"/>
                      </a:solidFill>
                      <a:prstDash val="solid"/>
                      <a:round/>
                      <a:headEnd type="none" w="med" len="med"/>
                      <a:tailEnd type="none" w="med" len="med"/>
                    </a:lnT>
                    <a:lnB w="12700" cap="flat" cmpd="sng" algn="ctr">
                      <a:solidFill>
                        <a:srgbClr val="C9C8C4"/>
                      </a:solidFill>
                      <a:prstDash val="solid"/>
                      <a:round/>
                      <a:headEnd type="none" w="med" len="med"/>
                      <a:tailEnd type="none" w="med" len="med"/>
                    </a:lnB>
                  </a:tcPr>
                </a:tc>
                <a:tc>
                  <a:txBody>
                    <a:bodyPr/>
                    <a:lstStyle/>
                    <a:p>
                      <a:pPr indent="0" marL="0">
                        <a:lnSpc>
                          <a:spcPts val="1680"/>
                        </a:lnSpc>
                        <a:buNone/>
                      </a:pPr>
                      <a:r>
                        <a:rPr lang="en-US" sz="1200" dirty="0">
                          <a:solidFill>
                            <a:srgbClr val="1C3540"/>
                          </a:solidFill>
                          <a:latin typeface="Arial" pitchFamily="34" charset="0"/>
                          <a:ea typeface="Arial" pitchFamily="34" charset="-122"/>
                          <a:cs typeface="Arial" pitchFamily="34" charset="-120"/>
                        </a:rPr>
                        <a:t>The 30-question set was picked from ApET’s own outcomes, so it favors other methods.</a:t>
                      </a:r>
                      <a:endParaRPr lang="en-US" sz="1200" dirty="0">
                        <a:latin typeface="Arial" charset="0"/>
                        <a:ea typeface="Arial" charset="0"/>
                        <a:cs typeface="Arial" charset="0"/>
                      </a:endParaRPr>
                    </a:p>
                  </a:txBody>
                  <a:tcPr marL="53340" marR="53340" marT="53340" marB="53340" anchor="t">
                    <a:lnL w="12700" cap="flat" cmpd="sng" algn="ctr">
                      <a:solidFill>
                        <a:srgbClr val="C9C8C4"/>
                      </a:solidFill>
                      <a:prstDash val="solid"/>
                      <a:round/>
                      <a:headEnd type="none" w="med" len="med"/>
                      <a:tailEnd type="none" w="med" len="med"/>
                    </a:lnL>
                    <a:lnR w="12700" cap="flat" cmpd="sng" algn="ctr">
                      <a:solidFill>
                        <a:srgbClr val="C9C8C4"/>
                      </a:solidFill>
                      <a:prstDash val="solid"/>
                      <a:round/>
                      <a:headEnd type="none" w="med" len="med"/>
                      <a:tailEnd type="none" w="med" len="med"/>
                    </a:lnR>
                    <a:lnT w="12700" cap="flat" cmpd="sng" algn="ctr">
                      <a:solidFill>
                        <a:srgbClr val="C9C8C4"/>
                      </a:solidFill>
                      <a:prstDash val="solid"/>
                      <a:round/>
                      <a:headEnd type="none" w="med" len="med"/>
                      <a:tailEnd type="none" w="med" len="med"/>
                    </a:lnT>
                    <a:lnB w="12700" cap="flat" cmpd="sng" algn="ctr">
                      <a:solidFill>
                        <a:srgbClr val="C9C8C4"/>
                      </a:solidFill>
                      <a:prstDash val="solid"/>
                      <a:round/>
                      <a:headEnd type="none" w="med" len="med"/>
                      <a:tailEnd type="none" w="med" len="med"/>
                    </a:lnB>
                  </a:tcPr>
                </a:tc>
                <a:tc>
                  <a:txBody>
                    <a:bodyPr/>
                    <a:lstStyle/>
                    <a:p>
                      <a:pPr indent="0" marL="0">
                        <a:lnSpc>
                          <a:spcPts val="1680"/>
                        </a:lnSpc>
                        <a:buNone/>
                      </a:pPr>
                      <a:r>
                        <a:rPr lang="en-US" sz="1200" dirty="0">
                          <a:solidFill>
                            <a:srgbClr val="1C3540"/>
                          </a:solidFill>
                          <a:latin typeface="Arial" pitchFamily="34" charset="0"/>
                          <a:ea typeface="Arial" pitchFamily="34" charset="-122"/>
                          <a:cs typeface="Arial" pitchFamily="34" charset="-120"/>
                        </a:rPr>
                        <a:t>Use it only for RQ1 and case studies; compare components on unselected subsets.</a:t>
                      </a:r>
                      <a:endParaRPr lang="en-US" sz="1200" dirty="0">
                        <a:latin typeface="Arial" charset="0"/>
                        <a:ea typeface="Arial" charset="0"/>
                        <a:cs typeface="Arial" charset="0"/>
                      </a:endParaRPr>
                    </a:p>
                  </a:txBody>
                  <a:tcPr marL="53340" marR="53340" marT="53340" marB="53340" anchor="t">
                    <a:lnL w="12700" cap="flat" cmpd="sng" algn="ctr">
                      <a:solidFill>
                        <a:srgbClr val="C9C8C4"/>
                      </a:solidFill>
                      <a:prstDash val="solid"/>
                      <a:round/>
                      <a:headEnd type="none" w="med" len="med"/>
                      <a:tailEnd type="none" w="med" len="med"/>
                    </a:lnL>
                    <a:lnR w="12700" cap="flat" cmpd="sng" algn="ctr">
                      <a:solidFill>
                        <a:srgbClr val="C9C8C4"/>
                      </a:solidFill>
                      <a:prstDash val="solid"/>
                      <a:round/>
                      <a:headEnd type="none" w="med" len="med"/>
                      <a:tailEnd type="none" w="med" len="med"/>
                    </a:lnR>
                    <a:lnT w="12700" cap="flat" cmpd="sng" algn="ctr">
                      <a:solidFill>
                        <a:srgbClr val="C9C8C4"/>
                      </a:solidFill>
                      <a:prstDash val="solid"/>
                      <a:round/>
                      <a:headEnd type="none" w="med" len="med"/>
                      <a:tailEnd type="none" w="med" len="med"/>
                    </a:lnT>
                    <a:lnB w="12700" cap="flat" cmpd="sng" algn="ctr">
                      <a:solidFill>
                        <a:srgbClr val="C9C8C4"/>
                      </a:solidFill>
                      <a:prstDash val="solid"/>
                      <a:round/>
                      <a:headEnd type="none" w="med" len="med"/>
                      <a:tailEnd type="none" w="med" len="med"/>
                    </a:lnB>
                  </a:tcPr>
                </a:tc>
                <a:tc>
                  <a:txBody>
                    <a:bodyPr/>
                    <a:lstStyle/>
                    <a:p>
                      <a:pPr indent="0" marL="0">
                        <a:lnSpc>
                          <a:spcPts val="1680"/>
                        </a:lnSpc>
                        <a:buNone/>
                      </a:pPr>
                      <a:r>
                        <a:rPr lang="en-US" sz="1200" dirty="0">
                          <a:solidFill>
                            <a:srgbClr val="7A5A00"/>
                          </a:solidFill>
                          <a:latin typeface="Arial" pitchFamily="34" charset="0"/>
                          <a:ea typeface="Arial" pitchFamily="34" charset="-122"/>
                          <a:cs typeface="Arial" pitchFamily="34" charset="-120"/>
                        </a:rPr>
                        <a:t>Yellow: handled by design</a:t>
                      </a:r>
                      <a:endParaRPr lang="en-US" sz="1200" dirty="0">
                        <a:latin typeface="Arial" charset="0"/>
                        <a:ea typeface="Arial" charset="0"/>
                        <a:cs typeface="Arial" charset="0"/>
                      </a:endParaRPr>
                    </a:p>
                  </a:txBody>
                  <a:tcPr marL="53340" marR="53340" marT="53340" marB="53340" anchor="t">
                    <a:lnL w="12700" cap="flat" cmpd="sng" algn="ctr">
                      <a:solidFill>
                        <a:srgbClr val="C9C8C4"/>
                      </a:solidFill>
                      <a:prstDash val="solid"/>
                      <a:round/>
                      <a:headEnd type="none" w="med" len="med"/>
                      <a:tailEnd type="none" w="med" len="med"/>
                    </a:lnL>
                    <a:lnR w="12700" cap="flat" cmpd="sng" algn="ctr">
                      <a:solidFill>
                        <a:srgbClr val="C9C8C4"/>
                      </a:solidFill>
                      <a:prstDash val="solid"/>
                      <a:round/>
                      <a:headEnd type="none" w="med" len="med"/>
                      <a:tailEnd type="none" w="med" len="med"/>
                    </a:lnR>
                    <a:lnT w="12700" cap="flat" cmpd="sng" algn="ctr">
                      <a:solidFill>
                        <a:srgbClr val="C9C8C4"/>
                      </a:solidFill>
                      <a:prstDash val="solid"/>
                      <a:round/>
                      <a:headEnd type="none" w="med" len="med"/>
                      <a:tailEnd type="none" w="med" len="med"/>
                    </a:lnT>
                    <a:lnB w="12700" cap="flat" cmpd="sng" algn="ctr">
                      <a:solidFill>
                        <a:srgbClr val="C9C8C4"/>
                      </a:solidFill>
                      <a:prstDash val="solid"/>
                      <a:round/>
                      <a:headEnd type="none" w="med" len="med"/>
                      <a:tailEnd type="none" w="med" len="med"/>
                    </a:lnB>
                  </a:tcPr>
                </a:tc>
              </a:tr>
              <a:tr h="546043">
                <a:tc>
                  <a:txBody>
                    <a:bodyPr/>
                    <a:lstStyle/>
                    <a:p>
                      <a:pPr indent="0" marL="0">
                        <a:lnSpc>
                          <a:spcPts val="1680"/>
                        </a:lnSpc>
                        <a:buNone/>
                      </a:pPr>
                      <a:r>
                        <a:rPr lang="en-US" sz="1200" dirty="0">
                          <a:solidFill>
                            <a:srgbClr val="1C3540"/>
                          </a:solidFill>
                          <a:latin typeface="Arial" pitchFamily="34" charset="0"/>
                          <a:ea typeface="Arial" pitchFamily="34" charset="-122"/>
                          <a:cs typeface="Arial" pitchFamily="34" charset="-120"/>
                        </a:rPr>
                        <a:t>Planning risk</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C9C8C4"/>
                      </a:solidFill>
                      <a:prstDash val="solid"/>
                      <a:round/>
                      <a:headEnd type="none" w="med" len="med"/>
                      <a:tailEnd type="none" w="med" len="med"/>
                    </a:lnR>
                    <a:lnT w="12700" cap="flat" cmpd="sng" algn="ctr">
                      <a:solidFill>
                        <a:srgbClr val="C9C8C4"/>
                      </a:solidFill>
                      <a:prstDash val="solid"/>
                      <a:round/>
                      <a:headEnd type="none" w="med" len="med"/>
                      <a:tailEnd type="none" w="med" len="med"/>
                    </a:lnT>
                    <a:lnB w="12700" cap="flat" cmpd="sng" algn="ctr">
                      <a:solidFill>
                        <a:srgbClr val="C9C8C4"/>
                      </a:solidFill>
                      <a:prstDash val="solid"/>
                      <a:round/>
                      <a:headEnd type="none" w="med" len="med"/>
                      <a:tailEnd type="none" w="med" len="med"/>
                    </a:lnB>
                  </a:tcPr>
                </a:tc>
                <a:tc>
                  <a:txBody>
                    <a:bodyPr/>
                    <a:lstStyle/>
                    <a:p>
                      <a:pPr indent="0" marL="0">
                        <a:lnSpc>
                          <a:spcPts val="1680"/>
                        </a:lnSpc>
                        <a:buNone/>
                      </a:pPr>
                      <a:r>
                        <a:rPr lang="en-US" sz="1200" dirty="0">
                          <a:solidFill>
                            <a:srgbClr val="1C3540"/>
                          </a:solidFill>
                          <a:latin typeface="Arial" pitchFamily="34" charset="0"/>
                          <a:ea typeface="Arial" pitchFamily="34" charset="-122"/>
                          <a:cs typeface="Arial" pitchFamily="34" charset="-120"/>
                        </a:rPr>
                        <a:t>Component attribution may stay unclear; no RQ3 candidate yet.</a:t>
                      </a:r>
                      <a:endParaRPr lang="en-US" sz="1200" dirty="0">
                        <a:latin typeface="Arial" charset="0"/>
                        <a:ea typeface="Arial" charset="0"/>
                        <a:cs typeface="Arial" charset="0"/>
                      </a:endParaRPr>
                    </a:p>
                  </a:txBody>
                  <a:tcPr marL="53340" marR="53340" marT="53340" marB="53340" anchor="t">
                    <a:lnL w="12700" cap="flat" cmpd="sng" algn="ctr">
                      <a:solidFill>
                        <a:srgbClr val="C9C8C4"/>
                      </a:solidFill>
                      <a:prstDash val="solid"/>
                      <a:round/>
                      <a:headEnd type="none" w="med" len="med"/>
                      <a:tailEnd type="none" w="med" len="med"/>
                    </a:lnL>
                    <a:lnR w="12700" cap="flat" cmpd="sng" algn="ctr">
                      <a:solidFill>
                        <a:srgbClr val="C9C8C4"/>
                      </a:solidFill>
                      <a:prstDash val="solid"/>
                      <a:round/>
                      <a:headEnd type="none" w="med" len="med"/>
                      <a:tailEnd type="none" w="med" len="med"/>
                    </a:lnR>
                    <a:lnT w="12700" cap="flat" cmpd="sng" algn="ctr">
                      <a:solidFill>
                        <a:srgbClr val="C9C8C4"/>
                      </a:solidFill>
                      <a:prstDash val="solid"/>
                      <a:round/>
                      <a:headEnd type="none" w="med" len="med"/>
                      <a:tailEnd type="none" w="med" len="med"/>
                    </a:lnT>
                    <a:lnB w="12700" cap="flat" cmpd="sng" algn="ctr">
                      <a:solidFill>
                        <a:srgbClr val="C9C8C4"/>
                      </a:solidFill>
                      <a:prstDash val="solid"/>
                      <a:round/>
                      <a:headEnd type="none" w="med" len="med"/>
                      <a:tailEnd type="none" w="med" len="med"/>
                    </a:lnB>
                  </a:tcPr>
                </a:tc>
                <a:tc>
                  <a:txBody>
                    <a:bodyPr/>
                    <a:lstStyle/>
                    <a:p>
                      <a:pPr indent="0" marL="0">
                        <a:lnSpc>
                          <a:spcPts val="1680"/>
                        </a:lnSpc>
                        <a:buNone/>
                      </a:pPr>
                      <a:r>
                        <a:rPr lang="en-US" sz="1200" dirty="0">
                          <a:solidFill>
                            <a:srgbClr val="1C3540"/>
                          </a:solidFill>
                          <a:latin typeface="Arial" pitchFamily="34" charset="0"/>
                          <a:ea typeface="Arial" pitchFamily="34" charset="-122"/>
                          <a:cs typeface="Arial" pitchFamily="34" charset="-120"/>
                        </a:rPr>
                        <a:t>Report a well-controlled negative result if needed.</a:t>
                      </a:r>
                      <a:endParaRPr lang="en-US" sz="1200" dirty="0">
                        <a:latin typeface="Arial" charset="0"/>
                        <a:ea typeface="Arial" charset="0"/>
                        <a:cs typeface="Arial" charset="0"/>
                      </a:endParaRPr>
                    </a:p>
                  </a:txBody>
                  <a:tcPr marL="53340" marR="53340" marT="53340" marB="53340" anchor="t">
                    <a:lnL w="12700" cap="flat" cmpd="sng" algn="ctr">
                      <a:solidFill>
                        <a:srgbClr val="C9C8C4"/>
                      </a:solidFill>
                      <a:prstDash val="solid"/>
                      <a:round/>
                      <a:headEnd type="none" w="med" len="med"/>
                      <a:tailEnd type="none" w="med" len="med"/>
                    </a:lnL>
                    <a:lnR w="12700" cap="flat" cmpd="sng" algn="ctr">
                      <a:solidFill>
                        <a:srgbClr val="C9C8C4"/>
                      </a:solidFill>
                      <a:prstDash val="solid"/>
                      <a:round/>
                      <a:headEnd type="none" w="med" len="med"/>
                      <a:tailEnd type="none" w="med" len="med"/>
                    </a:lnR>
                    <a:lnT w="12700" cap="flat" cmpd="sng" algn="ctr">
                      <a:solidFill>
                        <a:srgbClr val="C9C8C4"/>
                      </a:solidFill>
                      <a:prstDash val="solid"/>
                      <a:round/>
                      <a:headEnd type="none" w="med" len="med"/>
                      <a:tailEnd type="none" w="med" len="med"/>
                    </a:lnT>
                    <a:lnB w="12700" cap="flat" cmpd="sng" algn="ctr">
                      <a:solidFill>
                        <a:srgbClr val="C9C8C4"/>
                      </a:solidFill>
                      <a:prstDash val="solid"/>
                      <a:round/>
                      <a:headEnd type="none" w="med" len="med"/>
                      <a:tailEnd type="none" w="med" len="med"/>
                    </a:lnB>
                  </a:tcPr>
                </a:tc>
                <a:tc>
                  <a:txBody>
                    <a:bodyPr/>
                    <a:lstStyle/>
                    <a:p>
                      <a:pPr indent="0" marL="0">
                        <a:lnSpc>
                          <a:spcPts val="1680"/>
                        </a:lnSpc>
                        <a:buNone/>
                      </a:pPr>
                      <a:r>
                        <a:rPr lang="en-US" sz="1200" dirty="0">
                          <a:solidFill>
                            <a:srgbClr val="7A5A00"/>
                          </a:solidFill>
                          <a:latin typeface="Arial" pitchFamily="34" charset="0"/>
                          <a:ea typeface="Arial" pitchFamily="34" charset="-122"/>
                          <a:cs typeface="Arial" pitchFamily="34" charset="-120"/>
                        </a:rPr>
                        <a:t>Yellow: open</a:t>
                      </a:r>
                      <a:endParaRPr lang="en-US" sz="1200" dirty="0">
                        <a:latin typeface="Arial" charset="0"/>
                        <a:ea typeface="Arial" charset="0"/>
                        <a:cs typeface="Arial" charset="0"/>
                      </a:endParaRPr>
                    </a:p>
                  </a:txBody>
                  <a:tcPr marL="53340" marR="53340" marT="53340" marB="53340" anchor="t">
                    <a:lnL w="12700" cap="flat" cmpd="sng" algn="ctr">
                      <a:solidFill>
                        <a:srgbClr val="C9C8C4"/>
                      </a:solidFill>
                      <a:prstDash val="solid"/>
                      <a:round/>
                      <a:headEnd type="none" w="med" len="med"/>
                      <a:tailEnd type="none" w="med" len="med"/>
                    </a:lnL>
                    <a:lnR w="12700" cap="flat" cmpd="sng" algn="ctr">
                      <a:solidFill>
                        <a:srgbClr val="C9C8C4"/>
                      </a:solidFill>
                      <a:prstDash val="solid"/>
                      <a:round/>
                      <a:headEnd type="none" w="med" len="med"/>
                      <a:tailEnd type="none" w="med" len="med"/>
                    </a:lnR>
                    <a:lnT w="12700" cap="flat" cmpd="sng" algn="ctr">
                      <a:solidFill>
                        <a:srgbClr val="C9C8C4"/>
                      </a:solidFill>
                      <a:prstDash val="solid"/>
                      <a:round/>
                      <a:headEnd type="none" w="med" len="med"/>
                      <a:tailEnd type="none" w="med" len="med"/>
                    </a:lnT>
                    <a:lnB w="12700" cap="flat" cmpd="sng" algn="ctr">
                      <a:solidFill>
                        <a:srgbClr val="C9C8C4"/>
                      </a:solidFill>
                      <a:prstDash val="solid"/>
                      <a:round/>
                      <a:headEnd type="none" w="med" len="med"/>
                      <a:tailEnd type="none" w="med" len="med"/>
                    </a:lnB>
                  </a:tcPr>
                </a:tc>
              </a:tr>
            </a:tbl>
          </a:graphicData>
        </a:graphic>
      </p:graphicFrame>
      <p:sp>
        <p:nvSpPr>
          <p:cNvPr id="7" name="Text 4"/>
          <p:cNvSpPr/>
          <p:nvPr/>
        </p:nvSpPr>
        <p:spPr>
          <a:xfrm>
            <a:off x="812800" y="6238250"/>
            <a:ext cx="1088339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D84"/>
                </a:solidFill>
                <a:latin typeface="Arial" pitchFamily="34" charset="0"/>
                <a:ea typeface="Arial" pitchFamily="34" charset="-122"/>
                <a:cs typeface="Arial" pitchFamily="34" charset="-120"/>
              </a:rPr>
              <a:t>Merging uses CUDA scatter_add_; GPU additions can run in a different order each time, and FP16 addition is not exactly associative. · 4 / 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4C5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3" cy="472423"/>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4EA"/>
                </a:solidFill>
                <a:latin typeface="Georgia" pitchFamily="18" charset="0"/>
                <a:ea typeface="Georgia" pitchFamily="18" charset="-122"/>
                <a:cs typeface="Georgia" pitchFamily="18" charset="-120"/>
              </a:rPr>
              <a:t>What’s next</a:t>
            </a:r>
            <a:endParaRPr lang="en-US" sz="3200" dirty="0"/>
          </a:p>
        </p:txBody>
      </p:sp>
      <p:sp>
        <p:nvSpPr>
          <p:cNvPr id="3" name="Shape 1"/>
          <p:cNvSpPr/>
          <p:nvPr/>
        </p:nvSpPr>
        <p:spPr>
          <a:xfrm>
            <a:off x="812800" y="1437624"/>
            <a:ext cx="3420524" cy="1946190"/>
          </a:xfrm>
          <a:prstGeom prst="roundRect">
            <a:avLst>
              <a:gd name="adj" fmla="val 3915"/>
            </a:avLst>
          </a:prstGeom>
          <a:solidFill>
            <a:srgbClr val="175E6E"/>
          </a:solidFill>
          <a:ln/>
        </p:spPr>
      </p:sp>
      <p:sp>
        <p:nvSpPr>
          <p:cNvPr id="4" name="Text 2"/>
          <p:cNvSpPr/>
          <p:nvPr/>
        </p:nvSpPr>
        <p:spPr>
          <a:xfrm>
            <a:off x="1016000" y="1640824"/>
            <a:ext cx="3104548" cy="2565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9B949"/>
                </a:solidFill>
                <a:latin typeface="Arial" pitchFamily="34" charset="0"/>
                <a:ea typeface="Arial" pitchFamily="34" charset="-122"/>
                <a:cs typeface="Arial" pitchFamily="34" charset="-120"/>
              </a:rPr>
              <a:t>01 · RQ2 selection</a:t>
            </a:r>
            <a:endParaRPr lang="en-US" sz="1300" dirty="0"/>
          </a:p>
        </p:txBody>
      </p:sp>
      <p:sp>
        <p:nvSpPr>
          <p:cNvPr id="5" name="Text 3"/>
          <p:cNvSpPr/>
          <p:nvPr/>
        </p:nvSpPr>
        <p:spPr>
          <a:xfrm>
            <a:off x="1016000" y="1948148"/>
            <a:ext cx="3104548" cy="51304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4EA"/>
                </a:solidFill>
                <a:latin typeface="Arial" pitchFamily="34" charset="0"/>
                <a:ea typeface="Arial" pitchFamily="34" charset="-122"/>
                <a:cs typeface="Arial" pitchFamily="34" charset="-120"/>
              </a:rPr>
              <a:t>Does linear reconstruction pick what the model uses?</a:t>
            </a:r>
            <a:endParaRPr lang="en-US" sz="1600" dirty="0"/>
          </a:p>
        </p:txBody>
      </p:sp>
      <p:sp>
        <p:nvSpPr>
          <p:cNvPr id="6" name="Text 4"/>
          <p:cNvSpPr/>
          <p:nvPr/>
        </p:nvSpPr>
        <p:spPr>
          <a:xfrm>
            <a:off x="1016000" y="2511992"/>
            <a:ext cx="3104548" cy="69402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FE3E1"/>
                </a:solidFill>
                <a:latin typeface="Arial" pitchFamily="34" charset="0"/>
                <a:ea typeface="Arial" pitchFamily="34" charset="-122"/>
                <a:cs typeface="Arial" pitchFamily="34" charset="-120"/>
              </a:rPr>
              <a:t>Vary only selection, merging fixed. For low-E tokens: kept, merged, dropped, or replaced by their linear reconstruction.</a:t>
            </a:r>
            <a:endParaRPr lang="en-US" sz="1300" dirty="0"/>
          </a:p>
        </p:txBody>
      </p:sp>
      <p:sp>
        <p:nvSpPr>
          <p:cNvPr id="7" name="Shape 5"/>
          <p:cNvSpPr/>
          <p:nvPr/>
        </p:nvSpPr>
        <p:spPr>
          <a:xfrm>
            <a:off x="4385724" y="1437624"/>
            <a:ext cx="3420552" cy="1946190"/>
          </a:xfrm>
          <a:prstGeom prst="roundRect">
            <a:avLst>
              <a:gd name="adj" fmla="val 3915"/>
            </a:avLst>
          </a:prstGeom>
          <a:solidFill>
            <a:srgbClr val="175E6E"/>
          </a:solidFill>
          <a:ln/>
        </p:spPr>
      </p:sp>
      <p:sp>
        <p:nvSpPr>
          <p:cNvPr id="8" name="Text 6"/>
          <p:cNvSpPr/>
          <p:nvPr/>
        </p:nvSpPr>
        <p:spPr>
          <a:xfrm>
            <a:off x="4588924" y="1640824"/>
            <a:ext cx="3104577" cy="2565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9B949"/>
                </a:solidFill>
                <a:latin typeface="Arial" pitchFamily="34" charset="0"/>
                <a:ea typeface="Arial" pitchFamily="34" charset="-122"/>
                <a:cs typeface="Arial" pitchFamily="34" charset="-120"/>
              </a:rPr>
              <a:t>02 · RQ2 merging</a:t>
            </a:r>
            <a:endParaRPr lang="en-US" sz="1300" dirty="0"/>
          </a:p>
        </p:txBody>
      </p:sp>
      <p:sp>
        <p:nvSpPr>
          <p:cNvPr id="9" name="Text 7"/>
          <p:cNvSpPr/>
          <p:nvPr/>
        </p:nvSpPr>
        <p:spPr>
          <a:xfrm>
            <a:off x="4588924" y="1948148"/>
            <a:ext cx="3104577" cy="26922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4EA"/>
                </a:solidFill>
                <a:latin typeface="Arial" pitchFamily="34" charset="0"/>
                <a:ea typeface="Arial" pitchFamily="34" charset="-122"/>
                <a:cs typeface="Arial" pitchFamily="34" charset="-120"/>
              </a:rPr>
              <a:t>Should we merge, and how?</a:t>
            </a:r>
            <a:endParaRPr lang="en-US" sz="1600" dirty="0"/>
          </a:p>
        </p:txBody>
      </p:sp>
      <p:sp>
        <p:nvSpPr>
          <p:cNvPr id="10" name="Text 8"/>
          <p:cNvSpPr/>
          <p:nvPr/>
        </p:nvSpPr>
        <p:spPr>
          <a:xfrm>
            <a:off x="4588924" y="2268172"/>
            <a:ext cx="3104577" cy="69402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FE3E1"/>
                </a:solidFill>
                <a:latin typeface="Arial" pitchFamily="34" charset="0"/>
                <a:ea typeface="Arial" pitchFamily="34" charset="-122"/>
                <a:cs typeface="Arial" pitchFamily="34" charset="-120"/>
              </a:rPr>
              <a:t>Merge vs. drop vs. random or protected targets; measure how averaged tokens differ from the originals.</a:t>
            </a:r>
            <a:endParaRPr lang="en-US" sz="1300" dirty="0"/>
          </a:p>
        </p:txBody>
      </p:sp>
      <p:sp>
        <p:nvSpPr>
          <p:cNvPr id="11" name="Shape 9"/>
          <p:cNvSpPr/>
          <p:nvPr/>
        </p:nvSpPr>
        <p:spPr>
          <a:xfrm>
            <a:off x="7958676" y="1437624"/>
            <a:ext cx="3420524" cy="1946190"/>
          </a:xfrm>
          <a:prstGeom prst="roundRect">
            <a:avLst>
              <a:gd name="adj" fmla="val 3915"/>
            </a:avLst>
          </a:prstGeom>
          <a:solidFill>
            <a:srgbClr val="175E6E"/>
          </a:solidFill>
          <a:ln/>
        </p:spPr>
      </p:sp>
      <p:sp>
        <p:nvSpPr>
          <p:cNvPr id="12" name="Text 10"/>
          <p:cNvSpPr/>
          <p:nvPr/>
        </p:nvSpPr>
        <p:spPr>
          <a:xfrm>
            <a:off x="8161876" y="1640824"/>
            <a:ext cx="3104548" cy="2565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9B949"/>
                </a:solidFill>
                <a:latin typeface="Arial" pitchFamily="34" charset="0"/>
                <a:ea typeface="Arial" pitchFamily="34" charset="-122"/>
                <a:cs typeface="Arial" pitchFamily="34" charset="-120"/>
              </a:rPr>
              <a:t>03 · RQ3, exploratory</a:t>
            </a:r>
            <a:endParaRPr lang="en-US" sz="1300" dirty="0"/>
          </a:p>
        </p:txBody>
      </p:sp>
      <p:sp>
        <p:nvSpPr>
          <p:cNvPr id="13" name="Text 11"/>
          <p:cNvSpPr/>
          <p:nvPr/>
        </p:nvSpPr>
        <p:spPr>
          <a:xfrm>
            <a:off x="8161876" y="1948148"/>
            <a:ext cx="3104548" cy="26922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4EA"/>
                </a:solidFill>
                <a:latin typeface="Arial" pitchFamily="34" charset="0"/>
                <a:ea typeface="Arial" pitchFamily="34" charset="-122"/>
                <a:cs typeface="Arial" pitchFamily="34" charset="-120"/>
              </a:rPr>
              <a:t>A lightweight improvement?</a:t>
            </a:r>
            <a:endParaRPr lang="en-US" sz="1600" dirty="0"/>
          </a:p>
        </p:txBody>
      </p:sp>
      <p:sp>
        <p:nvSpPr>
          <p:cNvPr id="14" name="Text 12"/>
          <p:cNvSpPr/>
          <p:nvPr/>
        </p:nvSpPr>
        <p:spPr>
          <a:xfrm>
            <a:off x="8161876" y="2268172"/>
            <a:ext cx="3104548" cy="47114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FE3E1"/>
                </a:solidFill>
                <a:latin typeface="Arial" pitchFamily="34" charset="0"/>
                <a:ea typeface="Arial" pitchFamily="34" charset="-122"/>
                <a:cs typeface="Arial" pitchFamily="34" charset="-120"/>
              </a:rPr>
              <a:t>Only if the analysis supports it, e.g., a question-aware budget. No guarantee.</a:t>
            </a:r>
            <a:endParaRPr lang="en-US" sz="1300" dirty="0"/>
          </a:p>
        </p:txBody>
      </p:sp>
      <p:sp>
        <p:nvSpPr>
          <p:cNvPr id="15" name="Shape 13"/>
          <p:cNvSpPr/>
          <p:nvPr/>
        </p:nvSpPr>
        <p:spPr>
          <a:xfrm>
            <a:off x="812800" y="3561615"/>
            <a:ext cx="10566401" cy="1146799"/>
          </a:xfrm>
          <a:prstGeom prst="roundRect">
            <a:avLst>
              <a:gd name="adj" fmla="val 6645"/>
            </a:avLst>
          </a:prstGeom>
          <a:solidFill>
            <a:srgbClr val="E9B949"/>
          </a:solidFill>
          <a:ln/>
        </p:spPr>
      </p:sp>
      <p:sp>
        <p:nvSpPr>
          <p:cNvPr id="16" name="Text 14"/>
          <p:cNvSpPr/>
          <p:nvPr/>
        </p:nvSpPr>
        <p:spPr>
          <a:xfrm>
            <a:off x="1041400" y="3739415"/>
            <a:ext cx="10412477" cy="23874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4C5C"/>
                </a:solidFill>
                <a:latin typeface="Arial" pitchFamily="34" charset="0"/>
                <a:ea typeface="Arial" pitchFamily="34" charset="-122"/>
                <a:cs typeface="Arial" pitchFamily="34" charset="-120"/>
              </a:rPr>
              <a:t>SUCCESS CRITERION</a:t>
            </a:r>
            <a:endParaRPr lang="en-US" sz="1200" dirty="0"/>
          </a:p>
        </p:txBody>
      </p:sp>
      <p:sp>
        <p:nvSpPr>
          <p:cNvPr id="17" name="Text 15"/>
          <p:cNvSpPr/>
          <p:nvPr/>
        </p:nvSpPr>
        <p:spPr>
          <a:xfrm>
            <a:off x="1041400" y="4016263"/>
            <a:ext cx="1041247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343B"/>
                </a:solidFill>
                <a:latin typeface="Arial" pitchFamily="34" charset="0"/>
                <a:ea typeface="Arial" pitchFamily="34" charset="-122"/>
                <a:cs typeface="Arial" pitchFamily="34" charset="-120"/>
              </a:rPr>
              <a:t>One controlled comparison isolating a single ApET component on ≥100 unselected questions: matched budgets, 3 seeds, paired 95% intervals. Negative results count.</a:t>
            </a:r>
            <a:endParaRPr lang="en-US" sz="1500" dirty="0"/>
          </a:p>
        </p:txBody>
      </p:sp>
      <p:sp>
        <p:nvSpPr>
          <p:cNvPr id="18" name="Text 16"/>
          <p:cNvSpPr/>
          <p:nvPr/>
        </p:nvSpPr>
        <p:spPr>
          <a:xfrm>
            <a:off x="812800" y="6238252"/>
            <a:ext cx="10883393" cy="23874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E3E1"/>
                </a:solidFill>
                <a:latin typeface="Arial" pitchFamily="34" charset="0"/>
                <a:ea typeface="Arial" pitchFamily="34" charset="-122"/>
                <a:cs typeface="Arial" pitchFamily="34" charset="-120"/>
              </a:rPr>
              <a:t>Protocol Nov 6 · pilot Nov 13 · main run Nov 20 · RQ3 go/no-go Nov 24 · final Dec 15 · 5 / 5</a:t>
            </a:r>
            <a:endParaRPr lang="en-US" sz="1200" dirty="0"/>
          </a:p>
        </p:txBody>
      </p:sp>
    </p:spTree>
  </p:cSld>
  <p:clrMapOvr>
    <a:masterClrMapping/>
  </p:clrMapOvr>
</p:sld>
</file>

<file path=ppt/theme/theme1.xml><?xml version="1.0" encoding="utf-8"?>
<a:theme xmlns:a="http://schemas.openxmlformats.org/drawingml/2006/main" name="ApET Midterm — 5 Slides">
  <a:themeElements>
    <a:clrScheme name="ApET Midterm — 5 Slides">
      <a:dk1>
        <a:srgbClr val="0F4C5C"/>
      </a:dk1>
      <a:lt1>
        <a:srgbClr val="F7F4EA"/>
      </a:lt1>
      <a:dk2>
        <a:srgbClr val="265D6A"/>
      </a:dk2>
      <a:lt2>
        <a:srgbClr val="BDCAC7"/>
      </a:lt2>
      <a:accent1>
        <a:srgbClr val="E9B949"/>
      </a:accent1>
      <a:accent2>
        <a:srgbClr val="5C4300"/>
      </a:accent2>
      <a:accent3>
        <a:srgbClr val="F6E3A8"/>
      </a:accent3>
      <a:accent4>
        <a:srgbClr val="D9A62B"/>
      </a:accent4>
      <a:accent5>
        <a:srgbClr val="0F6B6E"/>
      </a:accent5>
      <a:accent6>
        <a:srgbClr val="12343B"/>
      </a:accent6>
      <a:hlink>
        <a:srgbClr val="0563C1"/>
      </a:hlink>
      <a:folHlink>
        <a:srgbClr val="954F72"/>
      </a:folHlink>
    </a:clrScheme>
    <a:fontScheme name="ApET Midterm — 5 Slide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ApET Midterm — 5 Slides</dc:title>
  <dc:subject/>
  <dc:creator/>
  <cp:lastModifiedBy/>
  <cp:revision>1</cp:revision>
  <dcterms:created xsi:type="dcterms:W3CDTF">2026-10-28T17:48:11Z</dcterms:created>
  <dcterms:modified xsi:type="dcterms:W3CDTF">2026-10-28T17:48:11Z</dcterms:modified>
</cp:coreProperties>
</file>