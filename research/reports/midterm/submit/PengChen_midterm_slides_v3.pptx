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83afdd1db1647af" /><Relationship Type="http://schemas.openxmlformats.org/officeDocument/2006/relationships/extended-properties" Target="/docProps/app.xml" Id="R46f2d2cf81b24f29" /><Relationship Type="http://schemas.openxmlformats.org/officeDocument/2006/relationships/officeDocument" Target="/ppt/presentation.xml" Id="R0bec2c44c9784341" /></Relationships>
</file>

<file path=ppt/presentation.xml><?xml version="1.0" encoding="utf-8"?>
<p:presentation xmlns:p="http://schemas.openxmlformats.org/presentationml/2006/main">
  <p:sldMasterIdLst>
    <p:sldMasterId xmlns:r="http://schemas.openxmlformats.org/officeDocument/2006/relationships" id="2147483648" r:id="R45eebf814b394206"/>
  </p:sldMasterIdLst>
  <p:notesMasterIdLst>
    <p:notesMasterId xmlns:r="http://schemas.openxmlformats.org/officeDocument/2006/relationships" r:id="R6c81e3fb61f94b5c"/>
  </p:notesMasterIdLst>
  <p:sldIdLst>
    <p:sldId xmlns:r="http://schemas.openxmlformats.org/officeDocument/2006/relationships" id="256" r:id="R5b08018e1ed04629"/>
    <p:sldId xmlns:r="http://schemas.openxmlformats.org/officeDocument/2006/relationships" id="257" r:id="Rc3364ce0243847ab"/>
    <p:sldId xmlns:r="http://schemas.openxmlformats.org/officeDocument/2006/relationships" id="258" r:id="Re57bf3a539894869"/>
    <p:sldId xmlns:r="http://schemas.openxmlformats.org/officeDocument/2006/relationships" id="259" r:id="Red8981ed06634f11"/>
    <p:sldId xmlns:r="http://schemas.openxmlformats.org/officeDocument/2006/relationships" id="260" r:id="Rd4ec940e74fe42f4"/>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7a5f527061a4235" /><Relationship Type="http://schemas.openxmlformats.org/officeDocument/2006/relationships/slideMaster" Target="/ppt/slideMasters/slideMaster1.xml" Id="R45eebf814b394206" /><Relationship Type="http://schemas.openxmlformats.org/officeDocument/2006/relationships/notesMaster" Target="/ppt/notesMasters/notesMaster1.xml" Id="R6c81e3fb61f94b5c" /><Relationship Type="http://schemas.openxmlformats.org/officeDocument/2006/relationships/presProps" Target="/ppt/presProps.xml" Id="R805df62db4274bcc" /><Relationship Type="http://schemas.openxmlformats.org/officeDocument/2006/relationships/tableStyles" Target="/ppt/tableStyles.xml" Id="Rb407a8a10eb94092" /><Relationship Type="http://schemas.openxmlformats.org/officeDocument/2006/relationships/slide" Target="/ppt/slides/slide1.xml" Id="R5b08018e1ed04629" /><Relationship Type="http://schemas.openxmlformats.org/officeDocument/2006/relationships/slide" Target="/ppt/slides/slide2.xml" Id="Rc3364ce0243847ab" /><Relationship Type="http://schemas.openxmlformats.org/officeDocument/2006/relationships/slide" Target="/ppt/slides/slide3.xml" Id="Re57bf3a539894869" /><Relationship Type="http://schemas.openxmlformats.org/officeDocument/2006/relationships/slide" Target="/ppt/slides/slide4.xml" Id="Red8981ed06634f11" /><Relationship Type="http://schemas.openxmlformats.org/officeDocument/2006/relationships/slide" Target="/ppt/slides/slide5.xml" Id="Rd4ec940e74fe42f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db4a80e2026496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dk1" tx1="lt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ApET Midterm — 5 Slides">
  <a:themeElements>
    <a:clrScheme name="ApET Midterm — 5 Slides">
      <a:dk1>
        <a:srgbClr val="0F4C5C"/>
      </a:dk1>
      <a:lt1>
        <a:srgbClr val="F7F4EA"/>
      </a:lt1>
      <a:dk2>
        <a:srgbClr val="265D6A"/>
      </a:dk2>
      <a:lt2>
        <a:srgbClr val="BDCAC7"/>
      </a:lt2>
      <a:accent1>
        <a:srgbClr val="E9B949"/>
      </a:accent1>
      <a:accent2>
        <a:srgbClr val="5C4300"/>
      </a:accent2>
      <a:accent3>
        <a:srgbClr val="F6E3A8"/>
      </a:accent3>
      <a:accent4>
        <a:srgbClr val="D9A62B"/>
      </a:accent4>
      <a:accent5>
        <a:srgbClr val="0F6B6E"/>
      </a:accent5>
      <a:accent6>
        <a:srgbClr val="12343B"/>
      </a:accent6>
      <a:hlink>
        <a:srgbClr val="0563C1"/>
      </a:hlink>
      <a:folHlink>
        <a:srgbClr val="954F72"/>
      </a:folHlink>
    </a:clrScheme>
    <a:fontScheme name="ApET Midterm — 5 Slide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ApET Midterm — 5 Slide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bae23b873d94128" /><Relationship Type="http://schemas.openxmlformats.org/officeDocument/2006/relationships/notesMaster" Target="/ppt/notesMasters/notesMaster1.xml" Id="R28a9e6527b074333" /></Relationships>
</file>

<file path=ppt/notesSlides/_rels/notesSlide2.xml.rels>&#65279;<?xml version="1.0" encoding="utf-8"?><Relationships xmlns="http://schemas.openxmlformats.org/package/2006/relationships"><Relationship Type="http://schemas.openxmlformats.org/officeDocument/2006/relationships/slide" Target="/ppt/slides/slide2.xml" Id="Rfb062722356b4709" /><Relationship Type="http://schemas.openxmlformats.org/officeDocument/2006/relationships/notesMaster" Target="/ppt/notesMasters/notesMaster1.xml" Id="Rd89173caa5d64cce" /></Relationships>
</file>

<file path=ppt/notesSlides/_rels/notesSlide3.xml.rels>&#65279;<?xml version="1.0" encoding="utf-8"?><Relationships xmlns="http://schemas.openxmlformats.org/package/2006/relationships"><Relationship Type="http://schemas.openxmlformats.org/officeDocument/2006/relationships/slide" Target="/ppt/slides/slide3.xml" Id="Rad75365dcb49454d" /><Relationship Type="http://schemas.openxmlformats.org/officeDocument/2006/relationships/notesMaster" Target="/ppt/notesMasters/notesMaster1.xml" Id="Rf70d1e5448e34f1f" /></Relationships>
</file>

<file path=ppt/notesSlides/_rels/notesSlide4.xml.rels>&#65279;<?xml version="1.0" encoding="utf-8"?><Relationships xmlns="http://schemas.openxmlformats.org/package/2006/relationships"><Relationship Type="http://schemas.openxmlformats.org/officeDocument/2006/relationships/slide" Target="/ppt/slides/slide4.xml" Id="R00ec4be4ba51443d" /><Relationship Type="http://schemas.openxmlformats.org/officeDocument/2006/relationships/notesMaster" Target="/ppt/notesMasters/notesMaster1.xml" Id="R0b56c02cbbf8450b" /></Relationships>
</file>

<file path=ppt/notesSlides/_rels/notesSlide5.xml.rels>&#65279;<?xml version="1.0" encoding="utf-8"?><Relationships xmlns="http://schemas.openxmlformats.org/package/2006/relationships"><Relationship Type="http://schemas.openxmlformats.org/officeDocument/2006/relationships/slide" Target="/ppt/slides/slide5.xml" Id="Rdec0738d75b34ca1" /><Relationship Type="http://schemas.openxmlformats.org/officeDocument/2006/relationships/notesMaster" Target="/ppt/notesMasters/notesMaster1.xml" Id="R5f828138edfd499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Hello, I’m Peng Chen. My project asks when and why ApET preserves a vision-language model’s answers.</a:t>
            </a:r>
          </a:p>
          <a:p xmlns:a="http://schemas.openxmlformats.org/drawingml/2006/main">
            <a:r>
              <a:t/>
            </a:r>
          </a:p>
          <a:p xmlns:a="http://schemas.openxmlformats.org/drawingml/2006/main">
            <a:r>
              <a:t>Visual tokens make inference expensive. ApET keeps features that are difficult to reconstruct from a small basis, and combines discarded features with similar retained ones.</a:t>
            </a:r>
          </a:p>
          <a:p xmlns:a="http://schemas.openxmlformats.org/drawingml/2006/main">
            <a:r>
              <a:t/>
            </a:r>
          </a:p>
          <a:p xmlns:a="http://schemas.openxmlformats.org/drawingml/2006/main">
            <a:r>
              <a:t>The paper reports about ninety-five percent of its average benchmark performance at a much smaller token budget. The speedup shown here also comes from the paper, not my Kaggle measurements.</a:t>
            </a:r>
          </a:p>
          <a:p xmlns:a="http://schemas.openxmlformats.org/drawingml/2006/main">
            <a:r>
              <a:t/>
            </a:r>
          </a:p>
          <a:p xmlns:a="http://schemas.openxmlformats.org/drawingml/2006/main">
            <a:r>
              <a:t>My goal is to understand how this geometric criterion relates to preserving information needed for actual answers.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use LLaVA one point five, with seven billion parameters, and the native ApET implementation.</a:t>
            </a:r>
          </a:p>
          <a:p xmlns:a="http://schemas.openxmlformats.org/drawingml/2006/main">
            <a:r>
              <a:t/>
            </a:r>
          </a:p>
          <a:p xmlns:a="http://schemas.openxmlformats.org/drawingml/2006/main">
            <a:r>
              <a:t>The model starts with five hundred and seventy-six visual tokens. ApET compresses before the language model and again after block sixteen. Our two schedules average sixty-four or one hundred and ninety-two tokens across the decoder layers. Reconstruction scores selection; compression itself retains and merges features.</a:t>
            </a:r>
          </a:p>
          <a:p xmlns:a="http://schemas.openxmlformats.org/drawingml/2006/main">
            <a:r>
              <a:t/>
            </a:r>
          </a:p>
          <a:p xmlns:a="http://schemas.openxmlformats.org/drawingml/2006/main">
            <a:r>
              <a:t>Experiments run on two Kaggle T4 GPUs with a locked environment. The larger comparisons cover GQA, MMStar and TextVQA.</a:t>
            </a:r>
          </a:p>
          <a:p xmlns:a="http://schemas.openxmlformats.org/drawingml/2006/main">
            <a:r>
              <a:t/>
            </a:r>
          </a:p>
          <a:p xmlns:a="http://schemas.openxmlformats.org/drawingml/2006/main">
            <a:r>
              <a:t>RQ1 compares reconstruction-error rankings with measured answer sensitivity. RQ2 asks how selection and merging contribute to preservation. RQ3 considers a lightweight improvement only if the evidence supports it.</a:t>
            </a:r>
          </a:p>
          <a:p xmlns:a="http://schemas.openxmlformats.org/drawingml/2006/main">
            <a:r>
              <a:t/>
            </a:r>
          </a:p>
          <a:p xmlns:a="http://schemas.openxmlformats.org/drawingml/2006/main">
            <a:r>
              <a:t>The small RQ1 study is largely complete. Component attribution remains the main open question.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There are four findings.</a:t>
            </a:r>
          </a:p>
          <a:p xmlns:a="http://schemas.openxmlformats.org/drawingml/2006/main">
            <a:r>
              <a:t/>
            </a:r>
          </a:p>
          <a:p xmlns:a="http://schemas.openxmlformats.org/drawingml/2006/main">
            <a:r>
              <a:t>First, reconstruction error does not consistently agree with measured answer sensitivity. On thirty selected questions, we compared E rankings with an IH-inspired retain-one ranking. Median correlations were slightly negative, although individual questions differed. This scores the first reference-answer token, not true token importance.</a:t>
            </a:r>
          </a:p>
          <a:p xmlns:a="http://schemas.openxmlformats.org/drawingml/2006/main">
            <a:r>
              <a:t/>
            </a:r>
          </a:p>
          <a:p xmlns:a="http://schemas.openxmlformats.org/drawingml/2006/main">
            <a:r>
              <a:t>Second, retained tokens receive very different amounts of merging. In the earlier input-only panel, the lowest-E quarter of ordinary retained targets received about sixty-six percent of incoming merges. The highest-E quarter received about two percent.</a:t>
            </a:r>
          </a:p>
          <a:p xmlns:a="http://schemas.openxmlformats.org/drawingml/2006/main">
            <a:r>
              <a:t/>
            </a:r>
          </a:p>
          <a:p xmlns:a="http://schemas.openxmlformats.org/drawingml/2006/main">
            <a:r>
              <a:t>This may be expected: discarded low-error features may resemble these targets. It also explains why protecting the highest-E targets barely changed the computation. Some retained states may preserve distinctive features, while others collect discarded information. Whether this division helps answers still needs investigation.</a:t>
            </a:r>
          </a:p>
          <a:p xmlns:a="http://schemas.openxmlformats.org/drawingml/2006/main">
            <a:r>
              <a:t/>
            </a:r>
          </a:p>
          <a:p xmlns:a="http://schemas.openxmlformats.org/drawingml/2006/main">
            <a:r>
              <a:t>Third, ApET’s advantage over random selection depends on the task. At the same average budget of sixty-four tokens, the gap is about twenty-one score points on TextVQA, two and a half on GQA, and unclear on MMStar. TextVQA uses a consensus score; the other two use accuracy.</a:t>
            </a:r>
          </a:p>
          <a:p xmlns:a="http://schemas.openxmlformats.org/drawingml/2006/main">
            <a:r>
              <a:t/>
            </a:r>
          </a:p>
          <a:p xmlns:a="http://schemas.openxmlformats.org/drawingml/2006/main">
            <a:r>
              <a:t>Fourth, similar overall accuracy can hide different answers. At an average budget of one hundred and ninety-two, GQA loses thirty-four previously correct answers and gains twenty-six. On MMStar, it loses thirty-six and gains forty, while accuracy changes very little.</a:t>
            </a:r>
          </a:p>
          <a:p xmlns:a="http://schemas.openxmlformats.org/drawingml/2006/main">
            <a:r>
              <a:t/>
            </a:r>
          </a:p>
          <a:p xmlns:a="http://schemas.openxmlformats.org/drawingml/2006/main">
            <a:r>
              <a:t>So overall performance and answer preservation are separate outcomes. Both matter when we explain why compression works.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There were three main roadblocks.</a:t>
            </a:r>
          </a:p>
          <a:p xmlns:a="http://schemas.openxmlformats.org/drawingml/2006/main">
            <a:r>
              <a:t/>
            </a:r>
          </a:p>
          <a:p xmlns:a="http://schemas.openxmlformats.org/drawingml/2006/main">
            <a:r>
              <a:t>First, Kaggle package updates caused compatibility problems. The locked environment now makes the setup reproducible.</a:t>
            </a:r>
          </a:p>
          <a:p xmlns:a="http://schemas.openxmlformats.org/drawingml/2006/main">
            <a:r>
              <a:t/>
            </a:r>
          </a:p>
          <a:p xmlns:a="http://schemas.openxmlformats.org/drawingml/2006/main">
            <a:r>
              <a:t>Second, some fresh compressed runs changed answers, while replaying saved features gave identical outputs. One diagnostic found differences after merging. Floating-point accumulation is a possible cause, but the exact cause is unconfirmed. I keep first captures and repeat critical cases.</a:t>
            </a:r>
          </a:p>
          <a:p xmlns:a="http://schemas.openxmlformats.org/drawingml/2006/main">
            <a:r>
              <a:t/>
            </a:r>
          </a:p>
          <a:p xmlns:a="http://schemas.openxmlformats.org/drawingml/2006/main">
            <a:r>
              <a:t>Third, the diagnostic panel includes known ApET failures. It supports case analysis, while broader outcome-unselected cohorts are needed for method comparisons.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next steps are to explain these observations before choosing an improvement.</a:t>
            </a:r>
          </a:p>
          <a:p xmlns:a="http://schemas.openxmlformats.org/drawingml/2006/main">
            <a:r>
              <a:t/>
            </a:r>
          </a:p>
          <a:p xmlns:a="http://schemas.openxmlformats.org/drawingml/2006/main">
            <a:r>
              <a:t>First, separate selection from merging on a cohort not selected from ApET’s wins or losses. Compare E-based and random selection with basis handling and the merge rule fixed. Compare merging with dropping under the same selection.</a:t>
            </a:r>
          </a:p>
          <a:p xmlns:a="http://schemas.openxmlformats.org/drawingml/2006/main">
            <a:r>
              <a:t/>
            </a:r>
          </a:p>
          <a:p xmlns:a="http://schemas.openxmlformats.org/drawingml/2006/main">
            <a:r>
              <a:t>Second, investigate the different roles of retained tokens. Study merge loads and feature changes alongside answer turnover, across stages and tasks. This can test whether collecting discarded information helps some answers while disturbing others.</a:t>
            </a:r>
          </a:p>
          <a:p xmlns:a="http://schemas.openxmlformats.org/drawingml/2006/main">
            <a:r>
              <a:t/>
            </a:r>
          </a:p>
          <a:p xmlns:a="http://schemas.openxmlformats.org/drawingml/2006/main">
            <a:r>
              <a:t>Third, RQ3 remains exploratory. We have not chosen a fixed improvement direction. If the analysis identifies a consistent problem, we can evaluate one modest change.</a:t>
            </a:r>
          </a:p>
          <a:p xmlns:a="http://schemas.openxmlformats.org/drawingml/2006/main">
            <a:r>
              <a:t/>
            </a:r>
          </a:p>
          <a:p xmlns:a="http://schemas.openxmlformats.org/drawingml/2006/main">
            <a:r>
              <a:t>The main deliverable is one controlled comparison on at least one hundred outcome-unselected questions, with matched budgets, random seeds where relevant, and paired uncertainty estimates. A clear negative result also counts. Thank you.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eeff74468dd4ed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b3e79e62c9f45a2"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reserve="1">
  <p:cSld name="Title and body">
    <p:bg>
      <p:bgPr>
        <a:solidFill xmlns:a="http://schemas.openxmlformats.org/drawingml/2006/main">
          <a:srgbClr val="0F4C5C"/>
        </a:solidFill>
      </p:bgPr>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C8BE6171-E027-4640-8DB3-D49548AAF565}"/>
              </a:ext>
            </a:extLst>
          </p:cNvPr>
          <p:cNvSpPr>
            <a:spLocks xmlns:a="http://schemas.openxmlformats.org/drawingml/2006/main" noGrp="1"/>
          </p:cNvSpPr>
          <p:nvPr>
            <p:ph type="title" idx="0"/>
          </p:nvPr>
        </p:nvSpPr>
        <p:spPr>
          <a:xfrm xmlns:a="http://schemas.openxmlformats.org/drawingml/2006/main">
            <a:off x="812800" y="1196323"/>
            <a:ext cx="10566401" cy="670549"/>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lvl1pPr marL="0" indent="0" algn="l">
              <a:lnSpc>
                <a:spcPct val="110000"/>
              </a:lnSpc>
              <a:buNone/>
              <a:defRPr sz="4800">
                <a:solidFill>
                  <a:srgbClr val="F7F4EA"/>
                </a:solidFill>
                <a:latin typeface="Georgia"/>
                <a:ea typeface="Georgia"/>
                <a:cs typeface="Georgia"/>
              </a:defRPr>
            </a:lvl1pPr>
          </a:lstStyle>
          <a:p xmlns:a="http://schemas.openxmlformats.org/drawingml/2006/main">
            <a:pPr marL="0" indent="0" algn="l">
              <a:lnSpc>
                <a:spcPct val="110000"/>
              </a:lnSpc>
              <a:buNone/>
            </a:pPr>
          </a:p>
        </p:txBody>
      </p:sp>
      <p:sp>
        <p:nvSpPr>
          <p:cNvPr id="3" name="Text Placeholder 2">
            <a:extLst xmlns:a="http://schemas.openxmlformats.org/drawingml/2006/main">
              <a:ext uri="{FF2B5EF4-FFF2-40B4-BE49-F238E27FC236}">
                <a16:creationId xmlns:a16="http://schemas.microsoft.com/office/drawing/2014/main" id="{55E905D1-4489-4B0D-888F-93DD6EBE6024}"/>
              </a:ext>
            </a:extLst>
          </p:cNvPr>
          <p:cNvSpPr>
            <a:spLocks xmlns:a="http://schemas.openxmlformats.org/drawingml/2006/main" noGrp="1"/>
          </p:cNvSpPr>
          <p:nvPr>
            <p:ph type="body" idx="101"/>
          </p:nvPr>
        </p:nvSpPr>
        <p:spPr>
          <a:xfrm xmlns:a="http://schemas.openxmlformats.org/drawingml/2006/main">
            <a:off x="812800" y="2171672"/>
            <a:ext cx="10566400" cy="38735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lvl1pPr marL="0" indent="0" algn="l">
              <a:lnSpc>
                <a:spcPct val="140000"/>
              </a:lnSpc>
              <a:buNone/>
              <a:defRPr sz="1600">
                <a:solidFill>
                  <a:srgbClr val="F7F4EA"/>
                </a:solidFill>
                <a:latin typeface="Arial"/>
                <a:ea typeface="Arial"/>
                <a:cs typeface="Arial"/>
              </a:defRPr>
            </a:lvl1pPr>
          </a:lstStyle>
          <a:p xmlns:a="http://schemas.openxmlformats.org/drawingml/2006/main">
            <a:pPr marL="0" indent="0" algn="l">
              <a:lnSpc>
                <a:spcPct val="140000"/>
              </a:lnSpc>
              <a:buNone/>
            </a:p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412abd298fa4b03" /><Relationship Type="http://schemas.openxmlformats.org/officeDocument/2006/relationships/slideLayout" Target="/ppt/slideLayouts/slideLayout1.xml" Id="R34f56a60544c4cfb" /><Relationship Type="http://schemas.openxmlformats.org/officeDocument/2006/relationships/slideLayout" Target="/ppt/slideLayouts/slideLayout2.xml" Id="R3c13f52d644a46f2" /></Relationships>
</file>

<file path=ppt/slideMasters/slideMaster1.xml><?xml version="1.0" encoding="utf-8"?>
<p:sldMaster xmlns:p="http://schemas.openxmlformats.org/presentationml/2006/main">
  <p:cSld>
    <p:bg>
      <p:bgPr>
        <a:solidFill xmlns:a="http://schemas.openxmlformats.org/drawingml/2006/main">
          <a:srgbClr val="0F4C5C"/>
        </a:solidFill>
      </p:bgPr>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5C242A16-0F4A-4CDF-9B03-AA9A61BF3CBE}"/>
              </a:ext>
            </a:extLst>
          </p:cNvPr>
          <p:cNvSpPr>
            <a:spLocks xmlns:a="http://schemas.openxmlformats.org/drawingml/2006/main" noGrp="1"/>
          </p:cNvSpPr>
          <p:nvPr>
            <p:ph type="title" idx="0"/>
          </p:nvPr>
        </p:nvSpPr>
        <p:spPr>
          <a:xfrm xmlns:a="http://schemas.openxmlformats.org/drawingml/2006/main">
            <a:off x="812800" y="1196323"/>
            <a:ext cx="10566401" cy="670549"/>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lvl1pPr marL="0" indent="0" algn="l">
              <a:lnSpc>
                <a:spcPct val="110000"/>
              </a:lnSpc>
              <a:buNone/>
              <a:defRPr sz="4800">
                <a:solidFill>
                  <a:srgbClr val="F7F4EA"/>
                </a:solidFill>
                <a:latin typeface="Georgia"/>
                <a:ea typeface="Georgia"/>
                <a:cs typeface="Georgia"/>
              </a:defRPr>
            </a:lvl1pPr>
          </a:lstStyle>
          <a:p xmlns:a="http://schemas.openxmlformats.org/drawingml/2006/main">
            <a:pPr marL="0" indent="0" algn="l">
              <a:lnSpc>
                <a:spcPct val="110000"/>
              </a:lnSpc>
              <a:buNone/>
            </a:pPr>
          </a:p>
        </p:txBody>
      </p:sp>
      <p:sp>
        <p:nvSpPr>
          <p:cNvPr id="3" name="Text Placeholder 2">
            <a:extLst xmlns:a="http://schemas.openxmlformats.org/drawingml/2006/main">
              <a:ext uri="{FF2B5EF4-FFF2-40B4-BE49-F238E27FC236}">
                <a16:creationId xmlns:a16="http://schemas.microsoft.com/office/drawing/2014/main" id="{52AF8A3F-B886-4A58-98C7-AAEFA8545DDD}"/>
              </a:ext>
            </a:extLst>
          </p:cNvPr>
          <p:cNvSpPr>
            <a:spLocks xmlns:a="http://schemas.openxmlformats.org/drawingml/2006/main" noGrp="1"/>
          </p:cNvSpPr>
          <p:nvPr>
            <p:ph type="body" idx="101"/>
          </p:nvPr>
        </p:nvSpPr>
        <p:spPr>
          <a:xfrm xmlns:a="http://schemas.openxmlformats.org/drawingml/2006/main">
            <a:off x="812800" y="2171672"/>
            <a:ext cx="10566400" cy="3873528"/>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lvl1pPr marL="0" indent="0" algn="l">
              <a:lnSpc>
                <a:spcPct val="140000"/>
              </a:lnSpc>
              <a:buNone/>
              <a:defRPr sz="1600">
                <a:solidFill>
                  <a:srgbClr val="F7F4EA"/>
                </a:solidFill>
                <a:latin typeface="Arial"/>
                <a:ea typeface="Arial"/>
                <a:cs typeface="Arial"/>
              </a:defRPr>
            </a:lvl1pPr>
          </a:lstStyle>
          <a:p xmlns:a="http://schemas.openxmlformats.org/drawingml/2006/main">
            <a:pPr marL="0" indent="0" algn="l">
              <a:lnSpc>
                <a:spcPct val="140000"/>
              </a:lnSpc>
              <a:buNone/>
            </a:pPr>
          </a:p>
        </p:txBody>
      </p:sp>
    </p:spTree>
  </p:cSld>
  <p:clrMap bg1="dk1" tx1="lt1" bg2="dk2" tx2="lt2" accent1="accent1" accent2="accent2" accent3="accent3" accent4="accent4" accent5="accent5" accent6="accent6" hlink="hlink" folHlink="folHlink"/>
  <p:sldLayoutIdLst>
    <p:sldLayoutId xmlns:r="http://schemas.openxmlformats.org/officeDocument/2006/relationships" id="2147483649" r:id="R34f56a60544c4cfb"/>
    <p:sldLayoutId xmlns:r="http://schemas.openxmlformats.org/officeDocument/2006/relationships" id="2147483650" r:id="R3c13f52d644a46f2"/>
  </p:sldLayoutIdLst>
  <p:hf sldNum="0" hdr="0" ftr="0" dt="0"/>
  <p:txStyles>
    <p:titleStyle>
      <a:lvl1pPr xmlns:a="http://schemas.openxmlformats.org/drawingml/2006/main" algn="ctr">
        <a:spcBef>
          <a:spcPts val="0"/>
        </a:spcBef>
        <a:buNone/>
        <a:defRPr sz="4400">
          <a:solidFill>
            <a:schemeClr val="tx1"/>
          </a:solidFill>
          <a:latin typeface="+mj-lt"/>
          <a:ea typeface="+mj-lt"/>
          <a:cs typeface="+mj-lt"/>
        </a:defRPr>
      </a:lvl1pPr>
    </p:titleStyle>
    <p:bodyStyle>
      <a:lvl1pPr xmlns:a="http://schemas.openxmlformats.org/drawingml/2006/main" marL="342900" indent="-342900" algn="l">
        <a:spcBef>
          <a:spcPts val="0"/>
        </a:spcBef>
        <a:buChar char="•"/>
        <a:defRPr sz="3200">
          <a:solidFill>
            <a:schemeClr val="tx1"/>
          </a:solidFill>
          <a:latin typeface="+mn-lt"/>
          <a:ea typeface="+mn-lt"/>
          <a:cs typeface="+mn-lt"/>
        </a:defRPr>
      </a:lvl1pPr>
      <a:lvl2pPr xmlns:a="http://schemas.openxmlformats.org/drawingml/2006/main" marL="742950" indent="-285750" algn="l">
        <a:spcBef>
          <a:spcPts val="0"/>
        </a:spcBef>
        <a:buChar char="–"/>
        <a:defRPr sz="2800">
          <a:solidFill>
            <a:schemeClr val="tx1"/>
          </a:solidFill>
          <a:latin typeface="+mn-lt"/>
          <a:ea typeface="+mn-lt"/>
          <a:cs typeface="+mn-lt"/>
        </a:defRPr>
      </a:lvl2pPr>
      <a:lvl3pPr xmlns:a="http://schemas.openxmlformats.org/drawingml/2006/main" marL="1143000" indent="-228600" algn="l">
        <a:spcBef>
          <a:spcPts val="0"/>
        </a:spcBef>
        <a:buChar char="•"/>
        <a:defRPr sz="2400">
          <a:solidFill>
            <a:schemeClr val="tx1"/>
          </a:solidFill>
          <a:latin typeface="+mn-lt"/>
          <a:ea typeface="+mn-lt"/>
          <a:cs typeface="+mn-lt"/>
        </a:defRPr>
      </a:lvl3pPr>
      <a:lvl4pPr xmlns:a="http://schemas.openxmlformats.org/drawingml/2006/main" marL="1600200" indent="-228600" algn="l">
        <a:spcBef>
          <a:spcPts val="0"/>
        </a:spcBef>
        <a:buChar char="–"/>
        <a:defRPr sz="2000">
          <a:solidFill>
            <a:schemeClr val="tx1"/>
          </a:solidFill>
          <a:latin typeface="+mn-lt"/>
          <a:ea typeface="+mn-lt"/>
          <a:cs typeface="+mn-lt"/>
        </a:defRPr>
      </a:lvl4pPr>
      <a:lvl5pPr xmlns:a="http://schemas.openxmlformats.org/drawingml/2006/main" marL="2057400" indent="-228600" algn="l">
        <a:spcBef>
          <a:spcPts val="0"/>
        </a:spcBef>
        <a:buChar char="»"/>
        <a:defRPr sz="2000">
          <a:solidFill>
            <a:schemeClr val="tx1"/>
          </a:solidFill>
          <a:latin typeface="+mn-lt"/>
          <a:ea typeface="+mn-lt"/>
          <a:cs typeface="+mn-lt"/>
        </a:defRPr>
      </a:lvl5pPr>
      <a:lvl6pPr xmlns:a="http://schemas.openxmlformats.org/drawingml/2006/main" marL="2514600" indent="-228600" algn="l">
        <a:spcBef>
          <a:spcPts val="0"/>
        </a:spcBef>
        <a:buChar char="•"/>
        <a:defRPr sz="2000">
          <a:solidFill>
            <a:schemeClr val="tx1"/>
          </a:solidFill>
          <a:latin typeface="+mn-lt"/>
          <a:ea typeface="+mn-lt"/>
          <a:cs typeface="+mn-lt"/>
        </a:defRPr>
      </a:lvl6pPr>
      <a:lvl7pPr xmlns:a="http://schemas.openxmlformats.org/drawingml/2006/main" marL="2971800" indent="-228600" algn="l">
        <a:spcBef>
          <a:spcPts val="0"/>
        </a:spcBef>
        <a:buChar char="•"/>
        <a:defRPr sz="2000">
          <a:solidFill>
            <a:schemeClr val="tx1"/>
          </a:solidFill>
          <a:latin typeface="+mn-lt"/>
          <a:ea typeface="+mn-lt"/>
          <a:cs typeface="+mn-lt"/>
        </a:defRPr>
      </a:lvl7pPr>
      <a:lvl8pPr xmlns:a="http://schemas.openxmlformats.org/drawingml/2006/main" marL="3429000" indent="-228600" algn="l">
        <a:spcBef>
          <a:spcPts val="0"/>
        </a:spcBef>
        <a:buChar char="•"/>
        <a:defRPr sz="2000">
          <a:solidFill>
            <a:schemeClr val="tx1"/>
          </a:solidFill>
          <a:latin typeface="+mn-lt"/>
          <a:ea typeface="+mn-lt"/>
          <a:cs typeface="+mn-lt"/>
        </a:defRPr>
      </a:lvl8pPr>
      <a:lvl9pPr xmlns:a="http://schemas.openxmlformats.org/drawingml/2006/main" marL="3886200" indent="-228600" algn="l">
        <a:spcBef>
          <a:spcPts val="0"/>
        </a:spcBef>
        <a:buChar char="•"/>
        <a:defRPr sz="20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ApET Midterm — 5 Slides">
  <a:themeElements>
    <a:clrScheme name="ApET Midterm — 5 Slides">
      <a:dk1>
        <a:srgbClr val="0F4C5C"/>
      </a:dk1>
      <a:lt1>
        <a:srgbClr val="F7F4EA"/>
      </a:lt1>
      <a:dk2>
        <a:srgbClr val="265D6A"/>
      </a:dk2>
      <a:lt2>
        <a:srgbClr val="BDCAC7"/>
      </a:lt2>
      <a:accent1>
        <a:srgbClr val="E9B949"/>
      </a:accent1>
      <a:accent2>
        <a:srgbClr val="5C4300"/>
      </a:accent2>
      <a:accent3>
        <a:srgbClr val="F6E3A8"/>
      </a:accent3>
      <a:accent4>
        <a:srgbClr val="D9A62B"/>
      </a:accent4>
      <a:accent5>
        <a:srgbClr val="0F6B6E"/>
      </a:accent5>
      <a:accent6>
        <a:srgbClr val="12343B"/>
      </a:accent6>
      <a:hlink>
        <a:srgbClr val="0563C1"/>
      </a:hlink>
      <a:folHlink>
        <a:srgbClr val="954F72"/>
      </a:folHlink>
    </a:clrScheme>
    <a:fontScheme name="ApET Midterm — 5 Slide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ApET Midterm — 5 Slide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674a5de4de4d41ae" /><Relationship Type="http://schemas.openxmlformats.org/officeDocument/2006/relationships/notesSlide" Target="/ppt/notesSlides/notesSlide1.xml" Id="R9948b127f709422c"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274c5b4756cf4eb2" /><Relationship Type="http://schemas.openxmlformats.org/officeDocument/2006/relationships/image" Target="/ppt/media/image.png" Id="R88a20b8992d54d3a" /><Relationship Type="http://schemas.openxmlformats.org/officeDocument/2006/relationships/image" Target="/ppt/media/image2.png" Id="R6da867b4b45c4e04" /><Relationship Type="http://schemas.openxmlformats.org/officeDocument/2006/relationships/image" Target="/ppt/media/image3.png" Id="R76edf4cb90854f3d" /><Relationship Type="http://schemas.openxmlformats.org/officeDocument/2006/relationships/image" Target="/ppt/media/image4.png" Id="Rb3f1e078fc534ac5" /><Relationship Type="http://schemas.openxmlformats.org/officeDocument/2006/relationships/image" Target="/ppt/media/image5.png" Id="R3bccd4b7bd3d4763" /><Relationship Type="http://schemas.openxmlformats.org/officeDocument/2006/relationships/notesSlide" Target="/ppt/notesSlides/notesSlide2.xml" Id="Rbed6288156834e50"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51883060d5de42cb" /><Relationship Type="http://schemas.openxmlformats.org/officeDocument/2006/relationships/image" Target="/ppt/media/image6.png" Id="R07ba97ff1fae4769" /><Relationship Type="http://schemas.openxmlformats.org/officeDocument/2006/relationships/notesSlide" Target="/ppt/notesSlides/notesSlide3.xml" Id="R561fb34702334405"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dde6947cfd344da3" /><Relationship Type="http://schemas.openxmlformats.org/officeDocument/2006/relationships/notesSlide" Target="/ppt/notesSlides/notesSlide4.xml" Id="Rc525dabc3dc84996"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4d7cbe2957de4a5b" /><Relationship Type="http://schemas.openxmlformats.org/officeDocument/2006/relationships/notesSlide" Target="/ppt/notesSlides/notesSlide5.xml" Id="R5de14d4559354794" /></Relationships>
</file>

<file path=ppt/slides/slide1.xml><?xml version="1.0" encoding="utf-8"?>
<p:sld xmlns:p="http://schemas.openxmlformats.org/presentationml/2006/main">
  <p:cSld>
    <p:bg>
      <p:bgPr>
        <a:solidFill xmlns:a="http://schemas.openxmlformats.org/drawingml/2006/main">
          <a:srgbClr val="0F4C5C"/>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3D134904-CD5D-48DD-A3E7-2010F92CF18A}"/>
              </a:ext>
            </a:extLst>
          </p:cNvPr>
          <p:cNvSpPr>
            <a:spLocks xmlns:a="http://schemas.openxmlformats.org/drawingml/2006/main" noGrp="1"/>
          </p:cNvSpPr>
          <p:nvPr/>
        </p:nvSpPr>
        <p:spPr>
          <a:xfrm xmlns:a="http://schemas.openxmlformats.org/drawingml/2006/main">
            <a:off x="812800" y="812800"/>
            <a:ext cx="10883393" cy="256523"/>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820"/>
              </a:lnSpc>
              <a:buNone/>
            </a:pPr>
            <a:r>
              <a:rPr sz="1300" b="1" spc="150">
                <a:solidFill>
                  <a:srgbClr val="E9B949"/>
                </a:solidFill>
                <a:latin typeface="Arial"/>
                <a:ea typeface="Arial"/>
                <a:cs typeface="Arial"/>
              </a:rPr>
              <a:t>CSE590 · MIDTERM PROGRESS</a:t>
            </a:r>
          </a:p>
        </p:txBody>
      </p:sp>
      <p:sp>
        <p:nvSpPr>
          <p:cNvPr id="3" name="Text 1">
            <a:extLst xmlns:a="http://schemas.openxmlformats.org/drawingml/2006/main">
              <a:ext uri="{FF2B5EF4-FFF2-40B4-BE49-F238E27FC236}">
                <a16:creationId xmlns:a16="http://schemas.microsoft.com/office/drawing/2014/main" id="{E8C3E408-AAA5-4075-8EBB-A2CA4599199B}"/>
              </a:ext>
            </a:extLst>
          </p:cNvPr>
          <p:cNvSpPr>
            <a:spLocks xmlns:a="http://schemas.openxmlformats.org/drawingml/2006/main" noGrp="1"/>
          </p:cNvSpPr>
          <p:nvPr>
            <p:ph type="title" idx="0"/>
          </p:nvPr>
        </p:nvSpPr>
        <p:spPr>
          <a:xfrm xmlns:a="http://schemas.openxmlformats.org/drawingml/2006/main">
            <a:off x="812800" y="1196323"/>
            <a:ext cx="11379200" cy="695949"/>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5280"/>
              </a:lnSpc>
              <a:buNone/>
            </a:pPr>
            <a:r>
              <a:rPr sz="4800" b="1" i="0">
                <a:solidFill>
                  <a:srgbClr val="F7F4EA"/>
                </a:solidFill>
                <a:latin typeface="Georgia"/>
                <a:ea typeface="Georgia"/>
                <a:cs typeface="Georgia"/>
              </a:rPr>
              <a:t>When and why does ApET work?</a:t>
            </a:r>
          </a:p>
        </p:txBody>
      </p:sp>
      <p:sp>
        <p:nvSpPr>
          <p:cNvPr id="4" name="Text 2">
            <a:extLst xmlns:a="http://schemas.openxmlformats.org/drawingml/2006/main">
              <a:ext uri="{FF2B5EF4-FFF2-40B4-BE49-F238E27FC236}">
                <a16:creationId xmlns:a16="http://schemas.microsoft.com/office/drawing/2014/main" id="{1627E44A-0574-4AB0-9039-5497A87F4094}"/>
              </a:ext>
            </a:extLst>
          </p:cNvPr>
          <p:cNvSpPr>
            <a:spLocks xmlns:a="http://schemas.openxmlformats.org/drawingml/2006/main" noGrp="1"/>
          </p:cNvSpPr>
          <p:nvPr/>
        </p:nvSpPr>
        <p:spPr>
          <a:xfrm xmlns:a="http://schemas.openxmlformats.org/drawingml/2006/main">
            <a:off x="812800" y="2019272"/>
            <a:ext cx="9156701" cy="327649"/>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2380"/>
              </a:lnSpc>
              <a:buNone/>
            </a:pPr>
            <a:r>
              <a:rPr sz="1700">
                <a:solidFill>
                  <a:srgbClr val="CFE3E1"/>
                </a:solidFill>
                <a:latin typeface="Arial"/>
                <a:ea typeface="Arial"/>
                <a:cs typeface="Arial"/>
              </a:rPr>
              <a:t>Understanding reconstruction-based visual token compression in LLaVA-1.5-7B</a:t>
            </a:r>
          </a:p>
        </p:txBody>
      </p:sp>
      <p:sp>
        <p:nvSpPr>
          <p:cNvPr id="5" name="Shape 3">
            <a:extLst xmlns:a="http://schemas.openxmlformats.org/drawingml/2006/main">
              <a:ext uri="{FF2B5EF4-FFF2-40B4-BE49-F238E27FC236}">
                <a16:creationId xmlns:a16="http://schemas.microsoft.com/office/drawing/2014/main" id="{7BE42AF4-C3FE-4C05-BF84-9EA5E76A80E3}"/>
              </a:ext>
            </a:extLst>
          </p:cNvPr>
          <p:cNvSpPr>
            <a:spLocks xmlns:a="http://schemas.openxmlformats.org/drawingml/2006/main" noGrp="1"/>
          </p:cNvSpPr>
          <p:nvPr/>
        </p:nvSpPr>
        <p:spPr>
          <a:xfrm xmlns:a="http://schemas.openxmlformats.org/drawingml/2006/main">
            <a:off x="828675" y="3270307"/>
            <a:ext cx="0" cy="1361338"/>
          </a:xfrm>
          <a:prstGeom xmlns:a="http://schemas.openxmlformats.org/drawingml/2006/main" prst="line">
            <a:avLst/>
          </a:prstGeom>
          <a:noFill xmlns:a="http://schemas.openxmlformats.org/drawingml/2006/main"/>
          <a:ln xmlns:a="http://schemas.openxmlformats.org/drawingml/2006/main" w="31750">
            <a:solidFill>
              <a:srgbClr val="E9B949"/>
            </a:solidFill>
            <a:prstDash val="solid"/>
          </a:ln>
        </p:spPr>
      </p:sp>
      <p:sp>
        <p:nvSpPr>
          <p:cNvPr id="6" name="Text 4">
            <a:extLst xmlns:a="http://schemas.openxmlformats.org/drawingml/2006/main">
              <a:ext uri="{FF2B5EF4-FFF2-40B4-BE49-F238E27FC236}">
                <a16:creationId xmlns:a16="http://schemas.microsoft.com/office/drawing/2014/main" id="{7A8BAD7A-0FF1-44BB-980C-14B075951B28}"/>
              </a:ext>
            </a:extLst>
          </p:cNvPr>
          <p:cNvSpPr>
            <a:spLocks xmlns:a="http://schemas.openxmlformats.org/drawingml/2006/main" noGrp="1"/>
          </p:cNvSpPr>
          <p:nvPr/>
        </p:nvSpPr>
        <p:spPr>
          <a:xfrm xmlns:a="http://schemas.openxmlformats.org/drawingml/2006/main">
            <a:off x="1021443" y="3308407"/>
            <a:ext cx="3238482" cy="238749"/>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spc="100">
                <a:solidFill>
                  <a:srgbClr val="E9B949"/>
                </a:solidFill>
                <a:latin typeface="Arial"/>
                <a:ea typeface="Arial"/>
                <a:cs typeface="Arial"/>
              </a:rPr>
              <a:t>APET IN ONE LINE</a:t>
            </a:r>
          </a:p>
        </p:txBody>
      </p:sp>
      <p:sp>
        <p:nvSpPr>
          <p:cNvPr id="7" name="Text 5">
            <a:extLst xmlns:a="http://schemas.openxmlformats.org/drawingml/2006/main">
              <a:ext uri="{FF2B5EF4-FFF2-40B4-BE49-F238E27FC236}">
                <a16:creationId xmlns:a16="http://schemas.microsoft.com/office/drawing/2014/main" id="{69299866-68A1-4047-99CB-4824BFBF03F8}"/>
              </a:ext>
            </a:extLst>
          </p:cNvPr>
          <p:cNvSpPr>
            <a:spLocks xmlns:a="http://schemas.openxmlformats.org/drawingml/2006/main" noGrp="1"/>
          </p:cNvSpPr>
          <p:nvPr/>
        </p:nvSpPr>
        <p:spPr>
          <a:xfrm xmlns:a="http://schemas.openxmlformats.org/drawingml/2006/main">
            <a:off x="1021443" y="3597956"/>
            <a:ext cx="3238482" cy="1020989"/>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1960"/>
              </a:lnSpc>
              <a:buNone/>
              <a:defRPr sz="1400" b="0" i="0">
                <a:solidFill>
                  <a:srgbClr val="F7F4EA"/>
                </a:solidFill>
                <a:latin typeface="Arial"/>
                <a:ea typeface="Arial"/>
                <a:cs typeface="Arial"/>
              </a:defRPr>
            </a:pPr>
            <a:r>
              <a:rPr sz="1400" b="0" i="0">
                <a:solidFill>
                  <a:srgbClr val="F7F4EA"/>
                </a:solidFill>
                <a:latin typeface="Arial"/>
                <a:ea typeface="Arial"/>
                <a:cs typeface="Arial"/>
              </a:rPr>
              <a:t>No attention scores for selection: keep hard-to-reconstruct features; merge discarded states into similar retained states.</a:t>
            </a:r>
          </a:p>
        </p:txBody>
      </p:sp>
      <p:sp>
        <p:nvSpPr>
          <p:cNvPr id="8" name="Shape 6">
            <a:extLst xmlns:a="http://schemas.openxmlformats.org/drawingml/2006/main">
              <a:ext uri="{FF2B5EF4-FFF2-40B4-BE49-F238E27FC236}">
                <a16:creationId xmlns:a16="http://schemas.microsoft.com/office/drawing/2014/main" id="{28F525C4-D4B4-47B0-9DDE-3C164047246B}"/>
              </a:ext>
            </a:extLst>
          </p:cNvPr>
          <p:cNvSpPr>
            <a:spLocks xmlns:a="http://schemas.openxmlformats.org/drawingml/2006/main" noGrp="1"/>
          </p:cNvSpPr>
          <p:nvPr/>
        </p:nvSpPr>
        <p:spPr>
          <a:xfrm xmlns:a="http://schemas.openxmlformats.org/drawingml/2006/main">
            <a:off x="4435475" y="3270307"/>
            <a:ext cx="0" cy="1361338"/>
          </a:xfrm>
          <a:prstGeom xmlns:a="http://schemas.openxmlformats.org/drawingml/2006/main" prst="line">
            <a:avLst/>
          </a:prstGeom>
          <a:noFill xmlns:a="http://schemas.openxmlformats.org/drawingml/2006/main"/>
          <a:ln xmlns:a="http://schemas.openxmlformats.org/drawingml/2006/main" w="31750">
            <a:solidFill>
              <a:srgbClr val="E9B949"/>
            </a:solidFill>
            <a:prstDash val="solid"/>
          </a:ln>
        </p:spPr>
      </p:sp>
      <p:sp>
        <p:nvSpPr>
          <p:cNvPr id="9" name="Text 7">
            <a:extLst xmlns:a="http://schemas.openxmlformats.org/drawingml/2006/main">
              <a:ext uri="{FF2B5EF4-FFF2-40B4-BE49-F238E27FC236}">
                <a16:creationId xmlns:a16="http://schemas.microsoft.com/office/drawing/2014/main" id="{80CD48DB-480D-4392-9F84-EE7ACCCE7281}"/>
              </a:ext>
            </a:extLst>
          </p:cNvPr>
          <p:cNvSpPr>
            <a:spLocks xmlns:a="http://schemas.openxmlformats.org/drawingml/2006/main" noGrp="1"/>
          </p:cNvSpPr>
          <p:nvPr/>
        </p:nvSpPr>
        <p:spPr>
          <a:xfrm xmlns:a="http://schemas.openxmlformats.org/drawingml/2006/main">
            <a:off x="4628243" y="3308407"/>
            <a:ext cx="3238482" cy="238749"/>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spc="100">
                <a:solidFill>
                  <a:srgbClr val="E9B949"/>
                </a:solidFill>
                <a:latin typeface="Arial"/>
                <a:ea typeface="Arial"/>
                <a:cs typeface="Arial"/>
              </a:rPr>
              <a:t>SIMPLE, AND STRONG</a:t>
            </a:r>
          </a:p>
        </p:txBody>
      </p:sp>
      <p:sp>
        <p:nvSpPr>
          <p:cNvPr id="10" name="Text 8">
            <a:extLst xmlns:a="http://schemas.openxmlformats.org/drawingml/2006/main">
              <a:ext uri="{FF2B5EF4-FFF2-40B4-BE49-F238E27FC236}">
                <a16:creationId xmlns:a16="http://schemas.microsoft.com/office/drawing/2014/main" id="{BE1B7404-62ED-4C1C-82CF-2381D25E6F28}"/>
              </a:ext>
            </a:extLst>
          </p:cNvPr>
          <p:cNvSpPr>
            <a:spLocks xmlns:a="http://schemas.openxmlformats.org/drawingml/2006/main" noGrp="1"/>
          </p:cNvSpPr>
          <p:nvPr/>
        </p:nvSpPr>
        <p:spPr>
          <a:xfrm xmlns:a="http://schemas.openxmlformats.org/drawingml/2006/main">
            <a:off x="4628243" y="3597956"/>
            <a:ext cx="3238482" cy="1020989"/>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1960"/>
              </a:lnSpc>
              <a:buNone/>
              <a:defRPr sz="1400" b="0" i="0">
                <a:solidFill>
                  <a:srgbClr val="F7F4EA"/>
                </a:solidFill>
                <a:latin typeface="Arial"/>
                <a:ea typeface="Arial"/>
                <a:cs typeface="Arial"/>
              </a:defRPr>
            </a:pPr>
            <a:r>
              <a:rPr sz="1400" b="0" i="0">
                <a:solidFill>
                  <a:srgbClr val="F7F4EA"/>
                </a:solidFill>
                <a:latin typeface="Arial"/>
                <a:ea typeface="Arial"/>
                <a:cs typeface="Arial"/>
              </a:rPr>
              <a:t>At an average budget of 64 visual tokens, the paper reports 95.2% relative performance and 1.46× total inference speedup.</a:t>
            </a:r>
          </a:p>
        </p:txBody>
      </p:sp>
      <p:sp>
        <p:nvSpPr>
          <p:cNvPr id="11" name="Shape 9">
            <a:extLst xmlns:a="http://schemas.openxmlformats.org/drawingml/2006/main">
              <a:ext uri="{FF2B5EF4-FFF2-40B4-BE49-F238E27FC236}">
                <a16:creationId xmlns:a16="http://schemas.microsoft.com/office/drawing/2014/main" id="{D2DE44A6-4027-4E62-85AC-70B689EB3949}"/>
              </a:ext>
            </a:extLst>
          </p:cNvPr>
          <p:cNvSpPr>
            <a:spLocks xmlns:a="http://schemas.openxmlformats.org/drawingml/2006/main" noGrp="1"/>
          </p:cNvSpPr>
          <p:nvPr/>
        </p:nvSpPr>
        <p:spPr>
          <a:xfrm xmlns:a="http://schemas.openxmlformats.org/drawingml/2006/main">
            <a:off x="8042275" y="3270307"/>
            <a:ext cx="0" cy="1361338"/>
          </a:xfrm>
          <a:prstGeom xmlns:a="http://schemas.openxmlformats.org/drawingml/2006/main" prst="line">
            <a:avLst/>
          </a:prstGeom>
          <a:noFill xmlns:a="http://schemas.openxmlformats.org/drawingml/2006/main"/>
          <a:ln xmlns:a="http://schemas.openxmlformats.org/drawingml/2006/main" w="31750">
            <a:solidFill>
              <a:srgbClr val="E9B949"/>
            </a:solidFill>
            <a:prstDash val="solid"/>
          </a:ln>
        </p:spPr>
      </p:sp>
      <p:sp>
        <p:nvSpPr>
          <p:cNvPr id="12" name="Text 10">
            <a:extLst xmlns:a="http://schemas.openxmlformats.org/drawingml/2006/main">
              <a:ext uri="{FF2B5EF4-FFF2-40B4-BE49-F238E27FC236}">
                <a16:creationId xmlns:a16="http://schemas.microsoft.com/office/drawing/2014/main" id="{F005E1AC-0AA3-4835-8E6F-09B41B3A3205}"/>
              </a:ext>
            </a:extLst>
          </p:cNvPr>
          <p:cNvSpPr>
            <a:spLocks xmlns:a="http://schemas.openxmlformats.org/drawingml/2006/main" noGrp="1"/>
          </p:cNvSpPr>
          <p:nvPr/>
        </p:nvSpPr>
        <p:spPr>
          <a:xfrm xmlns:a="http://schemas.openxmlformats.org/drawingml/2006/main">
            <a:off x="8235043" y="3308407"/>
            <a:ext cx="3238482" cy="238749"/>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b="1" spc="100">
                <a:solidFill>
                  <a:srgbClr val="E9B949"/>
                </a:solidFill>
                <a:latin typeface="Arial"/>
                <a:ea typeface="Arial"/>
                <a:cs typeface="Arial"/>
              </a:rPr>
              <a:t>OUR QUESTION</a:t>
            </a:r>
          </a:p>
        </p:txBody>
      </p:sp>
      <p:sp>
        <p:nvSpPr>
          <p:cNvPr id="13" name="Text 11">
            <a:extLst xmlns:a="http://schemas.openxmlformats.org/drawingml/2006/main">
              <a:ext uri="{FF2B5EF4-FFF2-40B4-BE49-F238E27FC236}">
                <a16:creationId xmlns:a16="http://schemas.microsoft.com/office/drawing/2014/main" id="{D92DE69A-A6B1-4813-B616-33FF11790C29}"/>
              </a:ext>
            </a:extLst>
          </p:cNvPr>
          <p:cNvSpPr>
            <a:spLocks xmlns:a="http://schemas.openxmlformats.org/drawingml/2006/main" noGrp="1"/>
          </p:cNvSpPr>
          <p:nvPr/>
        </p:nvSpPr>
        <p:spPr>
          <a:xfrm xmlns:a="http://schemas.openxmlformats.org/drawingml/2006/main">
            <a:off x="8235043" y="3597956"/>
            <a:ext cx="3238482" cy="77209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960"/>
              </a:lnSpc>
              <a:buNone/>
            </a:pPr>
            <a:r>
              <a:rPr sz="1400">
                <a:solidFill>
                  <a:srgbClr val="F7F4EA"/>
                </a:solidFill>
                <a:latin typeface="Arial"/>
                <a:ea typeface="Arial"/>
                <a:cs typeface="Arial"/>
              </a:rPr>
              <a:t>How can a linear, geometric criterion work inside a nonlinear VLM, and when does it fail?</a:t>
            </a:r>
          </a:p>
        </p:txBody>
      </p:sp>
      <p:sp>
        <p:nvSpPr>
          <p:cNvPr id="14" name="Text 12">
            <a:extLst xmlns:a="http://schemas.openxmlformats.org/drawingml/2006/main">
              <a:ext uri="{FF2B5EF4-FFF2-40B4-BE49-F238E27FC236}">
                <a16:creationId xmlns:a16="http://schemas.microsoft.com/office/drawing/2014/main" id="{9CFC9144-390D-4FD0-8FC4-C77F2EAFB52D}"/>
              </a:ext>
            </a:extLst>
          </p:cNvPr>
          <p:cNvSpPr>
            <a:spLocks xmlns:a="http://schemas.openxmlformats.org/drawingml/2006/main" noGrp="1"/>
          </p:cNvSpPr>
          <p:nvPr/>
        </p:nvSpPr>
        <p:spPr>
          <a:xfrm xmlns:a="http://schemas.openxmlformats.org/drawingml/2006/main">
            <a:off x="812800" y="5580403"/>
            <a:ext cx="10883393" cy="238749"/>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CFE3E1"/>
                </a:solidFill>
                <a:latin typeface="Arial"/>
                <a:ea typeface="Arial"/>
                <a:cs typeface="Arial"/>
              </a:rPr>
              <a:t>Peng Chen · SBU ID 117702477 · October 2026</a:t>
            </a:r>
          </a:p>
        </p:txBody>
      </p:sp>
      <p:sp>
        <p:nvSpPr>
          <p:cNvPr id="15" name="Text 13">
            <a:extLst xmlns:a="http://schemas.openxmlformats.org/drawingml/2006/main">
              <a:ext uri="{FF2B5EF4-FFF2-40B4-BE49-F238E27FC236}">
                <a16:creationId xmlns:a16="http://schemas.microsoft.com/office/drawing/2014/main" id="{A43F1A88-F762-4526-95C8-B5B9BE3CCB8A}"/>
              </a:ext>
            </a:extLst>
          </p:cNvPr>
          <p:cNvSpPr>
            <a:spLocks xmlns:a="http://schemas.openxmlformats.org/drawingml/2006/main" noGrp="1"/>
          </p:cNvSpPr>
          <p:nvPr/>
        </p:nvSpPr>
        <p:spPr>
          <a:xfrm xmlns:a="http://schemas.openxmlformats.org/drawingml/2006/main">
            <a:off x="812800" y="5831852"/>
            <a:ext cx="11379200" cy="238749"/>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1680"/>
              </a:lnSpc>
              <a:buNone/>
              <a:defRPr sz="1200" b="0" i="0">
                <a:solidFill>
                  <a:srgbClr val="CFE3E1"/>
                </a:solidFill>
                <a:latin typeface="Arial"/>
                <a:ea typeface="Arial"/>
                <a:cs typeface="Arial"/>
              </a:defRPr>
            </a:pPr>
            <a:r>
              <a:rPr sz="1200" b="0" i="0">
                <a:solidFill>
                  <a:srgbClr val="CFE3E1"/>
                </a:solidFill>
                <a:latin typeface="Arial"/>
                <a:ea typeface="Arial"/>
                <a:cs typeface="Arial"/>
              </a:rPr>
              <a:t>Published results: Ma et al., CVPR 2026, Tables 1 and 7. Speed measured on POPE / single A100; not our Kaggle timing.</a:t>
            </a:r>
          </a:p>
        </p:txBody>
      </p:sp>
    </p:spTree>
    <p:extLst>
      <p:ext uri="{BB962C8B-B14F-4D97-AF65-F5344CB8AC3E}">
        <p14:creationId xmlns:p14="http://schemas.microsoft.com/office/powerpoint/2010/main" val="2011197497"/>
      </p:ext>
    </p:extLst>
  </p:cSld>
</p:sld>
</file>

<file path=ppt/slides/slide2.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35767118-26F2-44F8-9F85-1EC15BFEC154}"/>
              </a:ext>
            </a:extLst>
          </p:cNvPr>
          <p:cNvSpPr>
            <a:spLocks xmlns:a="http://schemas.openxmlformats.org/drawingml/2006/main" noGrp="1"/>
          </p:cNvSpPr>
          <p:nvPr>
            <p:ph type="title" idx="0"/>
          </p:nvPr>
        </p:nvSpPr>
        <p:spPr>
          <a:xfrm xmlns:a="http://schemas.openxmlformats.org/drawingml/2006/main">
            <a:off x="812800" y="812800"/>
            <a:ext cx="10883393" cy="472423"/>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520"/>
              </a:lnSpc>
              <a:buNone/>
            </a:pPr>
            <a:r>
              <a:rPr sz="3200" b="1" i="0">
                <a:solidFill>
                  <a:srgbClr val="0F4C5C"/>
                </a:solidFill>
                <a:latin typeface="Georgia"/>
                <a:ea typeface="Georgia"/>
                <a:cs typeface="Georgia"/>
              </a:rPr>
              <a:t>Method and three research questions</a:t>
            </a:r>
          </a:p>
        </p:txBody>
      </p:sp>
      <p:sp>
        <p:nvSpPr>
          <p:cNvPr id="3" name="Shape 1">
            <a:extLst xmlns:a="http://schemas.openxmlformats.org/drawingml/2006/main">
              <a:ext uri="{FF2B5EF4-FFF2-40B4-BE49-F238E27FC236}">
                <a16:creationId xmlns:a16="http://schemas.microsoft.com/office/drawing/2014/main" id="{A91BE9B1-8952-47B6-A29E-9705CABDE42A}"/>
              </a:ext>
            </a:extLst>
          </p:cNvPr>
          <p:cNvSpPr>
            <a:spLocks xmlns:a="http://schemas.openxmlformats.org/drawingml/2006/main" noGrp="1"/>
          </p:cNvSpPr>
          <p:nvPr/>
        </p:nvSpPr>
        <p:spPr>
          <a:xfrm xmlns:a="http://schemas.openxmlformats.org/drawingml/2006/main">
            <a:off x="819150" y="1449416"/>
            <a:ext cx="1427219" cy="736572"/>
          </a:xfrm>
          <a:prstGeom xmlns:a="http://schemas.openxmlformats.org/drawingml/2006/main" prst="roundRect">
            <a:avLst>
              <a:gd name="adj" fmla="val 9483"/>
            </a:avLst>
          </a:prstGeom>
          <a:solidFill xmlns:a="http://schemas.openxmlformats.org/drawingml/2006/main">
            <a:srgbClr val="FCFBF6"/>
          </a:solidFill>
          <a:ln xmlns:a="http://schemas.openxmlformats.org/drawingml/2006/main" w="12700">
            <a:solidFill>
              <a:srgbClr val="7FA9AC"/>
            </a:solidFill>
            <a:prstDash val="solid"/>
          </a:ln>
        </p:spPr>
      </p:sp>
      <p:sp>
        <p:nvSpPr>
          <p:cNvPr id="4" name="Text 2">
            <a:extLst xmlns:a="http://schemas.openxmlformats.org/drawingml/2006/main">
              <a:ext uri="{FF2B5EF4-FFF2-40B4-BE49-F238E27FC236}">
                <a16:creationId xmlns:a16="http://schemas.microsoft.com/office/drawing/2014/main" id="{5A4806D9-4E61-4C42-A95A-9E17A7460EEB}"/>
              </a:ext>
            </a:extLst>
          </p:cNvPr>
          <p:cNvSpPr>
            <a:spLocks xmlns:a="http://schemas.openxmlformats.org/drawingml/2006/main" noGrp="1"/>
          </p:cNvSpPr>
          <p:nvPr/>
        </p:nvSpPr>
        <p:spPr>
          <a:xfrm xmlns:a="http://schemas.openxmlformats.org/drawingml/2006/main">
            <a:off x="1246434" y="1582766"/>
            <a:ext cx="572623" cy="256523"/>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20"/>
              </a:lnSpc>
              <a:buNone/>
            </a:pPr>
            <a:r>
              <a:rPr sz="1300" b="1">
                <a:solidFill>
                  <a:srgbClr val="1C3540"/>
                </a:solidFill>
                <a:latin typeface="Arial"/>
                <a:ea typeface="Arial"/>
                <a:cs typeface="Arial"/>
              </a:rPr>
              <a:t>Image</a:t>
            </a:r>
          </a:p>
        </p:txBody>
      </p:sp>
      <p:sp>
        <p:nvSpPr>
          <p:cNvPr id="5" name="Text 3">
            <a:extLst xmlns:a="http://schemas.openxmlformats.org/drawingml/2006/main">
              <a:ext uri="{FF2B5EF4-FFF2-40B4-BE49-F238E27FC236}">
                <a16:creationId xmlns:a16="http://schemas.microsoft.com/office/drawing/2014/main" id="{BE940C11-B740-48B2-97A2-E195E48ED6AB}"/>
              </a:ext>
            </a:extLst>
          </p:cNvPr>
          <p:cNvSpPr>
            <a:spLocks xmlns:a="http://schemas.openxmlformats.org/drawingml/2006/main" noGrp="1"/>
          </p:cNvSpPr>
          <p:nvPr/>
        </p:nvSpPr>
        <p:spPr>
          <a:xfrm xmlns:a="http://schemas.openxmlformats.org/drawingml/2006/main">
            <a:off x="1174214" y="1839289"/>
            <a:ext cx="717062" cy="238749"/>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E66"/>
                </a:solidFill>
                <a:latin typeface="Arial"/>
                <a:ea typeface="Arial"/>
                <a:cs typeface="Arial"/>
              </a:rPr>
              <a:t>336×336</a:t>
            </a:r>
          </a:p>
        </p:txBody>
      </p:sp>
      <p:pic>
        <p:nvPicPr>
          <p:cNvPr id="50" name="Image 0"/>
          <p:cNvPicPr>
            <a:picLocks xmlns:a="http://schemas.openxmlformats.org/drawingml/2006/main" noChangeAspect="1"/>
          </p:cNvPicPr>
          <p:nvPr/>
        </p:nvPicPr>
        <p:blipFill>
          <a:blip xmlns:r="http://schemas.openxmlformats.org/officeDocument/2006/relationships" xmlns:a="http://schemas.openxmlformats.org/drawingml/2006/main" r:embed="R88a20b8992d54d3a"/>
          <a:srcRect xmlns:a="http://schemas.openxmlformats.org/drawingml/2006/main" l="0" t="0" r="0" b="0"/>
          <a:stretch xmlns:a="http://schemas.openxmlformats.org/drawingml/2006/main"/>
        </p:blipFill>
        <p:spPr>
          <a:xfrm xmlns:a="http://schemas.openxmlformats.org/drawingml/2006/main">
            <a:off x="2328919" y="1760538"/>
            <a:ext cx="228600" cy="114300"/>
          </a:xfrm>
          <a:prstGeom xmlns:a="http://schemas.openxmlformats.org/drawingml/2006/main" prst="rect">
            <a:avLst/>
          </a:prstGeom>
        </p:spPr>
      </p:pic>
      <p:sp>
        <p:nvSpPr>
          <p:cNvPr id="7" name="Shape 4">
            <a:extLst xmlns:a="http://schemas.openxmlformats.org/drawingml/2006/main">
              <a:ext uri="{FF2B5EF4-FFF2-40B4-BE49-F238E27FC236}">
                <a16:creationId xmlns:a16="http://schemas.microsoft.com/office/drawing/2014/main" id="{39B05A10-FABD-4BDB-A031-C66C5EC5328B}"/>
              </a:ext>
            </a:extLst>
          </p:cNvPr>
          <p:cNvSpPr>
            <a:spLocks xmlns:a="http://schemas.openxmlformats.org/drawingml/2006/main" noGrp="1"/>
          </p:cNvSpPr>
          <p:nvPr/>
        </p:nvSpPr>
        <p:spPr>
          <a:xfrm xmlns:a="http://schemas.openxmlformats.org/drawingml/2006/main">
            <a:off x="2640069" y="1449416"/>
            <a:ext cx="1427248" cy="736572"/>
          </a:xfrm>
          <a:prstGeom xmlns:a="http://schemas.openxmlformats.org/drawingml/2006/main" prst="roundRect">
            <a:avLst>
              <a:gd name="adj" fmla="val 9483"/>
            </a:avLst>
          </a:prstGeom>
          <a:solidFill xmlns:a="http://schemas.openxmlformats.org/drawingml/2006/main">
            <a:srgbClr val="FCFBF6"/>
          </a:solidFill>
          <a:ln xmlns:a="http://schemas.openxmlformats.org/drawingml/2006/main" w="12700">
            <a:solidFill>
              <a:srgbClr val="7FA9AC"/>
            </a:solidFill>
            <a:prstDash val="solid"/>
          </a:ln>
        </p:spPr>
      </p:sp>
      <p:sp>
        <p:nvSpPr>
          <p:cNvPr id="8" name="Text 5">
            <a:extLst xmlns:a="http://schemas.openxmlformats.org/drawingml/2006/main">
              <a:ext uri="{FF2B5EF4-FFF2-40B4-BE49-F238E27FC236}">
                <a16:creationId xmlns:a16="http://schemas.microsoft.com/office/drawing/2014/main" id="{1C15370B-29E2-422E-AA5E-E853D947E0D9}"/>
              </a:ext>
            </a:extLst>
          </p:cNvPr>
          <p:cNvSpPr>
            <a:spLocks xmlns:a="http://schemas.openxmlformats.org/drawingml/2006/main" noGrp="1"/>
          </p:cNvSpPr>
          <p:nvPr/>
        </p:nvSpPr>
        <p:spPr>
          <a:xfrm xmlns:a="http://schemas.openxmlformats.org/drawingml/2006/main">
            <a:off x="2716933" y="1582766"/>
            <a:ext cx="1273493" cy="256523"/>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20"/>
              </a:lnSpc>
              <a:buNone/>
            </a:pPr>
            <a:r>
              <a:rPr sz="1300" b="1">
                <a:solidFill>
                  <a:srgbClr val="1C3540"/>
                </a:solidFill>
                <a:latin typeface="Arial"/>
                <a:ea typeface="Arial"/>
                <a:cs typeface="Arial"/>
              </a:rPr>
              <a:t>CLIP encoder</a:t>
            </a:r>
          </a:p>
        </p:txBody>
      </p:sp>
      <p:sp>
        <p:nvSpPr>
          <p:cNvPr id="9" name="Text 6">
            <a:extLst xmlns:a="http://schemas.openxmlformats.org/drawingml/2006/main">
              <a:ext uri="{FF2B5EF4-FFF2-40B4-BE49-F238E27FC236}">
                <a16:creationId xmlns:a16="http://schemas.microsoft.com/office/drawing/2014/main" id="{8818B39F-AB99-4DB7-8139-F9ED6AE38515}"/>
              </a:ext>
            </a:extLst>
          </p:cNvPr>
          <p:cNvSpPr>
            <a:spLocks xmlns:a="http://schemas.openxmlformats.org/drawingml/2006/main" noGrp="1"/>
          </p:cNvSpPr>
          <p:nvPr/>
        </p:nvSpPr>
        <p:spPr>
          <a:xfrm xmlns:a="http://schemas.openxmlformats.org/drawingml/2006/main">
            <a:off x="2906307" y="1839289"/>
            <a:ext cx="894772" cy="238749"/>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E66"/>
                </a:solidFill>
                <a:latin typeface="Arial"/>
                <a:ea typeface="Arial"/>
                <a:cs typeface="Arial"/>
              </a:rPr>
              <a:t>576 tokens</a:t>
            </a:r>
          </a:p>
        </p:txBody>
      </p:sp>
      <p:pic>
        <p:nvPicPr>
          <p:cNvPr id="54" name="Image 1"/>
          <p:cNvPicPr>
            <a:picLocks xmlns:a="http://schemas.openxmlformats.org/drawingml/2006/main" noChangeAspect="1"/>
          </p:cNvPicPr>
          <p:nvPr/>
        </p:nvPicPr>
        <p:blipFill>
          <a:blip xmlns:r="http://schemas.openxmlformats.org/officeDocument/2006/relationships" xmlns:a="http://schemas.openxmlformats.org/drawingml/2006/main" r:embed="R6da867b4b45c4e04"/>
          <a:srcRect xmlns:a="http://schemas.openxmlformats.org/drawingml/2006/main" l="0" t="0" r="0" b="0"/>
          <a:stretch xmlns:a="http://schemas.openxmlformats.org/drawingml/2006/main"/>
        </p:blipFill>
        <p:spPr>
          <a:xfrm xmlns:a="http://schemas.openxmlformats.org/drawingml/2006/main">
            <a:off x="4149867" y="1760538"/>
            <a:ext cx="228600" cy="114300"/>
          </a:xfrm>
          <a:prstGeom xmlns:a="http://schemas.openxmlformats.org/drawingml/2006/main" prst="rect">
            <a:avLst/>
          </a:prstGeom>
        </p:spPr>
      </p:pic>
      <p:sp>
        <p:nvSpPr>
          <p:cNvPr id="11" name="Shape 7">
            <a:extLst xmlns:a="http://schemas.openxmlformats.org/drawingml/2006/main">
              <a:ext uri="{FF2B5EF4-FFF2-40B4-BE49-F238E27FC236}">
                <a16:creationId xmlns:a16="http://schemas.microsoft.com/office/drawing/2014/main" id="{1950111C-E653-44DB-A6E6-7555737D4AE1}"/>
              </a:ext>
            </a:extLst>
          </p:cNvPr>
          <p:cNvSpPr>
            <a:spLocks xmlns:a="http://schemas.openxmlformats.org/drawingml/2006/main" noGrp="1"/>
          </p:cNvSpPr>
          <p:nvPr/>
        </p:nvSpPr>
        <p:spPr>
          <a:xfrm xmlns:a="http://schemas.openxmlformats.org/drawingml/2006/main">
            <a:off x="4464192" y="1447148"/>
            <a:ext cx="1431755" cy="741107"/>
          </a:xfrm>
          <a:prstGeom xmlns:a="http://schemas.openxmlformats.org/drawingml/2006/main" prst="roundRect">
            <a:avLst>
              <a:gd name="adj" fmla="val 8997"/>
            </a:avLst>
          </a:prstGeom>
          <a:solidFill xmlns:a="http://schemas.openxmlformats.org/drawingml/2006/main">
            <a:srgbClr val="F6E3A8"/>
          </a:solidFill>
          <a:ln xmlns:a="http://schemas.openxmlformats.org/drawingml/2006/main" w="19050">
            <a:solidFill>
              <a:srgbClr val="C99A1E"/>
            </a:solidFill>
            <a:prstDash val="solid"/>
          </a:ln>
        </p:spPr>
      </p:sp>
      <p:sp>
        <p:nvSpPr>
          <p:cNvPr id="12" name="Text 8">
            <a:extLst xmlns:a="http://schemas.openxmlformats.org/drawingml/2006/main">
              <a:ext uri="{FF2B5EF4-FFF2-40B4-BE49-F238E27FC236}">
                <a16:creationId xmlns:a16="http://schemas.microsoft.com/office/drawing/2014/main" id="{8AE0C0A6-A5AB-4066-86F1-80E4E0C4EAAA}"/>
              </a:ext>
            </a:extLst>
          </p:cNvPr>
          <p:cNvSpPr>
            <a:spLocks xmlns:a="http://schemas.openxmlformats.org/drawingml/2006/main" noGrp="1"/>
          </p:cNvSpPr>
          <p:nvPr/>
        </p:nvSpPr>
        <p:spPr>
          <a:xfrm xmlns:a="http://schemas.openxmlformats.org/drawingml/2006/main">
            <a:off x="4552511" y="1582766"/>
            <a:ext cx="1255089" cy="256523"/>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20"/>
              </a:lnSpc>
              <a:buNone/>
            </a:pPr>
            <a:r>
              <a:rPr sz="1300" b="1">
                <a:solidFill>
                  <a:srgbClr val="5C4300"/>
                </a:solidFill>
                <a:latin typeface="Arial"/>
                <a:ea typeface="Arial"/>
                <a:cs typeface="Arial"/>
              </a:rPr>
              <a:t>ApET stage 1</a:t>
            </a:r>
          </a:p>
        </p:txBody>
      </p:sp>
      <p:sp>
        <p:nvSpPr>
          <p:cNvPr id="13" name="Text 9">
            <a:extLst xmlns:a="http://schemas.openxmlformats.org/drawingml/2006/main">
              <a:ext uri="{FF2B5EF4-FFF2-40B4-BE49-F238E27FC236}">
                <a16:creationId xmlns:a16="http://schemas.microsoft.com/office/drawing/2014/main" id="{45ED08C1-8BE6-4AA7-8197-0623DF4139FA}"/>
              </a:ext>
            </a:extLst>
          </p:cNvPr>
          <p:cNvSpPr>
            <a:spLocks xmlns:a="http://schemas.openxmlformats.org/drawingml/2006/main" noGrp="1"/>
          </p:cNvSpPr>
          <p:nvPr/>
        </p:nvSpPr>
        <p:spPr>
          <a:xfrm xmlns:a="http://schemas.openxmlformats.org/drawingml/2006/main">
            <a:off x="4872993" y="1839289"/>
            <a:ext cx="614124" cy="238749"/>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5C4300"/>
                </a:solidFill>
                <a:latin typeface="Arial"/>
                <a:ea typeface="Arial"/>
                <a:cs typeface="Arial"/>
              </a:rPr>
              <a:t>keep K₁</a:t>
            </a:r>
          </a:p>
        </p:txBody>
      </p:sp>
      <p:pic>
        <p:nvPicPr>
          <p:cNvPr id="58" name="Image 2"/>
          <p:cNvPicPr>
            <a:picLocks xmlns:a="http://schemas.openxmlformats.org/drawingml/2006/main" noChangeAspect="1"/>
          </p:cNvPicPr>
          <p:nvPr/>
        </p:nvPicPr>
        <p:blipFill>
          <a:blip xmlns:r="http://schemas.openxmlformats.org/officeDocument/2006/relationships" xmlns:a="http://schemas.openxmlformats.org/drawingml/2006/main" r:embed="R76edf4cb90854f3d"/>
          <a:srcRect xmlns:a="http://schemas.openxmlformats.org/drawingml/2006/main" l="0" t="0" r="0" b="0"/>
          <a:stretch xmlns:a="http://schemas.openxmlformats.org/drawingml/2006/main"/>
        </p:blipFill>
        <p:spPr>
          <a:xfrm xmlns:a="http://schemas.openxmlformats.org/drawingml/2006/main">
            <a:off x="5981672" y="1760538"/>
            <a:ext cx="228600" cy="114300"/>
          </a:xfrm>
          <a:prstGeom xmlns:a="http://schemas.openxmlformats.org/drawingml/2006/main" prst="rect">
            <a:avLst/>
          </a:prstGeom>
        </p:spPr>
      </p:pic>
      <p:sp>
        <p:nvSpPr>
          <p:cNvPr id="15" name="Shape 10">
            <a:extLst xmlns:a="http://schemas.openxmlformats.org/drawingml/2006/main">
              <a:ext uri="{FF2B5EF4-FFF2-40B4-BE49-F238E27FC236}">
                <a16:creationId xmlns:a16="http://schemas.microsoft.com/office/drawing/2014/main" id="{6786CC8A-DA27-4E34-826F-2CB1907FC08B}"/>
              </a:ext>
            </a:extLst>
          </p:cNvPr>
          <p:cNvSpPr>
            <a:spLocks xmlns:a="http://schemas.openxmlformats.org/drawingml/2006/main" noGrp="1"/>
          </p:cNvSpPr>
          <p:nvPr/>
        </p:nvSpPr>
        <p:spPr>
          <a:xfrm xmlns:a="http://schemas.openxmlformats.org/drawingml/2006/main">
            <a:off x="6292822" y="1449416"/>
            <a:ext cx="1427248" cy="736572"/>
          </a:xfrm>
          <a:prstGeom xmlns:a="http://schemas.openxmlformats.org/drawingml/2006/main" prst="roundRect">
            <a:avLst>
              <a:gd name="adj" fmla="val 9483"/>
            </a:avLst>
          </a:prstGeom>
          <a:solidFill xmlns:a="http://schemas.openxmlformats.org/drawingml/2006/main">
            <a:srgbClr val="FCFBF6"/>
          </a:solidFill>
          <a:ln xmlns:a="http://schemas.openxmlformats.org/drawingml/2006/main" w="12700">
            <a:solidFill>
              <a:srgbClr val="7FA9AC"/>
            </a:solidFill>
            <a:prstDash val="solid"/>
          </a:ln>
        </p:spPr>
      </p:sp>
      <p:sp>
        <p:nvSpPr>
          <p:cNvPr id="16" name="Text 11">
            <a:extLst xmlns:a="http://schemas.openxmlformats.org/drawingml/2006/main">
              <a:ext uri="{FF2B5EF4-FFF2-40B4-BE49-F238E27FC236}">
                <a16:creationId xmlns:a16="http://schemas.microsoft.com/office/drawing/2014/main" id="{DBCF6D2A-2665-458B-8F9E-515DA782CA22}"/>
              </a:ext>
            </a:extLst>
          </p:cNvPr>
          <p:cNvSpPr>
            <a:spLocks xmlns:a="http://schemas.openxmlformats.org/drawingml/2006/main" noGrp="1"/>
          </p:cNvSpPr>
          <p:nvPr/>
        </p:nvSpPr>
        <p:spPr>
          <a:xfrm xmlns:a="http://schemas.openxmlformats.org/drawingml/2006/main">
            <a:off x="6802900" y="1582766"/>
            <a:ext cx="407092" cy="256523"/>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20"/>
              </a:lnSpc>
              <a:buNone/>
            </a:pPr>
            <a:r>
              <a:rPr sz="1300" b="1">
                <a:solidFill>
                  <a:srgbClr val="1C3540"/>
                </a:solidFill>
                <a:latin typeface="Arial"/>
                <a:ea typeface="Arial"/>
                <a:cs typeface="Arial"/>
              </a:rPr>
              <a:t>LLM</a:t>
            </a:r>
          </a:p>
        </p:txBody>
      </p:sp>
      <p:sp>
        <p:nvSpPr>
          <p:cNvPr id="17" name="Text 12">
            <a:extLst xmlns:a="http://schemas.openxmlformats.org/drawingml/2006/main">
              <a:ext uri="{FF2B5EF4-FFF2-40B4-BE49-F238E27FC236}">
                <a16:creationId xmlns:a16="http://schemas.microsoft.com/office/drawing/2014/main" id="{04347FF2-F3D4-4CBC-8364-7A00F8A31B6C}"/>
              </a:ext>
            </a:extLst>
          </p:cNvPr>
          <p:cNvSpPr>
            <a:spLocks xmlns:a="http://schemas.openxmlformats.org/drawingml/2006/main" noGrp="1"/>
          </p:cNvSpPr>
          <p:nvPr/>
        </p:nvSpPr>
        <p:spPr>
          <a:xfrm xmlns:a="http://schemas.openxmlformats.org/drawingml/2006/main">
            <a:off x="6518412" y="1839289"/>
            <a:ext cx="976040" cy="238749"/>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E66"/>
                </a:solidFill>
                <a:latin typeface="Arial"/>
                <a:ea typeface="Arial"/>
                <a:cs typeface="Arial"/>
              </a:rPr>
              <a:t>blocks 1–16</a:t>
            </a:r>
          </a:p>
        </p:txBody>
      </p:sp>
      <p:pic>
        <p:nvPicPr>
          <p:cNvPr id="62" name="Image 3"/>
          <p:cNvPicPr>
            <a:picLocks xmlns:a="http://schemas.openxmlformats.org/drawingml/2006/main" noChangeAspect="1"/>
          </p:cNvPicPr>
          <p:nvPr/>
        </p:nvPicPr>
        <p:blipFill>
          <a:blip xmlns:r="http://schemas.openxmlformats.org/officeDocument/2006/relationships" xmlns:a="http://schemas.openxmlformats.org/drawingml/2006/main" r:embed="Rb3f1e078fc534ac5"/>
          <a:srcRect xmlns:a="http://schemas.openxmlformats.org/drawingml/2006/main" l="0" t="0" r="0" b="0"/>
          <a:stretch xmlns:a="http://schemas.openxmlformats.org/drawingml/2006/main"/>
        </p:blipFill>
        <p:spPr>
          <a:xfrm xmlns:a="http://schemas.openxmlformats.org/drawingml/2006/main">
            <a:off x="7802620" y="1760538"/>
            <a:ext cx="228600" cy="114300"/>
          </a:xfrm>
          <a:prstGeom xmlns:a="http://schemas.openxmlformats.org/drawingml/2006/main" prst="rect">
            <a:avLst/>
          </a:prstGeom>
        </p:spPr>
      </p:pic>
      <p:sp>
        <p:nvSpPr>
          <p:cNvPr id="19" name="Shape 13">
            <a:extLst xmlns:a="http://schemas.openxmlformats.org/drawingml/2006/main">
              <a:ext uri="{FF2B5EF4-FFF2-40B4-BE49-F238E27FC236}">
                <a16:creationId xmlns:a16="http://schemas.microsoft.com/office/drawing/2014/main" id="{74264589-7A2D-48CE-A59B-180F4510C219}"/>
              </a:ext>
            </a:extLst>
          </p:cNvPr>
          <p:cNvSpPr>
            <a:spLocks xmlns:a="http://schemas.openxmlformats.org/drawingml/2006/main" noGrp="1"/>
          </p:cNvSpPr>
          <p:nvPr/>
        </p:nvSpPr>
        <p:spPr>
          <a:xfrm xmlns:a="http://schemas.openxmlformats.org/drawingml/2006/main">
            <a:off x="8116945" y="1447148"/>
            <a:ext cx="1431783" cy="741107"/>
          </a:xfrm>
          <a:prstGeom xmlns:a="http://schemas.openxmlformats.org/drawingml/2006/main" prst="roundRect">
            <a:avLst>
              <a:gd name="adj" fmla="val 8997"/>
            </a:avLst>
          </a:prstGeom>
          <a:solidFill xmlns:a="http://schemas.openxmlformats.org/drawingml/2006/main">
            <a:srgbClr val="F6E3A8"/>
          </a:solidFill>
          <a:ln xmlns:a="http://schemas.openxmlformats.org/drawingml/2006/main" w="19050">
            <a:solidFill>
              <a:srgbClr val="C99A1E"/>
            </a:solidFill>
            <a:prstDash val="solid"/>
          </a:ln>
        </p:spPr>
      </p:sp>
      <p:sp>
        <p:nvSpPr>
          <p:cNvPr id="20" name="Text 14">
            <a:extLst xmlns:a="http://schemas.openxmlformats.org/drawingml/2006/main">
              <a:ext uri="{FF2B5EF4-FFF2-40B4-BE49-F238E27FC236}">
                <a16:creationId xmlns:a16="http://schemas.microsoft.com/office/drawing/2014/main" id="{29A0ACF7-58DB-4D04-A969-8D8FA86EEE03}"/>
              </a:ext>
            </a:extLst>
          </p:cNvPr>
          <p:cNvSpPr>
            <a:spLocks xmlns:a="http://schemas.openxmlformats.org/drawingml/2006/main" noGrp="1"/>
          </p:cNvSpPr>
          <p:nvPr/>
        </p:nvSpPr>
        <p:spPr>
          <a:xfrm xmlns:a="http://schemas.openxmlformats.org/drawingml/2006/main">
            <a:off x="8205292" y="1582766"/>
            <a:ext cx="1255089" cy="256523"/>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20"/>
              </a:lnSpc>
              <a:buNone/>
            </a:pPr>
            <a:r>
              <a:rPr sz="1300" b="1">
                <a:solidFill>
                  <a:srgbClr val="5C4300"/>
                </a:solidFill>
                <a:latin typeface="Arial"/>
                <a:ea typeface="Arial"/>
                <a:cs typeface="Arial"/>
              </a:rPr>
              <a:t>ApET stage 2</a:t>
            </a:r>
          </a:p>
        </p:txBody>
      </p:sp>
      <p:sp>
        <p:nvSpPr>
          <p:cNvPr id="21" name="Text 15">
            <a:extLst xmlns:a="http://schemas.openxmlformats.org/drawingml/2006/main">
              <a:ext uri="{FF2B5EF4-FFF2-40B4-BE49-F238E27FC236}">
                <a16:creationId xmlns:a16="http://schemas.microsoft.com/office/drawing/2014/main" id="{7455DA7F-42D2-4F6F-A146-877ABA70965E}"/>
              </a:ext>
            </a:extLst>
          </p:cNvPr>
          <p:cNvSpPr>
            <a:spLocks xmlns:a="http://schemas.openxmlformats.org/drawingml/2006/main" noGrp="1"/>
          </p:cNvSpPr>
          <p:nvPr/>
        </p:nvSpPr>
        <p:spPr>
          <a:xfrm xmlns:a="http://schemas.openxmlformats.org/drawingml/2006/main">
            <a:off x="8519583" y="1839289"/>
            <a:ext cx="626507" cy="238749"/>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5C4300"/>
                </a:solidFill>
                <a:latin typeface="Arial"/>
                <a:ea typeface="Arial"/>
                <a:cs typeface="Arial"/>
              </a:rPr>
              <a:t>keep K₂</a:t>
            </a:r>
          </a:p>
        </p:txBody>
      </p:sp>
      <p:pic>
        <p:nvPicPr>
          <p:cNvPr id="66" name="Image 4"/>
          <p:cNvPicPr>
            <a:picLocks xmlns:a="http://schemas.openxmlformats.org/drawingml/2006/main" noChangeAspect="1"/>
          </p:cNvPicPr>
          <p:nvPr/>
        </p:nvPicPr>
        <p:blipFill>
          <a:blip xmlns:r="http://schemas.openxmlformats.org/officeDocument/2006/relationships" xmlns:a="http://schemas.openxmlformats.org/drawingml/2006/main" r:embed="R3bccd4b7bd3d4763"/>
          <a:srcRect xmlns:a="http://schemas.openxmlformats.org/drawingml/2006/main" l="0" t="0" r="0" b="0"/>
          <a:stretch xmlns:a="http://schemas.openxmlformats.org/drawingml/2006/main"/>
        </p:blipFill>
        <p:spPr>
          <a:xfrm xmlns:a="http://schemas.openxmlformats.org/drawingml/2006/main">
            <a:off x="9634453" y="1760538"/>
            <a:ext cx="228600" cy="114300"/>
          </a:xfrm>
          <a:prstGeom xmlns:a="http://schemas.openxmlformats.org/drawingml/2006/main" prst="rect">
            <a:avLst/>
          </a:prstGeom>
        </p:spPr>
      </p:pic>
      <p:sp>
        <p:nvSpPr>
          <p:cNvPr id="23" name="Shape 16">
            <a:extLst xmlns:a="http://schemas.openxmlformats.org/drawingml/2006/main">
              <a:ext uri="{FF2B5EF4-FFF2-40B4-BE49-F238E27FC236}">
                <a16:creationId xmlns:a16="http://schemas.microsoft.com/office/drawing/2014/main" id="{EB177A9A-948A-4832-9FF5-8F2C4AA78504}"/>
              </a:ext>
            </a:extLst>
          </p:cNvPr>
          <p:cNvSpPr>
            <a:spLocks xmlns:a="http://schemas.openxmlformats.org/drawingml/2006/main" noGrp="1"/>
          </p:cNvSpPr>
          <p:nvPr/>
        </p:nvSpPr>
        <p:spPr>
          <a:xfrm xmlns:a="http://schemas.openxmlformats.org/drawingml/2006/main">
            <a:off x="9945603" y="1449416"/>
            <a:ext cx="1427248" cy="736572"/>
          </a:xfrm>
          <a:prstGeom xmlns:a="http://schemas.openxmlformats.org/drawingml/2006/main" prst="roundRect">
            <a:avLst>
              <a:gd name="adj" fmla="val 9483"/>
            </a:avLst>
          </a:prstGeom>
          <a:solidFill xmlns:a="http://schemas.openxmlformats.org/drawingml/2006/main">
            <a:srgbClr val="FCFBF6"/>
          </a:solidFill>
          <a:ln xmlns:a="http://schemas.openxmlformats.org/drawingml/2006/main" w="12700">
            <a:solidFill>
              <a:srgbClr val="7FA9AC"/>
            </a:solidFill>
            <a:prstDash val="solid"/>
          </a:ln>
        </p:spPr>
      </p:sp>
      <p:sp>
        <p:nvSpPr>
          <p:cNvPr id="24" name="Text 17">
            <a:extLst xmlns:a="http://schemas.openxmlformats.org/drawingml/2006/main">
              <a:ext uri="{FF2B5EF4-FFF2-40B4-BE49-F238E27FC236}">
                <a16:creationId xmlns:a16="http://schemas.microsoft.com/office/drawing/2014/main" id="{A7656862-8F83-4C89-973B-B326B82DDB20}"/>
              </a:ext>
            </a:extLst>
          </p:cNvPr>
          <p:cNvSpPr>
            <a:spLocks xmlns:a="http://schemas.openxmlformats.org/drawingml/2006/main" noGrp="1"/>
          </p:cNvSpPr>
          <p:nvPr/>
        </p:nvSpPr>
        <p:spPr>
          <a:xfrm xmlns:a="http://schemas.openxmlformats.org/drawingml/2006/main">
            <a:off x="10455681" y="1582766"/>
            <a:ext cx="407092" cy="256523"/>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820"/>
              </a:lnSpc>
              <a:buNone/>
            </a:pPr>
            <a:r>
              <a:rPr sz="1300" b="1">
                <a:solidFill>
                  <a:srgbClr val="1C3540"/>
                </a:solidFill>
                <a:latin typeface="Arial"/>
                <a:ea typeface="Arial"/>
                <a:cs typeface="Arial"/>
              </a:rPr>
              <a:t>LLM</a:t>
            </a:r>
          </a:p>
        </p:txBody>
      </p:sp>
      <p:sp>
        <p:nvSpPr>
          <p:cNvPr id="25" name="Text 18">
            <a:extLst xmlns:a="http://schemas.openxmlformats.org/drawingml/2006/main">
              <a:ext uri="{FF2B5EF4-FFF2-40B4-BE49-F238E27FC236}">
                <a16:creationId xmlns:a16="http://schemas.microsoft.com/office/drawing/2014/main" id="{88C58559-12E0-4DC5-BD9B-42D78B8FD5D8}"/>
              </a:ext>
            </a:extLst>
          </p:cNvPr>
          <p:cNvSpPr>
            <a:spLocks xmlns:a="http://schemas.openxmlformats.org/drawingml/2006/main" noGrp="1"/>
          </p:cNvSpPr>
          <p:nvPr/>
        </p:nvSpPr>
        <p:spPr>
          <a:xfrm xmlns:a="http://schemas.openxmlformats.org/drawingml/2006/main">
            <a:off x="10120335" y="1839289"/>
            <a:ext cx="1077754" cy="238749"/>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ctr">
              <a:lnSpc>
                <a:spcPts val="1680"/>
              </a:lnSpc>
              <a:buNone/>
            </a:pPr>
            <a:r>
              <a:rPr sz="1200">
                <a:solidFill>
                  <a:srgbClr val="4A5E66"/>
                </a:solidFill>
                <a:latin typeface="Arial"/>
                <a:ea typeface="Arial"/>
                <a:cs typeface="Arial"/>
              </a:rPr>
              <a:t>blocks 17–32</a:t>
            </a:r>
          </a:p>
        </p:txBody>
      </p:sp>
      <p:sp>
        <p:nvSpPr>
          <p:cNvPr id="26" name="Text 19">
            <a:extLst xmlns:a="http://schemas.openxmlformats.org/drawingml/2006/main">
              <a:ext uri="{FF2B5EF4-FFF2-40B4-BE49-F238E27FC236}">
                <a16:creationId xmlns:a16="http://schemas.microsoft.com/office/drawing/2014/main" id="{DC73D267-AFCF-47D3-8D1A-CC9C43D1F8D7}"/>
              </a:ext>
            </a:extLst>
          </p:cNvPr>
          <p:cNvSpPr>
            <a:spLocks xmlns:a="http://schemas.openxmlformats.org/drawingml/2006/main" noGrp="1"/>
          </p:cNvSpPr>
          <p:nvPr/>
        </p:nvSpPr>
        <p:spPr>
          <a:xfrm xmlns:a="http://schemas.openxmlformats.org/drawingml/2006/main">
            <a:off x="812800" y="2375581"/>
            <a:ext cx="10883393" cy="231123"/>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20"/>
              </a:lnSpc>
              <a:buNone/>
            </a:pPr>
            <a:r>
              <a:rPr sz="1200" b="1">
                <a:solidFill>
                  <a:srgbClr val="0F4C5C"/>
                </a:solidFill>
                <a:latin typeface="Arial"/>
                <a:ea typeface="Arial"/>
                <a:cs typeface="Arial"/>
              </a:rPr>
              <a:t>Setup:</a:t>
            </a:r>
            <a:r>
              <a:rPr sz="1200">
                <a:solidFill>
                  <a:srgbClr val="4A5E66"/>
                </a:solidFill>
                <a:latin typeface="Arial"/>
                <a:ea typeface="Arial"/>
                <a:cs typeface="Arial"/>
              </a:rPr>
              <a:t> LLaVA-1.5-7B · native ApET code · Kaggle 2×T4, locked environment · GQA 800, MMStar 1,500, TextVQA 100 · avg. 64 or 192 tokens</a:t>
            </a:r>
          </a:p>
        </p:txBody>
      </p:sp>
      <p:sp>
        <p:nvSpPr>
          <p:cNvPr id="27" name="Shape 20">
            <a:extLst xmlns:a="http://schemas.openxmlformats.org/drawingml/2006/main">
              <a:ext uri="{FF2B5EF4-FFF2-40B4-BE49-F238E27FC236}">
                <a16:creationId xmlns:a16="http://schemas.microsoft.com/office/drawing/2014/main" id="{3DAACE3A-5BC1-466F-A5E0-F487E3E0831E}"/>
              </a:ext>
            </a:extLst>
          </p:cNvPr>
          <p:cNvSpPr>
            <a:spLocks xmlns:a="http://schemas.openxmlformats.org/drawingml/2006/main" noGrp="1"/>
          </p:cNvSpPr>
          <p:nvPr/>
        </p:nvSpPr>
        <p:spPr>
          <a:xfrm xmlns:a="http://schemas.openxmlformats.org/drawingml/2006/main">
            <a:off x="812800" y="2759104"/>
            <a:ext cx="3420524" cy="1981767"/>
          </a:xfrm>
          <a:prstGeom xmlns:a="http://schemas.openxmlformats.org/drawingml/2006/main" prst="roundRect">
            <a:avLst>
              <a:gd name="adj" fmla="val 3845"/>
            </a:avLst>
          </a:prstGeom>
          <a:solidFill xmlns:a="http://schemas.openxmlformats.org/drawingml/2006/main">
            <a:srgbClr val="FCFBF6"/>
          </a:solidFill>
        </p:spPr>
      </p:sp>
      <p:sp>
        <p:nvSpPr>
          <p:cNvPr id="28" name="Shape 21">
            <a:extLst xmlns:a="http://schemas.openxmlformats.org/drawingml/2006/main">
              <a:ext uri="{FF2B5EF4-FFF2-40B4-BE49-F238E27FC236}">
                <a16:creationId xmlns:a16="http://schemas.microsoft.com/office/drawing/2014/main" id="{87CE6312-6048-4BA8-AB8C-D37DDD6149DB}"/>
              </a:ext>
            </a:extLst>
          </p:cNvPr>
          <p:cNvSpPr>
            <a:spLocks xmlns:a="http://schemas.openxmlformats.org/drawingml/2006/main" noGrp="1"/>
          </p:cNvSpPr>
          <p:nvPr/>
        </p:nvSpPr>
        <p:spPr>
          <a:xfrm xmlns:a="http://schemas.openxmlformats.org/drawingml/2006/main">
            <a:off x="812800" y="2759104"/>
            <a:ext cx="3420524" cy="1981767"/>
          </a:xfrm>
          <a:custGeom xmlns:a="http://schemas.openxmlformats.org/drawingml/2006/main">
            <a:rect l="l" t="t" r="r" b="b"/>
            <a:pathLst>
              <a:path w="3420524" h="1981767">
                <a:moveTo>
                  <a:pt x="0" y="76200"/>
                </a:moveTo>
                <a:lnTo>
                  <a:pt x="0" y="76200"/>
                </a:lnTo>
                <a:arcTo wR="76200" hR="76200" stAng="10800000" swAng="5400000"/>
                <a:lnTo>
                  <a:pt x="3344324" y="0"/>
                </a:lnTo>
                <a:arcTo wR="76200" hR="76200" stAng="16200000" swAng="5400000"/>
                <a:lnTo>
                  <a:pt x="3420524" y="76200"/>
                </a:lnTo>
                <a:arcTo wR="76200" hR="38100" stAng="0" swAng="-5400000"/>
                <a:lnTo>
                  <a:pt x="76200" y="38100"/>
                </a:lnTo>
                <a:arcTo wR="76200" hR="38100" stAng="16200000" swAng="-5400000"/>
                <a:close/>
              </a:path>
            </a:pathLst>
          </a:custGeom>
          <a:solidFill xmlns:a="http://schemas.openxmlformats.org/drawingml/2006/main">
            <a:srgbClr val="0F6B6E"/>
          </a:solidFill>
        </p:spPr>
      </p:sp>
      <p:sp>
        <p:nvSpPr>
          <p:cNvPr id="29" name="Text 22">
            <a:extLst xmlns:a="http://schemas.openxmlformats.org/drawingml/2006/main">
              <a:ext uri="{FF2B5EF4-FFF2-40B4-BE49-F238E27FC236}">
                <a16:creationId xmlns:a16="http://schemas.microsoft.com/office/drawing/2014/main" id="{D381C38C-B558-41A9-BE17-3506C18AC68A}"/>
              </a:ext>
            </a:extLst>
          </p:cNvPr>
          <p:cNvSpPr>
            <a:spLocks xmlns:a="http://schemas.openxmlformats.org/drawingml/2006/main" noGrp="1"/>
          </p:cNvSpPr>
          <p:nvPr/>
        </p:nvSpPr>
        <p:spPr>
          <a:xfrm xmlns:a="http://schemas.openxmlformats.org/drawingml/2006/main">
            <a:off x="1016000" y="2975004"/>
            <a:ext cx="3104548" cy="4826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1800"/>
              </a:lnSpc>
              <a:buNone/>
              <a:defRPr sz="1500" b="1" i="0">
                <a:solidFill>
                  <a:srgbClr val="0F4C5C"/>
                </a:solidFill>
                <a:latin typeface="Arial"/>
                <a:ea typeface="Arial"/>
                <a:cs typeface="Arial"/>
              </a:defRPr>
            </a:pPr>
            <a:r>
              <a:rPr sz="1500" b="1" i="0">
                <a:solidFill>
                  <a:srgbClr val="0F4C5C"/>
                </a:solidFill>
                <a:latin typeface="Arial"/>
                <a:ea typeface="Arial"/>
                <a:cs typeface="Arial"/>
              </a:rPr>
              <a:t>RQ1 · Does E track answer sensitivity?</a:t>
            </a:r>
          </a:p>
        </p:txBody>
      </p:sp>
      <p:sp>
        <p:nvSpPr>
          <p:cNvPr id="30" name="Text 23">
            <a:extLst xmlns:a="http://schemas.openxmlformats.org/drawingml/2006/main">
              <a:ext uri="{FF2B5EF4-FFF2-40B4-BE49-F238E27FC236}">
                <a16:creationId xmlns:a16="http://schemas.microsoft.com/office/drawing/2014/main" id="{85A14BCF-6282-4F41-8FC7-5D6ED6A56890}"/>
              </a:ext>
            </a:extLst>
          </p:cNvPr>
          <p:cNvSpPr>
            <a:spLocks xmlns:a="http://schemas.openxmlformats.org/drawingml/2006/main" noGrp="1"/>
          </p:cNvSpPr>
          <p:nvPr/>
        </p:nvSpPr>
        <p:spPr>
          <a:xfrm xmlns:a="http://schemas.openxmlformats.org/drawingml/2006/main">
            <a:off x="1016000" y="3495704"/>
            <a:ext cx="3104548" cy="916895"/>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1755"/>
              </a:lnSpc>
              <a:buNone/>
              <a:defRPr sz="1300" b="0" i="0">
                <a:solidFill>
                  <a:srgbClr val="1C3540"/>
                </a:solidFill>
                <a:latin typeface="Arial"/>
                <a:ea typeface="Arial"/>
                <a:cs typeface="Arial"/>
              </a:defRPr>
            </a:pPr>
            <a:r>
              <a:rPr sz="1300" b="0" i="0">
                <a:solidFill>
                  <a:srgbClr val="1C3540"/>
                </a:solidFill>
                <a:latin typeface="Arial"/>
                <a:ea typeface="Arial"/>
                <a:cs typeface="Arial"/>
              </a:rPr>
              <a:t>30 selected questions. Compare E ranking with an IH-inspired retain-one response: first reference-token probability relative to all visual states removed.</a:t>
            </a:r>
          </a:p>
        </p:txBody>
      </p:sp>
      <p:sp>
        <p:nvSpPr>
          <p:cNvPr id="31" name="Shape 24">
            <a:extLst xmlns:a="http://schemas.openxmlformats.org/drawingml/2006/main">
              <a:ext uri="{FF2B5EF4-FFF2-40B4-BE49-F238E27FC236}">
                <a16:creationId xmlns:a16="http://schemas.microsoft.com/office/drawing/2014/main" id="{6F48C154-063E-44B0-8CC3-0E87CBC1F440}"/>
              </a:ext>
            </a:extLst>
          </p:cNvPr>
          <p:cNvSpPr>
            <a:spLocks xmlns:a="http://schemas.openxmlformats.org/drawingml/2006/main" noGrp="1"/>
          </p:cNvSpPr>
          <p:nvPr/>
        </p:nvSpPr>
        <p:spPr>
          <a:xfrm xmlns:a="http://schemas.openxmlformats.org/drawingml/2006/main">
            <a:off x="4385724" y="2759104"/>
            <a:ext cx="3420552" cy="1981767"/>
          </a:xfrm>
          <a:prstGeom xmlns:a="http://schemas.openxmlformats.org/drawingml/2006/main" prst="roundRect">
            <a:avLst>
              <a:gd name="adj" fmla="val 3845"/>
            </a:avLst>
          </a:prstGeom>
          <a:solidFill xmlns:a="http://schemas.openxmlformats.org/drawingml/2006/main">
            <a:srgbClr val="FCFBF6"/>
          </a:solidFill>
        </p:spPr>
      </p:sp>
      <p:sp>
        <p:nvSpPr>
          <p:cNvPr id="32" name="Shape 25">
            <a:extLst xmlns:a="http://schemas.openxmlformats.org/drawingml/2006/main">
              <a:ext uri="{FF2B5EF4-FFF2-40B4-BE49-F238E27FC236}">
                <a16:creationId xmlns:a16="http://schemas.microsoft.com/office/drawing/2014/main" id="{C6C3018F-6703-4E5C-A78E-BEA46BEDB865}"/>
              </a:ext>
            </a:extLst>
          </p:cNvPr>
          <p:cNvSpPr>
            <a:spLocks xmlns:a="http://schemas.openxmlformats.org/drawingml/2006/main" noGrp="1"/>
          </p:cNvSpPr>
          <p:nvPr/>
        </p:nvSpPr>
        <p:spPr>
          <a:xfrm xmlns:a="http://schemas.openxmlformats.org/drawingml/2006/main">
            <a:off x="4385724" y="2759104"/>
            <a:ext cx="3420552" cy="1981767"/>
          </a:xfrm>
          <a:custGeom xmlns:a="http://schemas.openxmlformats.org/drawingml/2006/main">
            <a:rect l="l" t="t" r="r" b="b"/>
            <a:pathLst>
              <a:path w="3420552" h="1981767">
                <a:moveTo>
                  <a:pt x="0" y="76200"/>
                </a:moveTo>
                <a:lnTo>
                  <a:pt x="0" y="76200"/>
                </a:lnTo>
                <a:arcTo wR="76200" hR="76200" stAng="10800000" swAng="5400000"/>
                <a:lnTo>
                  <a:pt x="3344352" y="0"/>
                </a:lnTo>
                <a:arcTo wR="76200" hR="76200" stAng="16200000" swAng="5400000"/>
                <a:lnTo>
                  <a:pt x="3420552" y="76200"/>
                </a:lnTo>
                <a:arcTo wR="76200" hR="38100" stAng="0" swAng="-5400000"/>
                <a:lnTo>
                  <a:pt x="76200" y="38100"/>
                </a:lnTo>
                <a:arcTo wR="76200" hR="38100" stAng="16200000" swAng="-5400000"/>
                <a:close/>
              </a:path>
            </a:pathLst>
          </a:custGeom>
          <a:solidFill xmlns:a="http://schemas.openxmlformats.org/drawingml/2006/main">
            <a:srgbClr val="0F6B6E"/>
          </a:solidFill>
        </p:spPr>
      </p:sp>
      <p:sp>
        <p:nvSpPr>
          <p:cNvPr id="33" name="Text 26">
            <a:extLst xmlns:a="http://schemas.openxmlformats.org/drawingml/2006/main">
              <a:ext uri="{FF2B5EF4-FFF2-40B4-BE49-F238E27FC236}">
                <a16:creationId xmlns:a16="http://schemas.microsoft.com/office/drawing/2014/main" id="{2B6F0778-FE92-4972-9A06-E74E995BA344}"/>
              </a:ext>
            </a:extLst>
          </p:cNvPr>
          <p:cNvSpPr>
            <a:spLocks xmlns:a="http://schemas.openxmlformats.org/drawingml/2006/main" noGrp="1"/>
          </p:cNvSpPr>
          <p:nvPr/>
        </p:nvSpPr>
        <p:spPr>
          <a:xfrm xmlns:a="http://schemas.openxmlformats.org/drawingml/2006/main">
            <a:off x="4588924" y="2975004"/>
            <a:ext cx="3104577" cy="2540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1800"/>
              </a:lnSpc>
              <a:buNone/>
              <a:defRPr sz="1500" b="1" i="0">
                <a:solidFill>
                  <a:srgbClr val="0F4C5C"/>
                </a:solidFill>
                <a:latin typeface="Arial"/>
                <a:ea typeface="Arial"/>
                <a:cs typeface="Arial"/>
              </a:defRPr>
            </a:pPr>
            <a:r>
              <a:rPr sz="1500" b="1" i="0">
                <a:solidFill>
                  <a:srgbClr val="0F4C5C"/>
                </a:solidFill>
                <a:latin typeface="Arial"/>
                <a:ea typeface="Arial"/>
                <a:cs typeface="Arial"/>
              </a:rPr>
              <a:t>RQ2 · Selection and merging</a:t>
            </a:r>
          </a:p>
        </p:txBody>
      </p:sp>
      <p:sp>
        <p:nvSpPr>
          <p:cNvPr id="34" name="Text 27">
            <a:extLst xmlns:a="http://schemas.openxmlformats.org/drawingml/2006/main">
              <a:ext uri="{FF2B5EF4-FFF2-40B4-BE49-F238E27FC236}">
                <a16:creationId xmlns:a16="http://schemas.microsoft.com/office/drawing/2014/main" id="{182DC4C0-22DF-4860-8641-473B5A537C5D}"/>
              </a:ext>
            </a:extLst>
          </p:cNvPr>
          <p:cNvSpPr>
            <a:spLocks xmlns:a="http://schemas.openxmlformats.org/drawingml/2006/main" noGrp="1"/>
          </p:cNvSpPr>
          <p:nvPr/>
        </p:nvSpPr>
        <p:spPr>
          <a:xfrm xmlns:a="http://schemas.openxmlformats.org/drawingml/2006/main">
            <a:off x="4588924" y="3267104"/>
            <a:ext cx="3104577" cy="694021"/>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1755"/>
              </a:lnSpc>
              <a:buNone/>
              <a:defRPr sz="1300" b="0" i="0">
                <a:solidFill>
                  <a:srgbClr val="1C3540"/>
                </a:solidFill>
                <a:latin typeface="Arial"/>
                <a:ea typeface="Arial"/>
                <a:cs typeface="Arial"/>
              </a:defRPr>
            </a:pPr>
            <a:r>
              <a:rPr sz="1300" b="0" i="0">
                <a:solidFill>
                  <a:srgbClr val="1C3540"/>
                </a:solidFill>
                <a:latin typeface="Arial"/>
                <a:ea typeface="Arial"/>
                <a:cs typeface="Arial"/>
              </a:rPr>
              <a:t>Component pilots and broad native-versus-random comparisons are complete. Attribution remains open.</a:t>
            </a:r>
          </a:p>
        </p:txBody>
      </p:sp>
      <p:sp>
        <p:nvSpPr>
          <p:cNvPr id="35" name="Text 28">
            <a:extLst xmlns:a="http://schemas.openxmlformats.org/drawingml/2006/main">
              <a:ext uri="{FF2B5EF4-FFF2-40B4-BE49-F238E27FC236}">
                <a16:creationId xmlns:a16="http://schemas.microsoft.com/office/drawing/2014/main" id="{94D7AD4C-9DF3-4C40-847B-5C152E123F03}"/>
              </a:ext>
            </a:extLst>
          </p:cNvPr>
          <p:cNvSpPr>
            <a:spLocks xmlns:a="http://schemas.openxmlformats.org/drawingml/2006/main" noGrp="1"/>
          </p:cNvSpPr>
          <p:nvPr/>
        </p:nvSpPr>
        <p:spPr>
          <a:xfrm xmlns:a="http://schemas.openxmlformats.org/drawingml/2006/main">
            <a:off x="4588924" y="3999225"/>
            <a:ext cx="3014152" cy="563846"/>
          </a:xfrm>
          <a:prstGeom xmlns:a="http://schemas.openxmlformats.org/drawingml/2006/main" prst="roundRect">
            <a:avLst>
              <a:gd name="adj" fmla="val 9010"/>
            </a:avLst>
          </a:prstGeom>
          <a:solidFill xmlns:a="http://schemas.openxmlformats.org/drawingml/2006/main">
            <a:srgbClr val="F6E3A8"/>
          </a:solidFill>
        </p:spPr>
        <p:txBody>
          <a:bodyPr xmlns:a="http://schemas.openxmlformats.org/drawingml/2006/main" wrap="square" lIns="86678" tIns="61341" rIns="2381" bIns="35909" anchor="t">
            <a:normAutofit fontScale="100000"/>
          </a:bodyPr>
          <a:lstStyle xmlns:a="http://schemas.openxmlformats.org/drawingml/2006/main"/>
          <a:p xmlns:a="http://schemas.openxmlformats.org/drawingml/2006/main">
            <a:pPr marL="0" indent="0" algn="l">
              <a:lnSpc>
                <a:spcPts val="1620"/>
              </a:lnSpc>
              <a:buNone/>
              <a:defRPr sz="1200" b="0" i="0">
                <a:solidFill>
                  <a:srgbClr val="5C4300"/>
                </a:solidFill>
                <a:latin typeface="Arial"/>
                <a:ea typeface="Arial"/>
                <a:cs typeface="Arial"/>
              </a:defRPr>
            </a:pPr>
            <a:r>
              <a:rPr sz="1200" b="0" i="0">
                <a:solidFill>
                  <a:srgbClr val="5C4300"/>
                </a:solidFill>
                <a:latin typeface="Arial"/>
                <a:ea typeface="Arial"/>
                <a:cs typeface="Arial"/>
              </a:rPr>
              <a:t>Next: controlled component tests on outcome-unselected cohorts.</a:t>
            </a:r>
          </a:p>
        </p:txBody>
      </p:sp>
      <p:sp>
        <p:nvSpPr>
          <p:cNvPr id="36" name="Shape 29">
            <a:extLst xmlns:a="http://schemas.openxmlformats.org/drawingml/2006/main">
              <a:ext uri="{FF2B5EF4-FFF2-40B4-BE49-F238E27FC236}">
                <a16:creationId xmlns:a16="http://schemas.microsoft.com/office/drawing/2014/main" id="{32611F69-EF79-4AE4-9AD4-C6DAE424AF69}"/>
              </a:ext>
            </a:extLst>
          </p:cNvPr>
          <p:cNvSpPr>
            <a:spLocks xmlns:a="http://schemas.openxmlformats.org/drawingml/2006/main" noGrp="1"/>
          </p:cNvSpPr>
          <p:nvPr/>
        </p:nvSpPr>
        <p:spPr>
          <a:xfrm xmlns:a="http://schemas.openxmlformats.org/drawingml/2006/main">
            <a:off x="7958676" y="2759104"/>
            <a:ext cx="3420524" cy="1981767"/>
          </a:xfrm>
          <a:prstGeom xmlns:a="http://schemas.openxmlformats.org/drawingml/2006/main" prst="roundRect">
            <a:avLst>
              <a:gd name="adj" fmla="val 3845"/>
            </a:avLst>
          </a:prstGeom>
          <a:solidFill xmlns:a="http://schemas.openxmlformats.org/drawingml/2006/main">
            <a:srgbClr val="FCFBF6"/>
          </a:solidFill>
        </p:spPr>
      </p:sp>
      <p:sp>
        <p:nvSpPr>
          <p:cNvPr id="37" name="Shape 30">
            <a:extLst xmlns:a="http://schemas.openxmlformats.org/drawingml/2006/main">
              <a:ext uri="{FF2B5EF4-FFF2-40B4-BE49-F238E27FC236}">
                <a16:creationId xmlns:a16="http://schemas.microsoft.com/office/drawing/2014/main" id="{DEFA62D5-DA8F-4FE2-A7C5-20F453D30C75}"/>
              </a:ext>
            </a:extLst>
          </p:cNvPr>
          <p:cNvSpPr>
            <a:spLocks xmlns:a="http://schemas.openxmlformats.org/drawingml/2006/main" noGrp="1"/>
          </p:cNvSpPr>
          <p:nvPr/>
        </p:nvSpPr>
        <p:spPr>
          <a:xfrm xmlns:a="http://schemas.openxmlformats.org/drawingml/2006/main">
            <a:off x="7958676" y="2759104"/>
            <a:ext cx="3420524" cy="1981767"/>
          </a:xfrm>
          <a:custGeom xmlns:a="http://schemas.openxmlformats.org/drawingml/2006/main">
            <a:rect l="l" t="t" r="r" b="b"/>
            <a:pathLst>
              <a:path w="3420524" h="1981767">
                <a:moveTo>
                  <a:pt x="0" y="76200"/>
                </a:moveTo>
                <a:lnTo>
                  <a:pt x="0" y="76200"/>
                </a:lnTo>
                <a:arcTo wR="76200" hR="76200" stAng="10800000" swAng="5400000"/>
                <a:lnTo>
                  <a:pt x="3344324" y="0"/>
                </a:lnTo>
                <a:arcTo wR="76200" hR="76200" stAng="16200000" swAng="5400000"/>
                <a:lnTo>
                  <a:pt x="3420524" y="76200"/>
                </a:lnTo>
                <a:arcTo wR="76200" hR="38100" stAng="0" swAng="-5400000"/>
                <a:lnTo>
                  <a:pt x="76200" y="38100"/>
                </a:lnTo>
                <a:arcTo wR="76200" hR="38100" stAng="16200000" swAng="-5400000"/>
                <a:close/>
              </a:path>
            </a:pathLst>
          </a:custGeom>
          <a:solidFill xmlns:a="http://schemas.openxmlformats.org/drawingml/2006/main">
            <a:srgbClr val="0F6B6E"/>
          </a:solidFill>
        </p:spPr>
      </p:sp>
      <p:sp>
        <p:nvSpPr>
          <p:cNvPr id="38" name="Text 31">
            <a:extLst xmlns:a="http://schemas.openxmlformats.org/drawingml/2006/main">
              <a:ext uri="{FF2B5EF4-FFF2-40B4-BE49-F238E27FC236}">
                <a16:creationId xmlns:a16="http://schemas.microsoft.com/office/drawing/2014/main" id="{E48A4354-062F-4A60-84C0-3D0E04B78D80}"/>
              </a:ext>
            </a:extLst>
          </p:cNvPr>
          <p:cNvSpPr>
            <a:spLocks xmlns:a="http://schemas.openxmlformats.org/drawingml/2006/main" noGrp="1"/>
          </p:cNvSpPr>
          <p:nvPr/>
        </p:nvSpPr>
        <p:spPr>
          <a:xfrm xmlns:a="http://schemas.openxmlformats.org/drawingml/2006/main">
            <a:off x="8161876" y="2975004"/>
            <a:ext cx="3104548" cy="4826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1800"/>
              </a:lnSpc>
              <a:buNone/>
              <a:defRPr sz="1500" b="1" i="0">
                <a:solidFill>
                  <a:srgbClr val="0F4C5C"/>
                </a:solidFill>
                <a:latin typeface="Arial"/>
                <a:ea typeface="Arial"/>
                <a:cs typeface="Arial"/>
              </a:defRPr>
            </a:pPr>
            <a:r>
              <a:rPr sz="1500" b="1" i="0">
                <a:solidFill>
                  <a:srgbClr val="0F4C5C"/>
                </a:solidFill>
                <a:latin typeface="Arial"/>
                <a:ea typeface="Arial"/>
                <a:cs typeface="Arial"/>
              </a:rPr>
              <a:t>RQ3 · An evidence-led improvement?</a:t>
            </a:r>
          </a:p>
        </p:txBody>
      </p:sp>
      <p:sp>
        <p:nvSpPr>
          <p:cNvPr id="39" name="Text 32">
            <a:extLst xmlns:a="http://schemas.openxmlformats.org/drawingml/2006/main">
              <a:ext uri="{FF2B5EF4-FFF2-40B4-BE49-F238E27FC236}">
                <a16:creationId xmlns:a16="http://schemas.microsoft.com/office/drawing/2014/main" id="{A082BECB-2522-4015-8563-D4079E8A665F}"/>
              </a:ext>
            </a:extLst>
          </p:cNvPr>
          <p:cNvSpPr>
            <a:spLocks xmlns:a="http://schemas.openxmlformats.org/drawingml/2006/main" noGrp="1"/>
          </p:cNvSpPr>
          <p:nvPr/>
        </p:nvSpPr>
        <p:spPr>
          <a:xfrm xmlns:a="http://schemas.openxmlformats.org/drawingml/2006/main">
            <a:off x="8161876" y="3495704"/>
            <a:ext cx="3104548" cy="471147"/>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1755"/>
              </a:lnSpc>
              <a:buNone/>
              <a:defRPr sz="1300" b="0" i="0">
                <a:solidFill>
                  <a:srgbClr val="1C3540"/>
                </a:solidFill>
                <a:latin typeface="Arial"/>
                <a:ea typeface="Arial"/>
                <a:cs typeface="Arial"/>
              </a:defRPr>
            </a:pPr>
            <a:r>
              <a:rPr sz="1300" b="0" i="0">
                <a:solidFill>
                  <a:srgbClr val="1C3540"/>
                </a:solidFill>
                <a:latin typeface="Arial"/>
                <a:ea typeface="Arial"/>
                <a:cs typeface="Arial"/>
              </a:rPr>
              <a:t>Conditional on the analysis. No validated improvement or adaptive policy yet.</a:t>
            </a:r>
          </a:p>
        </p:txBody>
      </p:sp>
      <p:sp>
        <p:nvSpPr>
          <p:cNvPr id="40" name="Text 33">
            <a:extLst xmlns:a="http://schemas.openxmlformats.org/drawingml/2006/main">
              <a:ext uri="{FF2B5EF4-FFF2-40B4-BE49-F238E27FC236}">
                <a16:creationId xmlns:a16="http://schemas.microsoft.com/office/drawing/2014/main" id="{DDAAF92A-CA33-4995-845F-E3CE10D865C7}"/>
              </a:ext>
            </a:extLst>
          </p:cNvPr>
          <p:cNvSpPr>
            <a:spLocks xmlns:a="http://schemas.openxmlformats.org/drawingml/2006/main" noGrp="1"/>
          </p:cNvSpPr>
          <p:nvPr/>
        </p:nvSpPr>
        <p:spPr>
          <a:xfrm xmlns:a="http://schemas.openxmlformats.org/drawingml/2006/main">
            <a:off x="812800" y="6238252"/>
            <a:ext cx="10883393" cy="238749"/>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1680"/>
              </a:lnSpc>
              <a:buNone/>
              <a:defRPr sz="1200" b="0" i="0">
                <a:solidFill>
                  <a:srgbClr val="6B7D84"/>
                </a:solidFill>
                <a:latin typeface="Arial"/>
                <a:ea typeface="Arial"/>
                <a:cs typeface="Arial"/>
              </a:defRPr>
            </a:pPr>
            <a:r>
              <a:rPr sz="1200" b="0" i="0">
                <a:solidFill>
                  <a:srgbClr val="6B7D84"/>
                </a:solidFill>
                <a:latin typeface="Arial"/>
                <a:ea typeface="Arial"/>
                <a:cs typeface="Arial"/>
              </a:rPr>
              <a:t>E: reconstruction error from 10 FPS basis features. Two stages: 96→32 (avg. 64) or 288→96 (avg. 192). · 2 / 5</a:t>
            </a:r>
          </a:p>
        </p:txBody>
      </p:sp>
    </p:spTree>
    <p:extLst>
      <p:ext uri="{BB962C8B-B14F-4D97-AF65-F5344CB8AC3E}">
        <p14:creationId xmlns:p14="http://schemas.microsoft.com/office/powerpoint/2010/main" val="1125347587"/>
      </p:ext>
    </p:extLst>
  </p:cSld>
</p:sld>
</file>

<file path=ppt/slides/slide3.xml><?xml version="1.0" encoding="utf-8"?>
<p:sld xmlns:p="http://schemas.openxmlformats.org/presentationml/2006/main">
  <p:cSld>
    <p:bg>
      <p:bgPr>
        <a:solidFill xmlns:a="http://schemas.openxmlformats.org/drawingml/2006/main">
          <a:srgbClr val="F7F4EA"/>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BF3494C-ED4D-437D-AAE8-E65088404724}"/>
              </a:ext>
            </a:extLst>
          </p:cNvPr>
          <p:cNvSpPr>
            <a:spLocks xmlns:a="http://schemas.openxmlformats.org/drawingml/2006/main" noGrp="1"/>
          </p:cNvSpPr>
          <p:nvPr>
            <p:ph type="title" idx="0"/>
          </p:nvPr>
        </p:nvSpPr>
        <p:spPr>
          <a:xfrm xmlns:a="http://schemas.openxmlformats.org/drawingml/2006/main">
            <a:off x="812800" y="812800"/>
            <a:ext cx="10883393" cy="416549"/>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3080"/>
              </a:lnSpc>
              <a:buNone/>
              <a:defRPr sz="2800" b="1" i="0">
                <a:solidFill>
                  <a:srgbClr val="0F4C5C"/>
                </a:solidFill>
                <a:latin typeface="Georgia"/>
                <a:ea typeface="Georgia"/>
                <a:cs typeface="Georgia"/>
              </a:defRPr>
            </a:pPr>
            <a:r>
              <a:rPr sz="2800" b="1" i="0">
                <a:solidFill>
                  <a:srgbClr val="0F4C5C"/>
                </a:solidFill>
                <a:latin typeface="Georgia"/>
                <a:ea typeface="Georgia"/>
                <a:cs typeface="Georgia"/>
              </a:rPr>
              <a:t>From reconstruction error to answer preservation</a:t>
            </a:r>
          </a:p>
        </p:txBody>
      </p:sp>
      <p:sp>
        <p:nvSpPr>
          <p:cNvPr id="3" name="Text 1">
            <a:extLst xmlns:a="http://schemas.openxmlformats.org/drawingml/2006/main">
              <a:ext uri="{FF2B5EF4-FFF2-40B4-BE49-F238E27FC236}">
                <a16:creationId xmlns:a16="http://schemas.microsoft.com/office/drawing/2014/main" id="{914F609A-CF8A-4619-A26D-AC9628E49D13}"/>
              </a:ext>
            </a:extLst>
          </p:cNvPr>
          <p:cNvSpPr>
            <a:spLocks xmlns:a="http://schemas.openxmlformats.org/drawingml/2006/main" noGrp="1"/>
          </p:cNvSpPr>
          <p:nvPr/>
        </p:nvSpPr>
        <p:spPr>
          <a:xfrm xmlns:a="http://schemas.openxmlformats.org/drawingml/2006/main">
            <a:off x="812800" y="1407150"/>
            <a:ext cx="3488247" cy="513046"/>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1920"/>
              </a:lnSpc>
              <a:buNone/>
              <a:defRPr sz="1600" b="1" i="0">
                <a:solidFill>
                  <a:srgbClr val="0F4C5C"/>
                </a:solidFill>
                <a:latin typeface="Arial"/>
                <a:ea typeface="Arial"/>
                <a:cs typeface="Arial"/>
              </a:defRPr>
            </a:pPr>
            <a:r>
              <a:rPr sz="1600" b="1" i="0">
                <a:solidFill>
                  <a:srgbClr val="0F4C5C"/>
                </a:solidFill>
                <a:latin typeface="Arial"/>
                <a:ea typeface="Arial"/>
                <a:cs typeface="Arial"/>
              </a:rPr>
              <a:t>① E and answer sensitivity differ</a:t>
            </a:r>
          </a:p>
        </p:txBody>
      </p:sp>
      <p:sp>
        <p:nvSpPr>
          <p:cNvPr id="4" name="Text 2">
            <a:extLst xmlns:a="http://schemas.openxmlformats.org/drawingml/2006/main">
              <a:ext uri="{FF2B5EF4-FFF2-40B4-BE49-F238E27FC236}">
                <a16:creationId xmlns:a16="http://schemas.microsoft.com/office/drawing/2014/main" id="{1A8E1F33-2967-49C1-B55C-08882DA13480}"/>
              </a:ext>
            </a:extLst>
          </p:cNvPr>
          <p:cNvSpPr>
            <a:spLocks xmlns:a="http://schemas.openxmlformats.org/drawingml/2006/main" noGrp="1"/>
          </p:cNvSpPr>
          <p:nvPr/>
        </p:nvSpPr>
        <p:spPr>
          <a:xfrm xmlns:a="http://schemas.openxmlformats.org/drawingml/2006/main">
            <a:off x="812800" y="1970996"/>
            <a:ext cx="3488247" cy="642569"/>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1620"/>
              </a:lnSpc>
              <a:buNone/>
              <a:defRPr sz="1200" b="0" i="0">
                <a:solidFill>
                  <a:srgbClr val="4A5E66"/>
                </a:solidFill>
                <a:latin typeface="Arial"/>
                <a:ea typeface="Arial"/>
                <a:cs typeface="Arial"/>
              </a:defRPr>
            </a:pPr>
            <a:r>
              <a:rPr sz="1200" b="0" i="0">
                <a:solidFill>
                  <a:srgbClr val="4A5E66"/>
                </a:solidFill>
                <a:latin typeface="Arial"/>
                <a:ea typeface="Arial"/>
                <a:cs typeface="Arial"/>
              </a:rPr>
              <a:t>IH-inspired retain-one test: first reference-token probability relative to removing all visual states. 30 selected questions.</a:t>
            </a:r>
          </a:p>
        </p:txBody>
      </p:sp>
      <p:pic>
        <p:nvPicPr>
          <p:cNvPr id="49" name="Image 0"/>
          <p:cNvPicPr>
            <a:picLocks xmlns:a="http://schemas.openxmlformats.org/drawingml/2006/main" noChangeAspect="1"/>
          </p:cNvPicPr>
          <p:nvPr/>
        </p:nvPicPr>
        <p:blipFill>
          <a:blip xmlns:r="http://schemas.openxmlformats.org/officeDocument/2006/relationships" xmlns:a="http://schemas.openxmlformats.org/drawingml/2006/main" r:embed="R07ba97ff1fae4769"/>
          <a:srcRect xmlns:a="http://schemas.openxmlformats.org/drawingml/2006/main" l="0" t="-22" r="0" b="-22"/>
          <a:stretch xmlns:a="http://schemas.openxmlformats.org/drawingml/2006/main"/>
        </p:blipFill>
        <p:spPr>
          <a:xfrm xmlns:a="http://schemas.openxmlformats.org/drawingml/2006/main">
            <a:off x="812800" y="2664365"/>
            <a:ext cx="3149600" cy="2159000"/>
          </a:xfrm>
          <a:prstGeom xmlns:a="http://schemas.openxmlformats.org/drawingml/2006/main" prst="roundRect">
            <a:avLst/>
          </a:prstGeom>
        </p:spPr>
      </p:pic>
      <p:sp>
        <p:nvSpPr>
          <p:cNvPr id="6" name="Text 3">
            <a:extLst xmlns:a="http://schemas.openxmlformats.org/drawingml/2006/main">
              <a:ext uri="{FF2B5EF4-FFF2-40B4-BE49-F238E27FC236}">
                <a16:creationId xmlns:a16="http://schemas.microsoft.com/office/drawing/2014/main" id="{E3C46AAC-5251-4E89-9EAD-8C5FFAB03537}"/>
              </a:ext>
            </a:extLst>
          </p:cNvPr>
          <p:cNvSpPr>
            <a:spLocks xmlns:a="http://schemas.openxmlformats.org/drawingml/2006/main" noGrp="1"/>
          </p:cNvSpPr>
          <p:nvPr/>
        </p:nvSpPr>
        <p:spPr>
          <a:xfrm xmlns:a="http://schemas.openxmlformats.org/drawingml/2006/main">
            <a:off x="812800" y="4899565"/>
            <a:ext cx="3488247" cy="436846"/>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1620"/>
              </a:lnSpc>
              <a:buNone/>
              <a:defRPr sz="1200" b="0" i="0">
                <a:solidFill>
                  <a:srgbClr val="1C3540"/>
                </a:solidFill>
                <a:latin typeface="Arial"/>
                <a:ea typeface="Arial"/>
                <a:cs typeface="Arial"/>
              </a:defRPr>
            </a:pPr>
            <a:r>
              <a:rPr sz="1200" b="0" i="0">
                <a:solidFill>
                  <a:srgbClr val="1C3540"/>
                </a:solidFill>
                <a:latin typeface="Arial"/>
                <a:ea typeface="Arial"/>
                <a:cs typeface="Arial"/>
              </a:rPr>
              <a:t>Median correlations: −0.14 to −0.07.</a:t>
            </a:r>
          </a:p>
          <a:p xmlns:a="http://schemas.openxmlformats.org/drawingml/2006/main">
            <a:pPr marL="0" indent="0" algn="l">
              <a:lnSpc>
                <a:spcPts val="1620"/>
              </a:lnSpc>
              <a:buNone/>
              <a:defRPr sz="1200" b="0" i="0">
                <a:solidFill>
                  <a:srgbClr val="1C3540"/>
                </a:solidFill>
                <a:latin typeface="Arial"/>
                <a:ea typeface="Arial"/>
                <a:cs typeface="Arial"/>
              </a:defRPr>
            </a:pPr>
            <a:r>
              <a:rPr sz="1200" b="0" i="0">
                <a:solidFill>
                  <a:srgbClr val="1C3540"/>
                </a:solidFill>
                <a:latin typeface="Arial"/>
                <a:ea typeface="Arial"/>
                <a:cs typeface="Arial"/>
              </a:rPr>
              <a:t>Interpretation depends on the intervention.</a:t>
            </a:r>
          </a:p>
        </p:txBody>
      </p:sp>
      <p:sp>
        <p:nvSpPr>
          <p:cNvPr id="7" name="Text 4">
            <a:extLst xmlns:a="http://schemas.openxmlformats.org/drawingml/2006/main">
              <a:ext uri="{FF2B5EF4-FFF2-40B4-BE49-F238E27FC236}">
                <a16:creationId xmlns:a16="http://schemas.microsoft.com/office/drawing/2014/main" id="{CD76EFAD-3023-44EB-A6A3-4E679FC27A96}"/>
              </a:ext>
            </a:extLst>
          </p:cNvPr>
          <p:cNvSpPr>
            <a:spLocks xmlns:a="http://schemas.openxmlformats.org/drawingml/2006/main" noGrp="1"/>
          </p:cNvSpPr>
          <p:nvPr/>
        </p:nvSpPr>
        <p:spPr>
          <a:xfrm xmlns:a="http://schemas.openxmlformats.org/drawingml/2006/main">
            <a:off x="4402648" y="1407150"/>
            <a:ext cx="3488277" cy="513046"/>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1920"/>
              </a:lnSpc>
              <a:buNone/>
              <a:defRPr sz="1600" b="1" i="0">
                <a:solidFill>
                  <a:srgbClr val="0F4C5C"/>
                </a:solidFill>
                <a:latin typeface="Arial"/>
                <a:ea typeface="Arial"/>
                <a:cs typeface="Arial"/>
              </a:defRPr>
            </a:pPr>
            <a:r>
              <a:rPr sz="1600" b="1" i="0">
                <a:solidFill>
                  <a:srgbClr val="0F4C5C"/>
                </a:solidFill>
                <a:latin typeface="Arial"/>
                <a:ea typeface="Arial"/>
                <a:cs typeface="Arial"/>
              </a:rPr>
              <a:t>② Merging has uneven roles</a:t>
            </a:r>
          </a:p>
        </p:txBody>
      </p:sp>
      <p:sp>
        <p:nvSpPr>
          <p:cNvPr id="8" name="Text 5">
            <a:extLst xmlns:a="http://schemas.openxmlformats.org/drawingml/2006/main">
              <a:ext uri="{FF2B5EF4-FFF2-40B4-BE49-F238E27FC236}">
                <a16:creationId xmlns:a16="http://schemas.microsoft.com/office/drawing/2014/main" id="{D3B2005C-0C1F-48C5-AF65-E99024D6E35C}"/>
              </a:ext>
            </a:extLst>
          </p:cNvPr>
          <p:cNvSpPr>
            <a:spLocks xmlns:a="http://schemas.openxmlformats.org/drawingml/2006/main" noGrp="1"/>
          </p:cNvSpPr>
          <p:nvPr/>
        </p:nvSpPr>
        <p:spPr>
          <a:xfrm xmlns:a="http://schemas.openxmlformats.org/drawingml/2006/main">
            <a:off x="4402648" y="1970996"/>
            <a:ext cx="3488277" cy="436846"/>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1620"/>
              </a:lnSpc>
              <a:buNone/>
              <a:defRPr sz="1200" b="0" i="0">
                <a:solidFill>
                  <a:srgbClr val="4A5E66"/>
                </a:solidFill>
                <a:latin typeface="Arial"/>
                <a:ea typeface="Arial"/>
                <a:cs typeface="Arial"/>
              </a:defRPr>
            </a:pPr>
            <a:r>
              <a:rPr sz="1200" b="0" i="0">
                <a:solidFill>
                  <a:srgbClr val="4A5E66"/>
                </a:solidFill>
                <a:latin typeface="Arial"/>
                <a:ea typeface="Arial"/>
                <a:cs typeface="Arial"/>
              </a:rPr>
              <a:t>Earlier input-only288 panel: 24 images. Basis slots excluded from merge targets.</a:t>
            </a:r>
          </a:p>
        </p:txBody>
      </p:sp>
      <p:sp>
        <p:nvSpPr>
          <p:cNvPr id="10" name="Text 7">
            <a:extLst xmlns:a="http://schemas.openxmlformats.org/drawingml/2006/main">
              <a:ext uri="{FF2B5EF4-FFF2-40B4-BE49-F238E27FC236}">
                <a16:creationId xmlns:a16="http://schemas.microsoft.com/office/drawing/2014/main" id="{7EA0EBB1-4F49-4A11-AB3C-3F01FAD0B43D}"/>
              </a:ext>
            </a:extLst>
          </p:cNvPr>
          <p:cNvSpPr>
            <a:spLocks xmlns:a="http://schemas.openxmlformats.org/drawingml/2006/main" noGrp="1"/>
          </p:cNvSpPr>
          <p:nvPr/>
        </p:nvSpPr>
        <p:spPr>
          <a:xfrm xmlns:a="http://schemas.openxmlformats.org/drawingml/2006/main">
            <a:off x="4529614" y="2458688"/>
            <a:ext cx="3143250" cy="238792"/>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1680"/>
              </a:lnSpc>
              <a:buNone/>
              <a:defRPr sz="1200" b="0" i="0">
                <a:solidFill>
                  <a:srgbClr val="1C3540"/>
                </a:solidFill>
                <a:latin typeface="Arial"/>
                <a:ea typeface="Arial"/>
                <a:cs typeface="Arial"/>
              </a:defRPr>
            </a:pPr>
            <a:r>
              <a:rPr sz="1200" b="0" i="0">
                <a:solidFill>
                  <a:srgbClr val="1C3540"/>
                </a:solidFill>
                <a:latin typeface="Arial"/>
                <a:ea typeface="Arial"/>
                <a:cs typeface="Arial"/>
              </a:rPr>
              <a:t>Share of incoming merges</a:t>
            </a:r>
          </a:p>
        </p:txBody>
      </p:sp>
      <p:sp>
        <p:nvSpPr>
          <p:cNvPr id="15" name="Shape 12">
            <a:extLst xmlns:a="http://schemas.openxmlformats.org/drawingml/2006/main">
              <a:ext uri="{FF2B5EF4-FFF2-40B4-BE49-F238E27FC236}">
                <a16:creationId xmlns:a16="http://schemas.microsoft.com/office/drawing/2014/main" id="{F2EBA206-35A7-4E31-B356-0D636513CCE2}"/>
              </a:ext>
            </a:extLst>
          </p:cNvPr>
          <p:cNvSpPr>
            <a:spLocks xmlns:a="http://schemas.openxmlformats.org/drawingml/2006/main" noGrp="1"/>
          </p:cNvSpPr>
          <p:nvPr/>
        </p:nvSpPr>
        <p:spPr>
          <a:xfrm xmlns:a="http://schemas.openxmlformats.org/drawingml/2006/main">
            <a:off x="4402648" y="2748190"/>
            <a:ext cx="3386676" cy="1188669"/>
          </a:xfrm>
          <a:prstGeom xmlns:a="http://schemas.openxmlformats.org/drawingml/2006/main" prst="roundRect">
            <a:avLst>
              <a:gd name="adj" fmla="val 5342"/>
            </a:avLst>
          </a:prstGeom>
          <a:solidFill xmlns:a="http://schemas.openxmlformats.org/drawingml/2006/main">
            <a:srgbClr val="FCFBF6"/>
          </a:solidFill>
        </p:spPr>
      </p:sp>
      <p:sp>
        <p:nvSpPr>
          <p:cNvPr id="16" name="Text 13">
            <a:extLst xmlns:a="http://schemas.openxmlformats.org/drawingml/2006/main">
              <a:ext uri="{FF2B5EF4-FFF2-40B4-BE49-F238E27FC236}">
                <a16:creationId xmlns:a16="http://schemas.microsoft.com/office/drawing/2014/main" id="{475B9732-A7D3-4EA2-A62D-1919EF004EC8}"/>
              </a:ext>
            </a:extLst>
          </p:cNvPr>
          <p:cNvSpPr>
            <a:spLocks xmlns:a="http://schemas.openxmlformats.org/drawingml/2006/main" noGrp="1"/>
          </p:cNvSpPr>
          <p:nvPr/>
        </p:nvSpPr>
        <p:spPr>
          <a:xfrm xmlns:a="http://schemas.openxmlformats.org/drawingml/2006/main">
            <a:off x="4529648" y="2849790"/>
            <a:ext cx="3226657" cy="256523"/>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1820"/>
              </a:lnSpc>
              <a:buNone/>
              <a:defRPr sz="1300" b="1" i="0">
                <a:solidFill>
                  <a:srgbClr val="1C3540"/>
                </a:solidFill>
                <a:latin typeface="Arial"/>
                <a:ea typeface="Arial"/>
                <a:cs typeface="Arial"/>
              </a:defRPr>
            </a:pPr>
            <a:r>
              <a:rPr sz="1300" b="1" i="0">
                <a:solidFill>
                  <a:srgbClr val="1C3540"/>
                </a:solidFill>
                <a:latin typeface="Arial"/>
                <a:ea typeface="Arial"/>
                <a:cs typeface="Arial"/>
              </a:rPr>
              <a:t>Lowest-E retained quarter</a:t>
            </a:r>
          </a:p>
        </p:txBody>
      </p:sp>
      <p:sp>
        <p:nvSpPr>
          <p:cNvPr id="17" name="Shape 14">
            <a:extLst xmlns:a="http://schemas.openxmlformats.org/drawingml/2006/main">
              <a:ext uri="{FF2B5EF4-FFF2-40B4-BE49-F238E27FC236}">
                <a16:creationId xmlns:a16="http://schemas.microsoft.com/office/drawing/2014/main" id="{1D3EA6E3-87EB-4302-B7E2-52ACF17245AD}"/>
              </a:ext>
            </a:extLst>
          </p:cNvPr>
          <p:cNvSpPr>
            <a:spLocks xmlns:a="http://schemas.openxmlformats.org/drawingml/2006/main" noGrp="1"/>
          </p:cNvSpPr>
          <p:nvPr/>
        </p:nvSpPr>
        <p:spPr>
          <a:xfrm xmlns:a="http://schemas.openxmlformats.org/drawingml/2006/main">
            <a:off x="4529614" y="3228975"/>
            <a:ext cx="1574064" cy="190500"/>
          </a:xfrm>
          <a:prstGeom xmlns:a="http://schemas.openxmlformats.org/drawingml/2006/main" prst="rect">
            <a:avLst/>
          </a:prstGeom>
          <a:solidFill xmlns:a="http://schemas.openxmlformats.org/drawingml/2006/main">
            <a:srgbClr val="0F6B6E"/>
          </a:solidFill>
        </p:spPr>
      </p:sp>
      <p:sp>
        <p:nvSpPr>
          <p:cNvPr id="18" name="Text 15">
            <a:extLst xmlns:a="http://schemas.openxmlformats.org/drawingml/2006/main">
              <a:ext uri="{FF2B5EF4-FFF2-40B4-BE49-F238E27FC236}">
                <a16:creationId xmlns:a16="http://schemas.microsoft.com/office/drawing/2014/main" id="{6030961C-E3BD-4A46-8BA2-A0353B31FA72}"/>
              </a:ext>
            </a:extLst>
          </p:cNvPr>
          <p:cNvSpPr>
            <a:spLocks xmlns:a="http://schemas.openxmlformats.org/drawingml/2006/main" noGrp="1"/>
          </p:cNvSpPr>
          <p:nvPr/>
        </p:nvSpPr>
        <p:spPr>
          <a:xfrm xmlns:a="http://schemas.openxmlformats.org/drawingml/2006/main">
            <a:off x="6189403" y="3162300"/>
            <a:ext cx="838200" cy="345377"/>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1680"/>
              </a:lnSpc>
              <a:buNone/>
              <a:defRPr sz="2000" b="1" i="0">
                <a:solidFill>
                  <a:srgbClr val="0F4C5C"/>
                </a:solidFill>
                <a:latin typeface="Arial"/>
                <a:ea typeface="Arial"/>
                <a:cs typeface="Arial"/>
              </a:defRPr>
            </a:pPr>
            <a:r>
              <a:rPr sz="2000" b="1" i="0">
                <a:solidFill>
                  <a:srgbClr val="0F4C5C"/>
                </a:solidFill>
                <a:latin typeface="Arial"/>
                <a:ea typeface="Arial"/>
                <a:cs typeface="Arial"/>
              </a:rPr>
              <a:t>66.1%</a:t>
            </a:r>
          </a:p>
        </p:txBody>
      </p:sp>
      <p:sp>
        <p:nvSpPr>
          <p:cNvPr id="20" name="Text 17">
            <a:extLst xmlns:a="http://schemas.openxmlformats.org/drawingml/2006/main">
              <a:ext uri="{FF2B5EF4-FFF2-40B4-BE49-F238E27FC236}">
                <a16:creationId xmlns:a16="http://schemas.microsoft.com/office/drawing/2014/main" id="{D084C33A-8BC1-4A57-925B-9AF8100AAD77}"/>
              </a:ext>
            </a:extLst>
          </p:cNvPr>
          <p:cNvSpPr>
            <a:spLocks xmlns:a="http://schemas.openxmlformats.org/drawingml/2006/main" noGrp="1"/>
          </p:cNvSpPr>
          <p:nvPr/>
        </p:nvSpPr>
        <p:spPr>
          <a:xfrm xmlns:a="http://schemas.openxmlformats.org/drawingml/2006/main">
            <a:off x="4529614" y="3590925"/>
            <a:ext cx="3143250" cy="2387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680"/>
              </a:lnSpc>
              <a:buNone/>
              <a:defRPr sz="1200" b="0" i="0">
                <a:solidFill>
                  <a:srgbClr val="49616B"/>
                </a:solidFill>
                <a:latin typeface="Arial"/>
                <a:ea typeface="Arial"/>
                <a:cs typeface="Arial"/>
              </a:defRPr>
            </a:pPr>
            <a:r>
              <a:rPr sz="1200" b="0" i="0">
                <a:solidFill>
                  <a:srgbClr val="49616B"/>
                </a:solidFill>
                <a:latin typeface="Arial"/>
                <a:ea typeface="Arial"/>
                <a:cs typeface="Arial"/>
              </a:rPr>
              <a:t>4,569 of 6,912 dropped sources</a:t>
            </a:r>
          </a:p>
        </p:txBody>
      </p:sp>
      <p:sp>
        <p:nvSpPr>
          <p:cNvPr id="23" name="Shape 20">
            <a:extLst xmlns:a="http://schemas.openxmlformats.org/drawingml/2006/main">
              <a:ext uri="{FF2B5EF4-FFF2-40B4-BE49-F238E27FC236}">
                <a16:creationId xmlns:a16="http://schemas.microsoft.com/office/drawing/2014/main" id="{4CDDD2F2-F339-446B-BECC-0799C4D75EBB}"/>
              </a:ext>
            </a:extLst>
          </p:cNvPr>
          <p:cNvSpPr>
            <a:spLocks xmlns:a="http://schemas.openxmlformats.org/drawingml/2006/main" noGrp="1"/>
          </p:cNvSpPr>
          <p:nvPr/>
        </p:nvSpPr>
        <p:spPr>
          <a:xfrm xmlns:a="http://schemas.openxmlformats.org/drawingml/2006/main">
            <a:off x="4402648" y="4013059"/>
            <a:ext cx="3386676" cy="1188669"/>
          </a:xfrm>
          <a:prstGeom xmlns:a="http://schemas.openxmlformats.org/drawingml/2006/main" prst="roundRect">
            <a:avLst>
              <a:gd name="adj" fmla="val 5342"/>
            </a:avLst>
          </a:prstGeom>
          <a:solidFill xmlns:a="http://schemas.openxmlformats.org/drawingml/2006/main">
            <a:srgbClr val="FCFBF6"/>
          </a:solidFill>
        </p:spPr>
      </p:sp>
      <p:sp>
        <p:nvSpPr>
          <p:cNvPr id="24" name="Text 21">
            <a:extLst xmlns:a="http://schemas.openxmlformats.org/drawingml/2006/main">
              <a:ext uri="{FF2B5EF4-FFF2-40B4-BE49-F238E27FC236}">
                <a16:creationId xmlns:a16="http://schemas.microsoft.com/office/drawing/2014/main" id="{AFEB2F01-AABC-4627-9E0B-CB98A685AD9B}"/>
              </a:ext>
            </a:extLst>
          </p:cNvPr>
          <p:cNvSpPr>
            <a:spLocks xmlns:a="http://schemas.openxmlformats.org/drawingml/2006/main" noGrp="1"/>
          </p:cNvSpPr>
          <p:nvPr/>
        </p:nvSpPr>
        <p:spPr>
          <a:xfrm xmlns:a="http://schemas.openxmlformats.org/drawingml/2006/main">
            <a:off x="4529648" y="4114659"/>
            <a:ext cx="3226657" cy="256523"/>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1820"/>
              </a:lnSpc>
              <a:buNone/>
              <a:defRPr sz="1300" b="1" i="0">
                <a:solidFill>
                  <a:srgbClr val="1C3540"/>
                </a:solidFill>
                <a:latin typeface="Arial"/>
                <a:ea typeface="Arial"/>
                <a:cs typeface="Arial"/>
              </a:defRPr>
            </a:pPr>
            <a:r>
              <a:rPr sz="1300" b="1" i="0">
                <a:solidFill>
                  <a:srgbClr val="1C3540"/>
                </a:solidFill>
                <a:latin typeface="Arial"/>
                <a:ea typeface="Arial"/>
                <a:cs typeface="Arial"/>
              </a:rPr>
              <a:t>Highest-E retained quarter</a:t>
            </a:r>
          </a:p>
        </p:txBody>
      </p:sp>
      <p:sp>
        <p:nvSpPr>
          <p:cNvPr id="25" name="Shape 22">
            <a:extLst xmlns:a="http://schemas.openxmlformats.org/drawingml/2006/main">
              <a:ext uri="{FF2B5EF4-FFF2-40B4-BE49-F238E27FC236}">
                <a16:creationId xmlns:a16="http://schemas.microsoft.com/office/drawing/2014/main" id="{406C48DD-A062-48F0-B2CF-F87A3A9D5D02}"/>
              </a:ext>
            </a:extLst>
          </p:cNvPr>
          <p:cNvSpPr>
            <a:spLocks xmlns:a="http://schemas.openxmlformats.org/drawingml/2006/main" noGrp="1"/>
          </p:cNvSpPr>
          <p:nvPr/>
        </p:nvSpPr>
        <p:spPr>
          <a:xfrm xmlns:a="http://schemas.openxmlformats.org/drawingml/2006/main">
            <a:off x="4529614" y="4467225"/>
            <a:ext cx="43408" cy="190500"/>
          </a:xfrm>
          <a:prstGeom xmlns:a="http://schemas.openxmlformats.org/drawingml/2006/main" prst="rect">
            <a:avLst/>
          </a:prstGeom>
          <a:solidFill xmlns:a="http://schemas.openxmlformats.org/drawingml/2006/main">
            <a:srgbClr val="D9A62B"/>
          </a:solidFill>
        </p:spPr>
      </p:sp>
      <p:sp>
        <p:nvSpPr>
          <p:cNvPr id="26" name="Text 23">
            <a:extLst xmlns:a="http://schemas.openxmlformats.org/drawingml/2006/main">
              <a:ext uri="{FF2B5EF4-FFF2-40B4-BE49-F238E27FC236}">
                <a16:creationId xmlns:a16="http://schemas.microsoft.com/office/drawing/2014/main" id="{78842FF2-1274-4047-B7C3-B5E438C562F6}"/>
              </a:ext>
            </a:extLst>
          </p:cNvPr>
          <p:cNvSpPr>
            <a:spLocks xmlns:a="http://schemas.openxmlformats.org/drawingml/2006/main" noGrp="1"/>
          </p:cNvSpPr>
          <p:nvPr/>
        </p:nvSpPr>
        <p:spPr>
          <a:xfrm xmlns:a="http://schemas.openxmlformats.org/drawingml/2006/main">
            <a:off x="4701064" y="4400550"/>
            <a:ext cx="838200" cy="345377"/>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1680"/>
              </a:lnSpc>
              <a:buNone/>
              <a:defRPr sz="2000" b="1" i="0">
                <a:solidFill>
                  <a:srgbClr val="0F4C5C"/>
                </a:solidFill>
                <a:latin typeface="Arial"/>
                <a:ea typeface="Arial"/>
                <a:cs typeface="Arial"/>
              </a:defRPr>
            </a:pPr>
            <a:r>
              <a:rPr sz="2000" b="1" i="0">
                <a:solidFill>
                  <a:srgbClr val="0F4C5C"/>
                </a:solidFill>
                <a:latin typeface="Arial"/>
                <a:ea typeface="Arial"/>
                <a:cs typeface="Arial"/>
              </a:rPr>
              <a:t>1.8%</a:t>
            </a:r>
          </a:p>
        </p:txBody>
      </p:sp>
      <p:sp>
        <p:nvSpPr>
          <p:cNvPr id="28" name="Text 25">
            <a:extLst xmlns:a="http://schemas.openxmlformats.org/drawingml/2006/main">
              <a:ext uri="{FF2B5EF4-FFF2-40B4-BE49-F238E27FC236}">
                <a16:creationId xmlns:a16="http://schemas.microsoft.com/office/drawing/2014/main" id="{C7877163-E09E-4FAB-AFC0-D27271D0B051}"/>
              </a:ext>
            </a:extLst>
          </p:cNvPr>
          <p:cNvSpPr>
            <a:spLocks xmlns:a="http://schemas.openxmlformats.org/drawingml/2006/main" noGrp="1"/>
          </p:cNvSpPr>
          <p:nvPr/>
        </p:nvSpPr>
        <p:spPr>
          <a:xfrm xmlns:a="http://schemas.openxmlformats.org/drawingml/2006/main">
            <a:off x="4529614" y="4781550"/>
            <a:ext cx="3143250" cy="4191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680"/>
              </a:lnSpc>
              <a:buNone/>
              <a:defRPr sz="1200" b="0" i="0">
                <a:solidFill>
                  <a:srgbClr val="49616B"/>
                </a:solidFill>
                <a:latin typeface="Arial"/>
                <a:ea typeface="Arial"/>
                <a:cs typeface="Arial"/>
              </a:defRPr>
            </a:pPr>
            <a:r>
              <a:rPr sz="1200" b="0" i="0">
                <a:solidFill>
                  <a:srgbClr val="49616B"/>
                </a:solidFill>
                <a:latin typeface="Arial"/>
                <a:ea typeface="Arial"/>
                <a:cs typeface="Arial"/>
              </a:rPr>
              <a:t>Protecting the top 28 rerouted</a:t>
            </a:r>
          </a:p>
          <a:p xmlns:a="http://schemas.openxmlformats.org/drawingml/2006/main">
            <a:pPr marL="0" indent="0" algn="l">
              <a:lnSpc>
                <a:spcPts val="1680"/>
              </a:lnSpc>
              <a:buNone/>
              <a:defRPr sz="1200" b="0" i="0">
                <a:solidFill>
                  <a:srgbClr val="49616B"/>
                </a:solidFill>
                <a:latin typeface="Arial"/>
                <a:ea typeface="Arial"/>
                <a:cs typeface="Arial"/>
              </a:defRPr>
            </a:pPr>
            <a:r>
              <a:rPr sz="1200" b="0" i="0">
                <a:solidFill>
                  <a:srgbClr val="49616B"/>
                </a:solidFill>
                <a:latin typeface="Arial"/>
                <a:ea typeface="Arial"/>
                <a:cs typeface="Arial"/>
              </a:rPr>
              <a:t>only 21 / 6,912 sources.</a:t>
            </a:r>
          </a:p>
        </p:txBody>
      </p:sp>
      <p:sp>
        <p:nvSpPr>
          <p:cNvPr id="30" name="Text 27">
            <a:extLst xmlns:a="http://schemas.openxmlformats.org/drawingml/2006/main">
              <a:ext uri="{FF2B5EF4-FFF2-40B4-BE49-F238E27FC236}">
                <a16:creationId xmlns:a16="http://schemas.microsoft.com/office/drawing/2014/main" id="{24B8D3C3-492A-4618-996F-8E474922A0AF}"/>
              </a:ext>
            </a:extLst>
          </p:cNvPr>
          <p:cNvSpPr>
            <a:spLocks xmlns:a="http://schemas.openxmlformats.org/drawingml/2006/main" noGrp="1"/>
          </p:cNvSpPr>
          <p:nvPr/>
        </p:nvSpPr>
        <p:spPr>
          <a:xfrm xmlns:a="http://schemas.openxmlformats.org/drawingml/2006/main">
            <a:off x="8183023" y="5286375"/>
            <a:ext cx="3135059" cy="2387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680"/>
              </a:lnSpc>
              <a:buNone/>
              <a:defRPr sz="1200" b="0" i="0">
                <a:solidFill>
                  <a:srgbClr val="49616B"/>
                </a:solidFill>
                <a:latin typeface="Arial"/>
                <a:ea typeface="Arial"/>
                <a:cs typeface="Arial"/>
              </a:defRPr>
            </a:pPr>
            <a:r>
              <a:rPr sz="1200" b="0" i="0">
                <a:solidFill>
                  <a:srgbClr val="49616B"/>
                </a:solidFill>
                <a:latin typeface="Arial"/>
                <a:ea typeface="Arial"/>
                <a:cs typeface="Arial"/>
              </a:rPr>
              <a:t>MMStar1500: 34.7% → 35.0%</a:t>
            </a:r>
          </a:p>
        </p:txBody>
      </p:sp>
      <p:sp>
        <p:nvSpPr>
          <p:cNvPr id="31" name="Text 28">
            <a:extLst xmlns:a="http://schemas.openxmlformats.org/drawingml/2006/main">
              <a:ext uri="{FF2B5EF4-FFF2-40B4-BE49-F238E27FC236}">
                <a16:creationId xmlns:a16="http://schemas.microsoft.com/office/drawing/2014/main" id="{52697EDB-628E-4178-8D4B-101DF08F6E35}"/>
              </a:ext>
            </a:extLst>
          </p:cNvPr>
          <p:cNvSpPr>
            <a:spLocks xmlns:a="http://schemas.openxmlformats.org/drawingml/2006/main" noGrp="1"/>
          </p:cNvSpPr>
          <p:nvPr/>
        </p:nvSpPr>
        <p:spPr>
          <a:xfrm xmlns:a="http://schemas.openxmlformats.org/drawingml/2006/main">
            <a:off x="7992525" y="1407150"/>
            <a:ext cx="3488277" cy="2667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920"/>
              </a:lnSpc>
              <a:buNone/>
              <a:defRPr sz="1600" b="1" i="0">
                <a:solidFill>
                  <a:srgbClr val="0F4C5C"/>
                </a:solidFill>
                <a:latin typeface="Arial"/>
                <a:ea typeface="Arial"/>
                <a:cs typeface="Arial"/>
              </a:defRPr>
            </a:pPr>
            <a:r>
              <a:rPr sz="1600" b="1" i="0">
                <a:solidFill>
                  <a:srgbClr val="0F4C5C"/>
                </a:solidFill>
                <a:latin typeface="Arial"/>
                <a:ea typeface="Arial"/>
                <a:cs typeface="Arial"/>
              </a:rPr>
              <a:t>③ Performance depends on task</a:t>
            </a:r>
          </a:p>
        </p:txBody>
      </p:sp>
      <p:sp>
        <p:nvSpPr>
          <p:cNvPr id="32" name="Text 29">
            <a:extLst xmlns:a="http://schemas.openxmlformats.org/drawingml/2006/main">
              <a:ext uri="{FF2B5EF4-FFF2-40B4-BE49-F238E27FC236}">
                <a16:creationId xmlns:a16="http://schemas.microsoft.com/office/drawing/2014/main" id="{14DBC905-9CA9-485A-B7C9-63F6CAFD90C5}"/>
              </a:ext>
            </a:extLst>
          </p:cNvPr>
          <p:cNvSpPr>
            <a:spLocks xmlns:a="http://schemas.openxmlformats.org/drawingml/2006/main" noGrp="1"/>
          </p:cNvSpPr>
          <p:nvPr/>
        </p:nvSpPr>
        <p:spPr>
          <a:xfrm xmlns:a="http://schemas.openxmlformats.org/drawingml/2006/main">
            <a:off x="7992525" y="1970996"/>
            <a:ext cx="3488277" cy="436846"/>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620"/>
              </a:lnSpc>
              <a:buNone/>
              <a:defRPr sz="1200" b="0" i="0">
                <a:solidFill>
                  <a:srgbClr val="4A5E66"/>
                </a:solidFill>
                <a:latin typeface="Arial"/>
                <a:ea typeface="Arial"/>
                <a:cs typeface="Arial"/>
              </a:defRPr>
            </a:pPr>
            <a:r>
              <a:rPr sz="1200" b="0" i="0">
                <a:solidFill>
                  <a:srgbClr val="4A5E66"/>
                </a:solidFill>
                <a:latin typeface="Arial"/>
                <a:ea typeface="Arial"/>
                <a:cs typeface="Arial"/>
              </a:rPr>
              <a:t>Native − random at the same budget:</a:t>
            </a:r>
          </a:p>
          <a:p xmlns:a="http://schemas.openxmlformats.org/drawingml/2006/main">
            <a:pPr marL="0" indent="0" algn="l">
              <a:lnSpc>
                <a:spcPts val="1620"/>
              </a:lnSpc>
              <a:buNone/>
              <a:defRPr sz="1200" b="0" i="0">
                <a:solidFill>
                  <a:srgbClr val="4A5E66"/>
                </a:solidFill>
                <a:latin typeface="Arial"/>
                <a:ea typeface="Arial"/>
                <a:cs typeface="Arial"/>
              </a:defRPr>
            </a:pPr>
            <a:r>
              <a:rPr sz="1200" b="0" i="0">
                <a:solidFill>
                  <a:srgbClr val="4A5E66"/>
                </a:solidFill>
                <a:latin typeface="Arial"/>
                <a:ea typeface="Arial"/>
                <a:cs typeface="Arial"/>
              </a:rPr>
              <a:t>96→32 (average 64 tokens).</a:t>
            </a:r>
          </a:p>
        </p:txBody>
      </p:sp>
      <p:sp>
        <p:nvSpPr>
          <p:cNvPr id="33" name="Shape 30">
            <a:extLst xmlns:a="http://schemas.openxmlformats.org/drawingml/2006/main">
              <a:ext uri="{FF2B5EF4-FFF2-40B4-BE49-F238E27FC236}">
                <a16:creationId xmlns:a16="http://schemas.microsoft.com/office/drawing/2014/main" id="{528D6D1C-AC4B-4DB8-9BAF-0AADB7AF6167}"/>
              </a:ext>
            </a:extLst>
          </p:cNvPr>
          <p:cNvSpPr>
            <a:spLocks xmlns:a="http://schemas.openxmlformats.org/drawingml/2006/main" noGrp="1"/>
          </p:cNvSpPr>
          <p:nvPr/>
        </p:nvSpPr>
        <p:spPr>
          <a:xfrm xmlns:a="http://schemas.openxmlformats.org/drawingml/2006/main">
            <a:off x="7992525" y="2458641"/>
            <a:ext cx="3386676" cy="1102320"/>
          </a:xfrm>
          <a:prstGeom xmlns:a="http://schemas.openxmlformats.org/drawingml/2006/main" prst="roundRect">
            <a:avLst>
              <a:gd name="adj" fmla="val 5761"/>
            </a:avLst>
          </a:prstGeom>
          <a:solidFill xmlns:a="http://schemas.openxmlformats.org/drawingml/2006/main">
            <a:srgbClr val="FCFBF6"/>
          </a:solidFill>
        </p:spPr>
      </p:sp>
      <p:sp>
        <p:nvSpPr>
          <p:cNvPr id="34" name="Shape 31">
            <a:extLst xmlns:a="http://schemas.openxmlformats.org/drawingml/2006/main">
              <a:ext uri="{FF2B5EF4-FFF2-40B4-BE49-F238E27FC236}">
                <a16:creationId xmlns:a16="http://schemas.microsoft.com/office/drawing/2014/main" id="{CA5B9636-8584-4A24-9BAD-5BC4F236001F}"/>
              </a:ext>
            </a:extLst>
          </p:cNvPr>
          <p:cNvSpPr>
            <a:spLocks xmlns:a="http://schemas.openxmlformats.org/drawingml/2006/main" noGrp="1"/>
          </p:cNvSpPr>
          <p:nvPr/>
        </p:nvSpPr>
        <p:spPr>
          <a:xfrm xmlns:a="http://schemas.openxmlformats.org/drawingml/2006/main">
            <a:off x="7992525" y="2458641"/>
            <a:ext cx="3386676" cy="1102320"/>
          </a:xfrm>
          <a:custGeom xmlns:a="http://schemas.openxmlformats.org/drawingml/2006/main">
            <a:rect l="l" t="t" r="r" b="b"/>
            <a:pathLst>
              <a:path w="3386676" h="1102320">
                <a:moveTo>
                  <a:pt x="63500" y="1102320"/>
                </a:moveTo>
                <a:lnTo>
                  <a:pt x="63500" y="1102320"/>
                </a:lnTo>
                <a:arcTo wR="63500" hR="63500" stAng="5400000" swAng="5400000"/>
                <a:lnTo>
                  <a:pt x="0" y="63500"/>
                </a:lnTo>
                <a:arcTo wR="63500" hR="63500" stAng="10800000" swAng="5400000"/>
                <a:lnTo>
                  <a:pt x="63500" y="0"/>
                </a:lnTo>
                <a:arcTo wR="25400" hR="63500" stAng="16200000" swAng="-5400000"/>
                <a:lnTo>
                  <a:pt x="38100" y="1038820"/>
                </a:lnTo>
                <a:arcTo wR="25400" hR="63500" stAng="10800000" swAng="-5400000"/>
                <a:close/>
              </a:path>
            </a:pathLst>
          </a:custGeom>
          <a:solidFill xmlns:a="http://schemas.openxmlformats.org/drawingml/2006/main">
            <a:srgbClr val="D9A62B"/>
          </a:solidFill>
        </p:spPr>
      </p:sp>
      <p:sp>
        <p:nvSpPr>
          <p:cNvPr id="35" name="Text 32">
            <a:extLst xmlns:a="http://schemas.openxmlformats.org/drawingml/2006/main">
              <a:ext uri="{FF2B5EF4-FFF2-40B4-BE49-F238E27FC236}">
                <a16:creationId xmlns:a16="http://schemas.microsoft.com/office/drawing/2014/main" id="{22B0A477-7785-472B-88D8-916AAAEC0172}"/>
              </a:ext>
            </a:extLst>
          </p:cNvPr>
          <p:cNvSpPr>
            <a:spLocks xmlns:a="http://schemas.openxmlformats.org/drawingml/2006/main" noGrp="1"/>
          </p:cNvSpPr>
          <p:nvPr/>
        </p:nvSpPr>
        <p:spPr>
          <a:xfrm xmlns:a="http://schemas.openxmlformats.org/drawingml/2006/main">
            <a:off x="8183025" y="2585641"/>
            <a:ext cx="3135090" cy="238749"/>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680"/>
              </a:lnSpc>
              <a:buNone/>
              <a:defRPr sz="1200" b="0" i="0">
                <a:solidFill>
                  <a:srgbClr val="4A5E66"/>
                </a:solidFill>
                <a:latin typeface="Arial"/>
                <a:ea typeface="Arial"/>
                <a:cs typeface="Arial"/>
              </a:defRPr>
            </a:pPr>
            <a:r>
              <a:rPr sz="1200" b="0" i="0">
                <a:solidFill>
                  <a:srgbClr val="4A5E66"/>
                </a:solidFill>
                <a:latin typeface="Arial"/>
                <a:ea typeface="Arial"/>
                <a:cs typeface="Arial"/>
              </a:rPr>
              <a:t>TextVQA100 (consensus)</a:t>
            </a:r>
          </a:p>
        </p:txBody>
      </p:sp>
      <p:sp>
        <p:nvSpPr>
          <p:cNvPr id="36" name="Text 33">
            <a:extLst xmlns:a="http://schemas.openxmlformats.org/drawingml/2006/main">
              <a:ext uri="{FF2B5EF4-FFF2-40B4-BE49-F238E27FC236}">
                <a16:creationId xmlns:a16="http://schemas.microsoft.com/office/drawing/2014/main" id="{6ABFCB33-B9ED-4649-BE90-114181B6F35B}"/>
              </a:ext>
            </a:extLst>
          </p:cNvPr>
          <p:cNvSpPr>
            <a:spLocks xmlns:a="http://schemas.openxmlformats.org/drawingml/2006/main" noGrp="1"/>
          </p:cNvSpPr>
          <p:nvPr/>
        </p:nvSpPr>
        <p:spPr>
          <a:xfrm xmlns:a="http://schemas.openxmlformats.org/drawingml/2006/main">
            <a:off x="8183025" y="2849790"/>
            <a:ext cx="3135090" cy="345423"/>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2520"/>
              </a:lnSpc>
              <a:buNone/>
              <a:defRPr sz="1800" b="1" i="0">
                <a:solidFill>
                  <a:srgbClr val="0F4C5C"/>
                </a:solidFill>
                <a:latin typeface="Arial"/>
                <a:ea typeface="Arial"/>
                <a:cs typeface="Arial"/>
              </a:defRPr>
            </a:pPr>
            <a:r>
              <a:rPr sz="1800" b="1" i="0">
                <a:solidFill>
                  <a:srgbClr val="0F4C5C"/>
                </a:solidFill>
                <a:latin typeface="Arial"/>
                <a:ea typeface="Arial"/>
                <a:cs typeface="Arial"/>
              </a:rPr>
              <a:t>+20.9 score points</a:t>
            </a:r>
          </a:p>
        </p:txBody>
      </p:sp>
      <p:sp>
        <p:nvSpPr>
          <p:cNvPr id="37" name="Text 34">
            <a:extLst xmlns:a="http://schemas.openxmlformats.org/drawingml/2006/main">
              <a:ext uri="{FF2B5EF4-FFF2-40B4-BE49-F238E27FC236}">
                <a16:creationId xmlns:a16="http://schemas.microsoft.com/office/drawing/2014/main" id="{9B817FE3-1D59-4209-8DC8-051F2AC9AF8A}"/>
              </a:ext>
            </a:extLst>
          </p:cNvPr>
          <p:cNvSpPr>
            <a:spLocks xmlns:a="http://schemas.openxmlformats.org/drawingml/2006/main" noGrp="1"/>
          </p:cNvSpPr>
          <p:nvPr/>
        </p:nvSpPr>
        <p:spPr>
          <a:xfrm xmlns:a="http://schemas.openxmlformats.org/drawingml/2006/main">
            <a:off x="8183025" y="3220613"/>
            <a:ext cx="3135090" cy="238749"/>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680"/>
              </a:lnSpc>
              <a:buNone/>
              <a:defRPr sz="1200" b="0" i="0">
                <a:solidFill>
                  <a:srgbClr val="1C3540"/>
                </a:solidFill>
                <a:latin typeface="Arial"/>
                <a:ea typeface="Arial"/>
                <a:cs typeface="Arial"/>
              </a:defRPr>
            </a:pPr>
            <a:r>
              <a:rPr sz="1200" b="0" i="0">
                <a:solidFill>
                  <a:srgbClr val="1C3540"/>
                </a:solidFill>
                <a:latin typeface="Arial"/>
                <a:ea typeface="Arial"/>
                <a:cs typeface="Arial"/>
              </a:rPr>
              <a:t>GQA +2.5 · MMStar −0.1 (accuracy)</a:t>
            </a:r>
          </a:p>
        </p:txBody>
      </p:sp>
      <p:sp>
        <p:nvSpPr>
          <p:cNvPr id="40" name="Text 37">
            <a:extLst xmlns:a="http://schemas.openxmlformats.org/drawingml/2006/main">
              <a:ext uri="{FF2B5EF4-FFF2-40B4-BE49-F238E27FC236}">
                <a16:creationId xmlns:a16="http://schemas.microsoft.com/office/drawing/2014/main" id="{0612CC5B-030D-45F8-BD62-DD435CEF7885}"/>
              </a:ext>
            </a:extLst>
          </p:cNvPr>
          <p:cNvSpPr>
            <a:spLocks xmlns:a="http://schemas.openxmlformats.org/drawingml/2006/main" noGrp="1"/>
          </p:cNvSpPr>
          <p:nvPr/>
        </p:nvSpPr>
        <p:spPr>
          <a:xfrm xmlns:a="http://schemas.openxmlformats.org/drawingml/2006/main">
            <a:off x="7992523" y="3743325"/>
            <a:ext cx="3488246" cy="2667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680"/>
              </a:lnSpc>
              <a:buNone/>
              <a:defRPr sz="1500" b="1" i="0">
                <a:solidFill>
                  <a:srgbClr val="0F4C5C"/>
                </a:solidFill>
                <a:latin typeface="Arial"/>
                <a:ea typeface="Arial"/>
                <a:cs typeface="Arial"/>
              </a:defRPr>
            </a:pPr>
            <a:r>
              <a:rPr sz="1500" b="1" i="0">
                <a:solidFill>
                  <a:srgbClr val="0F4C5C"/>
                </a:solidFill>
                <a:latin typeface="Arial"/>
                <a:ea typeface="Arial"/>
                <a:cs typeface="Arial"/>
              </a:rPr>
              <a:t>④ Accuracy hides answer turnover</a:t>
            </a:r>
          </a:p>
        </p:txBody>
      </p:sp>
      <p:sp>
        <p:nvSpPr>
          <p:cNvPr id="41" name="Text 38">
            <a:extLst xmlns:a="http://schemas.openxmlformats.org/drawingml/2006/main">
              <a:ext uri="{FF2B5EF4-FFF2-40B4-BE49-F238E27FC236}">
                <a16:creationId xmlns:a16="http://schemas.microsoft.com/office/drawing/2014/main" id="{D68E8B11-484C-4BEA-B8A4-35FD6D5367FB}"/>
              </a:ext>
            </a:extLst>
          </p:cNvPr>
          <p:cNvSpPr>
            <a:spLocks xmlns:a="http://schemas.openxmlformats.org/drawingml/2006/main" noGrp="1"/>
          </p:cNvSpPr>
          <p:nvPr/>
        </p:nvSpPr>
        <p:spPr>
          <a:xfrm xmlns:a="http://schemas.openxmlformats.org/drawingml/2006/main">
            <a:off x="8183025" y="4219575"/>
            <a:ext cx="3135090" cy="345377"/>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2520"/>
              </a:lnSpc>
              <a:buNone/>
              <a:defRPr sz="1800" b="1" i="0">
                <a:solidFill>
                  <a:srgbClr val="0F4C5C"/>
                </a:solidFill>
                <a:latin typeface="Arial"/>
                <a:ea typeface="Arial"/>
                <a:cs typeface="Arial"/>
              </a:defRPr>
            </a:pPr>
            <a:r>
              <a:rPr sz="1800" b="1" i="0">
                <a:solidFill>
                  <a:srgbClr val="0F4C5C"/>
                </a:solidFill>
                <a:latin typeface="Arial"/>
                <a:ea typeface="Arial"/>
                <a:cs typeface="Arial"/>
              </a:rPr>
              <a:t>34 lost · 26 gained</a:t>
            </a:r>
          </a:p>
        </p:txBody>
      </p:sp>
      <p:sp>
        <p:nvSpPr>
          <p:cNvPr id="42" name="Text 39">
            <a:extLst xmlns:a="http://schemas.openxmlformats.org/drawingml/2006/main">
              <a:ext uri="{FF2B5EF4-FFF2-40B4-BE49-F238E27FC236}">
                <a16:creationId xmlns:a16="http://schemas.microsoft.com/office/drawing/2014/main" id="{FBC2142D-9576-4F45-A7B0-723C061913E8}"/>
              </a:ext>
            </a:extLst>
          </p:cNvPr>
          <p:cNvSpPr>
            <a:spLocks xmlns:a="http://schemas.openxmlformats.org/drawingml/2006/main" noGrp="1"/>
          </p:cNvSpPr>
          <p:nvPr/>
        </p:nvSpPr>
        <p:spPr>
          <a:xfrm xmlns:a="http://schemas.openxmlformats.org/drawingml/2006/main">
            <a:off x="8183025" y="4572000"/>
            <a:ext cx="3135090" cy="238792"/>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680"/>
              </a:lnSpc>
              <a:buNone/>
              <a:defRPr sz="1200" b="0" i="0">
                <a:solidFill>
                  <a:srgbClr val="1C3540"/>
                </a:solidFill>
                <a:latin typeface="Arial"/>
                <a:ea typeface="Arial"/>
                <a:cs typeface="Arial"/>
              </a:defRPr>
            </a:pPr>
            <a:r>
              <a:rPr sz="1200" b="0" i="0">
                <a:solidFill>
                  <a:srgbClr val="1C3540"/>
                </a:solidFill>
                <a:latin typeface="Arial"/>
                <a:ea typeface="Arial"/>
                <a:cs typeface="Arial"/>
              </a:rPr>
              <a:t>GQA800: 69.0% → 68.0%</a:t>
            </a:r>
          </a:p>
        </p:txBody>
      </p:sp>
      <p:sp>
        <p:nvSpPr>
          <p:cNvPr id="43" name="Text 40">
            <a:extLst xmlns:a="http://schemas.openxmlformats.org/drawingml/2006/main">
              <a:ext uri="{FF2B5EF4-FFF2-40B4-BE49-F238E27FC236}">
                <a16:creationId xmlns:a16="http://schemas.microsoft.com/office/drawing/2014/main" id="{DAFC615B-5DCC-4044-9117-8E10074577D8}"/>
              </a:ext>
            </a:extLst>
          </p:cNvPr>
          <p:cNvSpPr>
            <a:spLocks xmlns:a="http://schemas.openxmlformats.org/drawingml/2006/main" noGrp="1"/>
          </p:cNvSpPr>
          <p:nvPr/>
        </p:nvSpPr>
        <p:spPr>
          <a:xfrm xmlns:a="http://schemas.openxmlformats.org/drawingml/2006/main">
            <a:off x="8183023" y="4933950"/>
            <a:ext cx="3135059" cy="345377"/>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620"/>
              </a:lnSpc>
              <a:buNone/>
              <a:defRPr sz="1800" b="1" i="0">
                <a:solidFill>
                  <a:srgbClr val="0F4C5C"/>
                </a:solidFill>
                <a:latin typeface="Arial"/>
                <a:ea typeface="Arial"/>
                <a:cs typeface="Arial"/>
              </a:defRPr>
            </a:pPr>
            <a:r>
              <a:rPr sz="1800" b="1" i="0">
                <a:solidFill>
                  <a:srgbClr val="0F4C5C"/>
                </a:solidFill>
                <a:latin typeface="Arial"/>
                <a:ea typeface="Arial"/>
                <a:cs typeface="Arial"/>
              </a:rPr>
              <a:t>36 lost · 40 gained</a:t>
            </a:r>
          </a:p>
        </p:txBody>
      </p:sp>
      <p:sp>
        <p:nvSpPr>
          <p:cNvPr id="44" name="Text 41">
            <a:extLst xmlns:a="http://schemas.openxmlformats.org/drawingml/2006/main">
              <a:ext uri="{FF2B5EF4-FFF2-40B4-BE49-F238E27FC236}">
                <a16:creationId xmlns:a16="http://schemas.microsoft.com/office/drawing/2014/main" id="{C008B0E4-0494-422D-86C8-899DE3FCA061}"/>
              </a:ext>
            </a:extLst>
          </p:cNvPr>
          <p:cNvSpPr>
            <a:spLocks xmlns:a="http://schemas.openxmlformats.org/drawingml/2006/main" noGrp="1"/>
          </p:cNvSpPr>
          <p:nvPr/>
        </p:nvSpPr>
        <p:spPr>
          <a:xfrm xmlns:a="http://schemas.openxmlformats.org/drawingml/2006/main">
            <a:off x="812800" y="6019800"/>
            <a:ext cx="10883393" cy="4572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680"/>
              </a:lnSpc>
              <a:buNone/>
              <a:defRPr sz="1200" b="0" i="0">
                <a:solidFill>
                  <a:srgbClr val="6B7D84"/>
                </a:solidFill>
                <a:latin typeface="Arial"/>
                <a:ea typeface="Arial"/>
                <a:cs typeface="Arial"/>
              </a:defRPr>
            </a:pPr>
            <a:r>
              <a:rPr sz="1200" b="0" i="0">
                <a:solidFill>
                  <a:srgbClr val="6B7D84"/>
                </a:solidFill>
                <a:latin typeface="Arial"/>
                <a:ea typeface="Arial"/>
                <a:cs typeface="Arial"/>
              </a:rPr>
              <a:t>① Selected30. ② Input288 / 24 images. ③ Avg64; native − random (3-seed mean).</a:t>
            </a:r>
          </a:p>
          <a:p xmlns:a="http://schemas.openxmlformats.org/drawingml/2006/main">
            <a:pPr marL="0" indent="0" algn="l">
              <a:lnSpc>
                <a:spcPts val="1680"/>
              </a:lnSpc>
              <a:buNone/>
              <a:defRPr sz="1200" b="0" i="0">
                <a:solidFill>
                  <a:srgbClr val="6B7D84"/>
                </a:solidFill>
                <a:latin typeface="Arial"/>
                <a:ea typeface="Arial"/>
                <a:cs typeface="Arial"/>
              </a:defRPr>
            </a:pPr>
            <a:r>
              <a:rPr sz="1200" b="0" i="0">
                <a:solidFill>
                  <a:srgbClr val="6B7D84"/>
                </a:solidFill>
                <a:latin typeface="Arial"/>
                <a:ea typeface="Arial"/>
                <a:cs typeface="Arial"/>
              </a:rPr>
              <a:t>TextVQA: consensus; others: accuracy. ④ Avg192 vs. full576. Sources: saved RQ1/RQ2 records. · 3 / 5</a:t>
            </a:r>
          </a:p>
        </p:txBody>
      </p:sp>
    </p:spTree>
    <p:extLst>
      <p:ext uri="{BB962C8B-B14F-4D97-AF65-F5344CB8AC3E}">
        <p14:creationId xmlns:p14="http://schemas.microsoft.com/office/powerpoint/2010/main" val="849209356"/>
      </p:ext>
    </p:extLst>
  </p:cSld>
</p:sld>
</file>

<file path=ppt/slides/slide4.xml><?xml version="1.0" encoding="utf-8"?>
<p:sld xmlns:p="http://schemas.openxmlformats.org/presentationml/2006/main">
  <p:cSld>
    <p:bg>
      <p:bgPr>
        <a:solidFill xmlns:a="http://schemas.openxmlformats.org/drawingml/2006/main">
          <a:srgbClr val="EAF2F1"/>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B587FCF-A201-4B21-AB21-3B083ECE29AB}"/>
              </a:ext>
            </a:extLst>
          </p:cNvPr>
          <p:cNvSpPr>
            <a:spLocks xmlns:a="http://schemas.openxmlformats.org/drawingml/2006/main" noGrp="1"/>
          </p:cNvSpPr>
          <p:nvPr>
            <p:ph type="title" idx="0"/>
          </p:nvPr>
        </p:nvSpPr>
        <p:spPr>
          <a:xfrm xmlns:a="http://schemas.openxmlformats.org/drawingml/2006/main">
            <a:off x="812800" y="812800"/>
            <a:ext cx="10883393" cy="472423"/>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3520"/>
              </a:lnSpc>
              <a:buNone/>
            </a:pPr>
            <a:r>
              <a:rPr sz="3200" b="1" i="0">
                <a:solidFill>
                  <a:srgbClr val="0F4C5C"/>
                </a:solidFill>
                <a:latin typeface="Georgia"/>
                <a:ea typeface="Georgia"/>
                <a:cs typeface="Georgia"/>
              </a:rPr>
              <a:t>Roadblocks and fixes</a:t>
            </a:r>
          </a:p>
        </p:txBody>
      </p:sp>
      <p:sp>
        <p:nvSpPr>
          <p:cNvPr id="3" name="Text 1">
            <a:extLst xmlns:a="http://schemas.openxmlformats.org/drawingml/2006/main">
              <a:ext uri="{FF2B5EF4-FFF2-40B4-BE49-F238E27FC236}">
                <a16:creationId xmlns:a16="http://schemas.microsoft.com/office/drawing/2014/main" id="{316547E4-035C-4FA3-9E46-F83501F35D85}"/>
              </a:ext>
            </a:extLst>
          </p:cNvPr>
          <p:cNvSpPr>
            <a:spLocks xmlns:a="http://schemas.openxmlformats.org/drawingml/2006/main" noGrp="1"/>
          </p:cNvSpPr>
          <p:nvPr/>
        </p:nvSpPr>
        <p:spPr>
          <a:xfrm xmlns:a="http://schemas.openxmlformats.org/drawingml/2006/main">
            <a:off x="812800" y="1336022"/>
            <a:ext cx="10883393" cy="274297"/>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1960"/>
              </a:lnSpc>
              <a:buNone/>
              <a:defRPr sz="1400" b="0" i="0">
                <a:solidFill>
                  <a:srgbClr val="4A5E66"/>
                </a:solidFill>
                <a:latin typeface="Arial"/>
                <a:ea typeface="Arial"/>
                <a:cs typeface="Arial"/>
              </a:defRPr>
            </a:pPr>
            <a:r>
              <a:rPr sz="1400" b="0" i="0">
                <a:solidFill>
                  <a:srgbClr val="4A5E66"/>
                </a:solidFill>
                <a:latin typeface="Arial"/>
                <a:ea typeface="Arial"/>
                <a:cs typeface="Arial"/>
              </a:rPr>
              <a:t>A stable pipeline; remaining scientific limits are explicit</a:t>
            </a:r>
          </a:p>
        </p:txBody>
      </p:sp>
      <p:sp>
        <p:nvSpPr>
          <p:cNvPr id="4" name="Shape 2">
            <a:extLst xmlns:a="http://schemas.openxmlformats.org/drawingml/2006/main">
              <a:ext uri="{FF2B5EF4-FFF2-40B4-BE49-F238E27FC236}">
                <a16:creationId xmlns:a16="http://schemas.microsoft.com/office/drawing/2014/main" id="{A9DA8C8B-961D-4159-8743-CD5035AE0302}"/>
              </a:ext>
            </a:extLst>
          </p:cNvPr>
          <p:cNvSpPr>
            <a:spLocks xmlns:a="http://schemas.openxmlformats.org/drawingml/2006/main" noGrp="1"/>
          </p:cNvSpPr>
          <p:nvPr/>
        </p:nvSpPr>
        <p:spPr>
          <a:xfrm xmlns:a="http://schemas.openxmlformats.org/drawingml/2006/main">
            <a:off x="812800" y="1737320"/>
            <a:ext cx="10566401" cy="2742917"/>
          </a:xfrm>
          <a:prstGeom xmlns:a="http://schemas.openxmlformats.org/drawingml/2006/main" prst="roundRect">
            <a:avLst>
              <a:gd name="adj" fmla="val 2778"/>
            </a:avLst>
          </a:prstGeom>
          <a:solidFill xmlns:a="http://schemas.openxmlformats.org/drawingml/2006/main">
            <a:srgbClr val="FCFBF6"/>
          </a:solidFill>
        </p:spPr>
      </p:sp>
      <p:sp>
        <p:nvSpPr>
          <p:cNvPr id="5" name="Shape 3">
            <a:extLst xmlns:a="http://schemas.openxmlformats.org/drawingml/2006/main">
              <a:ext uri="{FF2B5EF4-FFF2-40B4-BE49-F238E27FC236}">
                <a16:creationId xmlns:a16="http://schemas.microsoft.com/office/drawing/2014/main" id="{97D75B5F-14E9-453F-BA63-458E5B655E56}"/>
              </a:ext>
            </a:extLst>
          </p:cNvPr>
          <p:cNvSpPr>
            <a:spLocks xmlns:a="http://schemas.openxmlformats.org/drawingml/2006/main" noGrp="1"/>
          </p:cNvSpPr>
          <p:nvPr/>
        </p:nvSpPr>
        <p:spPr>
          <a:xfrm xmlns:a="http://schemas.openxmlformats.org/drawingml/2006/main">
            <a:off x="812800" y="1737320"/>
            <a:ext cx="10566401" cy="2742917"/>
          </a:xfrm>
          <a:custGeom xmlns:a="http://schemas.openxmlformats.org/drawingml/2006/main">
            <a:rect l="l" t="t" r="r" b="b"/>
            <a:pathLst>
              <a:path w="10566401" h="2742917">
                <a:moveTo>
                  <a:pt x="76200" y="2742917"/>
                </a:moveTo>
                <a:lnTo>
                  <a:pt x="76200" y="2742917"/>
                </a:lnTo>
                <a:arcTo wR="76200" hR="76200" stAng="5400000" swAng="5400000"/>
                <a:lnTo>
                  <a:pt x="0" y="76200"/>
                </a:lnTo>
                <a:arcTo wR="76200" hR="76200" stAng="10800000" swAng="5400000"/>
                <a:lnTo>
                  <a:pt x="10490201" y="0"/>
                </a:lnTo>
                <a:arcTo wR="76200" hR="76200" stAng="16200000" swAng="5400000"/>
                <a:lnTo>
                  <a:pt x="10566401" y="76200"/>
                </a:lnTo>
                <a:arcTo wR="76200" hR="63500" stAng="0" swAng="-5400000"/>
                <a:lnTo>
                  <a:pt x="76200" y="12700"/>
                </a:lnTo>
                <a:arcTo wR="63500" hR="63500" stAng="16200000" swAng="-5400000"/>
                <a:lnTo>
                  <a:pt x="12700" y="2666717"/>
                </a:lnTo>
                <a:arcTo wR="63500" hR="76200" stAng="10800000" swAng="-5400000"/>
                <a:close/>
              </a:path>
            </a:pathLst>
          </a:custGeom>
          <a:solidFill xmlns:a="http://schemas.openxmlformats.org/drawingml/2006/main">
            <a:srgbClr val="141413">
              <a:alpha val="22000"/>
            </a:srgbClr>
          </a:solidFill>
        </p:spPr>
      </p:sp>
      <p:graphicFrame>
        <p:nvGraphicFramePr>
          <p:cNvPr id="13" name="Table 0"/>
          <p:cNvGraphicFramePr/>
          <p:nvPr/>
        </p:nvGraphicFramePr>
        <p:xfrm>
          <a:off xmlns:a="http://schemas.openxmlformats.org/drawingml/2006/main" x="825500" y="1750020"/>
          <a:ext xmlns:a="http://schemas.openxmlformats.org/drawingml/2006/main" cx="10553701" cy="2730217"/>
        </p:xfrm>
        <a:graphic xmlns:a="http://schemas.openxmlformats.org/drawingml/2006/main">
          <a:graphicData uri="http://schemas.openxmlformats.org/drawingml/2006/table">
            <a:tbl>
              <a:tblPr/>
              <a:tblGrid>
                <a:gridCol w="1899666"/>
                <a:gridCol w="3271647"/>
                <a:gridCol w="3693795"/>
                <a:gridCol w="1688592"/>
              </a:tblGrid>
              <a:tr h="332695">
                <a:tc>
                  <a:txBody>
                    <a:bodyPr/>
                    <a:lstStyle/>
                    <a:p>
                      <a:pPr marL="0" indent="0">
                        <a:lnSpc>
                          <a:spcPts val="1680"/>
                        </a:lnSpc>
                        <a:buNone/>
                      </a:pPr>
                      <a:r>
                        <a:rPr sz="1200" b="1">
                          <a:solidFill>
                            <a:srgbClr val="F7F4EA"/>
                          </a:solidFill>
                          <a:latin typeface="Arial"/>
                          <a:ea typeface="Arial"/>
                          <a:cs typeface="Arial"/>
                        </a:rPr>
                        <a:t>Roadblock</a:t>
                      </a:r>
                    </a:p>
                  </a:txBody>
                  <a:tcPr marL="53340" marR="53340" marT="53340" marB="53340" anchor="t">
                    <a:lnL w="0" cmpd="sng">
                      <a:noFill/>
                    </a:lnL>
                    <a:lnR w="12700" cmpd="sng">
                      <a:solidFill>
                        <a:srgbClr val="10404C"/>
                      </a:solidFill>
                      <a:prstDash val="solid"/>
                    </a:lnR>
                    <a:lnT w="0" cmpd="sng">
                      <a:noFill/>
                    </a:lnT>
                    <a:lnB w="12700" cmpd="sng">
                      <a:solidFill>
                        <a:srgbClr val="10404C"/>
                      </a:solidFill>
                      <a:prstDash val="solid"/>
                    </a:lnB>
                    <a:solidFill>
                      <a:srgbClr val="0F4C5C"/>
                    </a:solidFill>
                  </a:tcPr>
                </a:tc>
                <a:tc>
                  <a:txBody>
                    <a:bodyPr/>
                    <a:lstStyle/>
                    <a:p>
                      <a:pPr marL="0" indent="0">
                        <a:lnSpc>
                          <a:spcPts val="1680"/>
                        </a:lnSpc>
                        <a:buNone/>
                      </a:pPr>
                      <a:r>
                        <a:rPr sz="1200" b="1">
                          <a:solidFill>
                            <a:srgbClr val="F7F4EA"/>
                          </a:solidFill>
                          <a:latin typeface="Arial"/>
                          <a:ea typeface="Arial"/>
                          <a:cs typeface="Arial"/>
                        </a:rPr>
                        <a:t>Problem</a:t>
                      </a:r>
                    </a:p>
                  </a:txBody>
                  <a:tcPr marL="53340" marR="53340" marT="53340" marB="53340" anchor="t">
                    <a:lnL w="12700" cmpd="sng">
                      <a:solidFill>
                        <a:srgbClr val="10404C"/>
                      </a:solidFill>
                      <a:prstDash val="solid"/>
                    </a:lnL>
                    <a:lnR w="12700" cmpd="sng">
                      <a:solidFill>
                        <a:srgbClr val="10404C"/>
                      </a:solidFill>
                      <a:prstDash val="solid"/>
                    </a:lnR>
                    <a:lnT w="0" cmpd="sng">
                      <a:noFill/>
                    </a:lnT>
                    <a:lnB w="12700" cmpd="sng">
                      <a:solidFill>
                        <a:srgbClr val="10404C"/>
                      </a:solidFill>
                      <a:prstDash val="solid"/>
                    </a:lnB>
                    <a:solidFill>
                      <a:srgbClr val="0F4C5C"/>
                    </a:solidFill>
                  </a:tcPr>
                </a:tc>
                <a:tc>
                  <a:txBody>
                    <a:bodyPr/>
                    <a:lstStyle/>
                    <a:p>
                      <a:pPr marL="0" indent="0">
                        <a:lnSpc>
                          <a:spcPts val="1680"/>
                        </a:lnSpc>
                        <a:buNone/>
                      </a:pPr>
                      <a:r>
                        <a:rPr sz="1200" b="1">
                          <a:solidFill>
                            <a:srgbClr val="F7F4EA"/>
                          </a:solidFill>
                          <a:latin typeface="Arial"/>
                          <a:ea typeface="Arial"/>
                          <a:cs typeface="Arial"/>
                        </a:rPr>
                        <a:t>Action</a:t>
                      </a:r>
                    </a:p>
                  </a:txBody>
                  <a:tcPr marL="53340" marR="53340" marT="53340" marB="53340" anchor="t">
                    <a:lnL w="12700" cmpd="sng">
                      <a:solidFill>
                        <a:srgbClr val="10404C"/>
                      </a:solidFill>
                      <a:prstDash val="solid"/>
                    </a:lnL>
                    <a:lnR w="12700" cmpd="sng">
                      <a:solidFill>
                        <a:srgbClr val="10404C"/>
                      </a:solidFill>
                      <a:prstDash val="solid"/>
                    </a:lnR>
                    <a:lnT w="0" cmpd="sng">
                      <a:noFill/>
                    </a:lnT>
                    <a:lnB w="12700" cmpd="sng">
                      <a:solidFill>
                        <a:srgbClr val="10404C"/>
                      </a:solidFill>
                      <a:prstDash val="solid"/>
                    </a:lnB>
                    <a:solidFill>
                      <a:srgbClr val="0F4C5C"/>
                    </a:solidFill>
                  </a:tcPr>
                </a:tc>
                <a:tc>
                  <a:txBody>
                    <a:bodyPr/>
                    <a:lstStyle/>
                    <a:p>
                      <a:pPr marL="0" indent="0">
                        <a:lnSpc>
                          <a:spcPts val="1680"/>
                        </a:lnSpc>
                        <a:buNone/>
                      </a:pPr>
                      <a:r>
                        <a:rPr sz="1200" b="1">
                          <a:solidFill>
                            <a:srgbClr val="F7F4EA"/>
                          </a:solidFill>
                          <a:latin typeface="Arial"/>
                          <a:ea typeface="Arial"/>
                          <a:cs typeface="Arial"/>
                        </a:rPr>
                        <a:t>Status</a:t>
                      </a:r>
                    </a:p>
                  </a:txBody>
                  <a:tcPr marL="53340" marR="53340" marT="53340" marB="53340" anchor="t">
                    <a:lnL w="12700" cmpd="sng">
                      <a:solidFill>
                        <a:srgbClr val="10404C"/>
                      </a:solidFill>
                      <a:prstDash val="solid"/>
                    </a:lnL>
                    <a:lnR w="12700" cmpd="sng">
                      <a:solidFill>
                        <a:srgbClr val="10404C"/>
                      </a:solidFill>
                      <a:prstDash val="solid"/>
                    </a:lnR>
                    <a:lnT w="0" cmpd="sng">
                      <a:noFill/>
                    </a:lnT>
                    <a:lnB w="12700" cmpd="sng">
                      <a:solidFill>
                        <a:srgbClr val="10404C"/>
                      </a:solidFill>
                      <a:prstDash val="solid"/>
                    </a:lnB>
                    <a:solidFill>
                      <a:srgbClr val="0F4C5C"/>
                    </a:solidFill>
                  </a:tcPr>
                </a:tc>
              </a:tr>
              <a:tr h="546043">
                <a:tc>
                  <a:txBody>
                    <a:bodyPr/>
                    <a:lstStyle/>
                    <a:p>
                      <a:pPr marL="0" indent="0">
                        <a:lnSpc>
                          <a:spcPts val="1680"/>
                        </a:lnSpc>
                        <a:buNone/>
                      </a:pPr>
                      <a:r>
                        <a:rPr sz="1200">
                          <a:solidFill>
                            <a:srgbClr val="1C3540"/>
                          </a:solidFill>
                          <a:latin typeface="Arial"/>
                          <a:ea typeface="Arial"/>
                          <a:cs typeface="Arial"/>
                        </a:rPr>
                        <a:t>Integration</a:t>
                      </a:r>
                    </a:p>
                  </a:txBody>
                  <a:tcPr marL="53340" marR="53340" marT="53340" marB="53340" anchor="t">
                    <a:lnL w="0" cmpd="sng">
                      <a:noFill/>
                    </a:lnL>
                    <a:lnR w="12700" cmpd="sng">
                      <a:solidFill>
                        <a:srgbClr val="C9C8C4"/>
                      </a:solidFill>
                      <a:prstDash val="solid"/>
                    </a:lnR>
                    <a:lnT w="12700" cmpd="sng">
                      <a:solidFill>
                        <a:srgbClr val="10404C"/>
                      </a:solidFill>
                      <a:prstDash val="solid"/>
                    </a:lnT>
                    <a:lnB w="12700" cmpd="sng">
                      <a:solidFill>
                        <a:srgbClr val="C9C8C4"/>
                      </a:solidFill>
                      <a:prstDash val="solid"/>
                    </a:lnB>
                  </a:tcPr>
                </a:tc>
                <a:tc>
                  <a:txBody>
                    <a:bodyPr/>
                    <a:lstStyle/>
                    <a:p>
                      <a:pPr marL="0" indent="0">
                        <a:lnSpc>
                          <a:spcPts val="1680"/>
                        </a:lnSpc>
                        <a:buNone/>
                      </a:pPr>
                      <a:r>
                        <a:rPr sz="1200">
                          <a:solidFill>
                            <a:srgbClr val="1C3540"/>
                          </a:solidFill>
                          <a:latin typeface="Arial"/>
                          <a:ea typeface="Arial"/>
                          <a:cs typeface="Arial"/>
                        </a:rPr>
                        <a:t>Kaggle package drift</a:t>
                      </a:r>
                    </a:p>
                  </a:txBody>
                  <a:tcPr marL="53340" marR="53340" marT="53340" marB="53340" anchor="t">
                    <a:lnL w="12700" cmpd="sng">
                      <a:solidFill>
                        <a:srgbClr val="C9C8C4"/>
                      </a:solidFill>
                      <a:prstDash val="solid"/>
                    </a:lnL>
                    <a:lnR w="12700" cmpd="sng">
                      <a:solidFill>
                        <a:srgbClr val="C9C8C4"/>
                      </a:solidFill>
                      <a:prstDash val="solid"/>
                    </a:lnR>
                    <a:lnT w="12700" cmpd="sng">
                      <a:solidFill>
                        <a:srgbClr val="10404C"/>
                      </a:solidFill>
                      <a:prstDash val="solid"/>
                    </a:lnT>
                    <a:lnB w="12700" cmpd="sng">
                      <a:solidFill>
                        <a:srgbClr val="C9C8C4"/>
                      </a:solidFill>
                      <a:prstDash val="solid"/>
                    </a:lnB>
                  </a:tcPr>
                </a:tc>
                <a:tc>
                  <a:txBody>
                    <a:bodyPr/>
                    <a:lstStyle/>
                    <a:p>
                      <a:pPr marL="0" indent="0">
                        <a:lnSpc>
                          <a:spcPts val="1680"/>
                        </a:lnSpc>
                        <a:buNone/>
                      </a:pPr>
                      <a:r>
                        <a:rPr sz="1200">
                          <a:solidFill>
                            <a:srgbClr val="1C3540"/>
                          </a:solidFill>
                          <a:latin typeface="Arial"/>
                          <a:ea typeface="Arial"/>
                          <a:cs typeface="Arial"/>
                        </a:rPr>
                        <a:t>Locked native environment</a:t>
                      </a:r>
                    </a:p>
                  </a:txBody>
                  <a:tcPr marL="53340" marR="53340" marT="53340" marB="53340" anchor="t">
                    <a:lnL w="12700" cmpd="sng">
                      <a:solidFill>
                        <a:srgbClr val="C9C8C4"/>
                      </a:solidFill>
                      <a:prstDash val="solid"/>
                    </a:lnL>
                    <a:lnR w="12700" cmpd="sng">
                      <a:solidFill>
                        <a:srgbClr val="C9C8C4"/>
                      </a:solidFill>
                      <a:prstDash val="solid"/>
                    </a:lnR>
                    <a:lnT w="12700" cmpd="sng">
                      <a:solidFill>
                        <a:srgbClr val="10404C"/>
                      </a:solidFill>
                      <a:prstDash val="solid"/>
                    </a:lnT>
                    <a:lnB w="12700" cmpd="sng">
                      <a:solidFill>
                        <a:srgbClr val="C9C8C4"/>
                      </a:solidFill>
                      <a:prstDash val="solid"/>
                    </a:lnB>
                  </a:tcPr>
                </a:tc>
                <a:tc>
                  <a:txBody>
                    <a:bodyPr/>
                    <a:lstStyle/>
                    <a:p>
                      <a:pPr marL="0" indent="0">
                        <a:lnSpc>
                          <a:spcPts val="1680"/>
                        </a:lnSpc>
                        <a:buNone/>
                      </a:pPr>
                      <a:r>
                        <a:rPr sz="1200">
                          <a:solidFill>
                            <a:srgbClr val="1F6B45"/>
                          </a:solidFill>
                          <a:latin typeface="Arial"/>
                          <a:ea typeface="Arial"/>
                          <a:cs typeface="Arial"/>
                        </a:rPr>
                        <a:t>Resolved</a:t>
                      </a:r>
                    </a:p>
                  </a:txBody>
                  <a:tcPr marL="53340" marR="53340" marT="53340" marB="53340" anchor="t">
                    <a:lnL w="12700" cmpd="sng">
                      <a:solidFill>
                        <a:srgbClr val="C9C8C4"/>
                      </a:solidFill>
                      <a:prstDash val="solid"/>
                    </a:lnL>
                    <a:lnR w="12700" cmpd="sng">
                      <a:solidFill>
                        <a:srgbClr val="C9C8C4"/>
                      </a:solidFill>
                      <a:prstDash val="solid"/>
                    </a:lnR>
                    <a:lnT w="12700" cmpd="sng">
                      <a:solidFill>
                        <a:srgbClr val="10404C"/>
                      </a:solidFill>
                      <a:prstDash val="solid"/>
                    </a:lnT>
                    <a:lnB w="12700" cmpd="sng">
                      <a:solidFill>
                        <a:srgbClr val="C9C8C4"/>
                      </a:solidFill>
                      <a:prstDash val="solid"/>
                    </a:lnB>
                  </a:tcPr>
                </a:tc>
              </a:tr>
              <a:tr h="759392">
                <a:tc>
                  <a:txBody>
                    <a:bodyPr/>
                    <a:lstStyle/>
                    <a:p>
                      <a:pPr marL="0" indent="0">
                        <a:lnSpc>
                          <a:spcPts val="1680"/>
                        </a:lnSpc>
                        <a:buNone/>
                      </a:pPr>
                      <a:r>
                        <a:rPr sz="1200">
                          <a:solidFill>
                            <a:srgbClr val="1C3540"/>
                          </a:solidFill>
                          <a:latin typeface="Arial"/>
                          <a:ea typeface="Arial"/>
                          <a:cs typeface="Arial"/>
                        </a:rPr>
                        <a:t>Run-to-run variation</a:t>
                      </a:r>
                    </a:p>
                  </a:txBody>
                  <a:tcPr marL="53340" marR="53340" marT="53340" marB="53340" anchor="t">
                    <a:lnL w="0" cmpd="sng">
                      <a:noFill/>
                    </a:lnL>
                    <a:lnR w="12700" cmpd="sng">
                      <a:solidFill>
                        <a:srgbClr val="C9C8C4"/>
                      </a:solidFill>
                      <a:prstDash val="solid"/>
                    </a:lnR>
                    <a:lnT w="12700" cmpd="sng">
                      <a:solidFill>
                        <a:srgbClr val="C9C8C4"/>
                      </a:solidFill>
                      <a:prstDash val="solid"/>
                    </a:lnT>
                    <a:lnB w="12700" cmpd="sng">
                      <a:solidFill>
                        <a:srgbClr val="C9C8C4"/>
                      </a:solidFill>
                      <a:prstDash val="solid"/>
                    </a:lnB>
                  </a:tcPr>
                </a:tc>
                <a:tc>
                  <a:txBody>
                    <a:bodyPr/>
                    <a:lstStyle/>
                    <a:p>
                      <a:pPr marL="0" indent="0">
                        <a:lnSpc>
                          <a:spcPts val="1680"/>
                        </a:lnSpc>
                        <a:buNone/>
                      </a:pPr>
                      <a:r>
                        <a:rPr sz="1200">
                          <a:solidFill>
                            <a:srgbClr val="1C3540"/>
                          </a:solidFill>
                          <a:latin typeface="Arial"/>
                          <a:ea typeface="Arial"/>
                          <a:cs typeface="Arial"/>
                        </a:rPr>
                        <a:t>Fresh encodes vary; saved-feature replays agree.</a:t>
                      </a:r>
                    </a:p>
                  </a:txBody>
                  <a:tcPr marL="53340" marR="53340" marT="53340" marB="53340" anchor="t">
                    <a:lnL w="12700" cmpd="sng">
                      <a:solidFill>
                        <a:srgbClr val="C9C8C4"/>
                      </a:solidFill>
                      <a:prstDash val="solid"/>
                    </a:lnL>
                    <a:lnR w="12700" cmpd="sng">
                      <a:solidFill>
                        <a:srgbClr val="C9C8C4"/>
                      </a:solidFill>
                      <a:prstDash val="solid"/>
                    </a:lnR>
                    <a:lnT w="12700" cmpd="sng">
                      <a:solidFill>
                        <a:srgbClr val="C9C8C4"/>
                      </a:solidFill>
                      <a:prstDash val="solid"/>
                    </a:lnT>
                    <a:lnB w="12700" cmpd="sng">
                      <a:solidFill>
                        <a:srgbClr val="C9C8C4"/>
                      </a:solidFill>
                      <a:prstDash val="solid"/>
                    </a:lnB>
                  </a:tcPr>
                </a:tc>
                <a:tc>
                  <a:txBody>
                    <a:bodyPr/>
                    <a:lstStyle/>
                    <a:p>
                      <a:pPr marL="0" indent="0">
                        <a:lnSpc>
                          <a:spcPts val="1680"/>
                        </a:lnSpc>
                        <a:buNone/>
                      </a:pPr>
                      <a:r>
                        <a:rPr sz="1200">
                          <a:solidFill>
                            <a:srgbClr val="1C3540"/>
                          </a:solidFill>
                          <a:latin typeface="Arial"/>
                          <a:ea typeface="Arial"/>
                          <a:cs typeface="Arial"/>
                        </a:rPr>
                        <a:t>Differences appear after merging; cause unconfirmed. Keep first captures; repeat critical cases.</a:t>
                      </a:r>
                    </a:p>
                  </a:txBody>
                  <a:tcPr marL="53340" marR="53340" marT="53340" marB="53340" anchor="t">
                    <a:lnL w="12700" cmpd="sng">
                      <a:solidFill>
                        <a:srgbClr val="C9C8C4"/>
                      </a:solidFill>
                      <a:prstDash val="solid"/>
                    </a:lnL>
                    <a:lnR w="12700" cmpd="sng">
                      <a:solidFill>
                        <a:srgbClr val="C9C8C4"/>
                      </a:solidFill>
                      <a:prstDash val="solid"/>
                    </a:lnR>
                    <a:lnT w="12700" cmpd="sng">
                      <a:solidFill>
                        <a:srgbClr val="C9C8C4"/>
                      </a:solidFill>
                      <a:prstDash val="solid"/>
                    </a:lnT>
                    <a:lnB w="12700" cmpd="sng">
                      <a:solidFill>
                        <a:srgbClr val="C9C8C4"/>
                      </a:solidFill>
                      <a:prstDash val="solid"/>
                    </a:lnB>
                  </a:tcPr>
                </a:tc>
                <a:tc>
                  <a:txBody>
                    <a:bodyPr/>
                    <a:lstStyle/>
                    <a:p>
                      <a:pPr marL="0" indent="0">
                        <a:lnSpc>
                          <a:spcPts val="1680"/>
                        </a:lnSpc>
                        <a:buNone/>
                      </a:pPr>
                      <a:r>
                        <a:rPr sz="1200">
                          <a:solidFill>
                            <a:srgbClr val="7A5A00"/>
                          </a:solidFill>
                          <a:latin typeface="Arial"/>
                          <a:ea typeface="Arial"/>
                          <a:cs typeface="Arial"/>
                        </a:rPr>
                        <a:t>Managed; cause open</a:t>
                      </a:r>
                    </a:p>
                  </a:txBody>
                  <a:tcPr marL="53340" marR="53340" marT="53340" marB="53340" anchor="t">
                    <a:lnL w="12700" cmpd="sng">
                      <a:solidFill>
                        <a:srgbClr val="C9C8C4"/>
                      </a:solidFill>
                      <a:prstDash val="solid"/>
                    </a:lnL>
                    <a:lnR w="12700" cmpd="sng">
                      <a:solidFill>
                        <a:srgbClr val="C9C8C4"/>
                      </a:solidFill>
                      <a:prstDash val="solid"/>
                    </a:lnR>
                    <a:lnT w="12700" cmpd="sng">
                      <a:solidFill>
                        <a:srgbClr val="C9C8C4"/>
                      </a:solidFill>
                      <a:prstDash val="solid"/>
                    </a:lnT>
                    <a:lnB w="12700" cmpd="sng">
                      <a:solidFill>
                        <a:srgbClr val="C9C8C4"/>
                      </a:solidFill>
                      <a:prstDash val="solid"/>
                    </a:lnB>
                  </a:tcPr>
                </a:tc>
              </a:tr>
              <a:tr h="546043">
                <a:tc>
                  <a:txBody>
                    <a:bodyPr/>
                    <a:lstStyle/>
                    <a:p>
                      <a:pPr marL="0" indent="0">
                        <a:lnSpc>
                          <a:spcPts val="1680"/>
                        </a:lnSpc>
                        <a:buNone/>
                      </a:pPr>
                      <a:r>
                        <a:rPr sz="1200">
                          <a:solidFill>
                            <a:srgbClr val="1C3540"/>
                          </a:solidFill>
                          <a:latin typeface="Arial"/>
                          <a:ea typeface="Arial"/>
                          <a:cs typeface="Arial"/>
                        </a:rPr>
                        <a:t>Selection bias</a:t>
                      </a:r>
                    </a:p>
                  </a:txBody>
                  <a:tcPr marL="53340" marR="53340" marT="53340" marB="53340" anchor="t">
                    <a:lnL w="0" cmpd="sng">
                      <a:noFill/>
                    </a:lnL>
                    <a:lnR w="12700" cmpd="sng">
                      <a:solidFill>
                        <a:srgbClr val="C9C8C4"/>
                      </a:solidFill>
                      <a:prstDash val="solid"/>
                    </a:lnR>
                    <a:lnT w="12700" cmpd="sng">
                      <a:solidFill>
                        <a:srgbClr val="C9C8C4"/>
                      </a:solidFill>
                      <a:prstDash val="solid"/>
                    </a:lnT>
                    <a:lnB w="12700" cmpd="sng">
                      <a:solidFill>
                        <a:srgbClr val="C9C8C4"/>
                      </a:solidFill>
                      <a:prstDash val="solid"/>
                    </a:lnB>
                  </a:tcPr>
                </a:tc>
                <a:tc>
                  <a:txBody>
                    <a:bodyPr/>
                    <a:lstStyle/>
                    <a:p>
                      <a:pPr marL="0" indent="0">
                        <a:lnSpc>
                          <a:spcPts val="1680"/>
                        </a:lnSpc>
                        <a:buNone/>
                      </a:pPr>
                      <a:r>
                        <a:rPr sz="1200">
                          <a:solidFill>
                            <a:srgbClr val="1C3540"/>
                          </a:solidFill>
                          <a:latin typeface="Arial"/>
                          <a:ea typeface="Arial"/>
                          <a:cs typeface="Arial"/>
                        </a:rPr>
                        <a:t>Diagnostic cases include known native failures.</a:t>
                      </a:r>
                    </a:p>
                  </a:txBody>
                  <a:tcPr marL="53340" marR="53340" marT="53340" marB="53340" anchor="t">
                    <a:lnL w="12700" cmpd="sng">
                      <a:solidFill>
                        <a:srgbClr val="C9C8C4"/>
                      </a:solidFill>
                      <a:prstDash val="solid"/>
                    </a:lnL>
                    <a:lnR w="12700" cmpd="sng">
                      <a:solidFill>
                        <a:srgbClr val="C9C8C4"/>
                      </a:solidFill>
                      <a:prstDash val="solid"/>
                    </a:lnR>
                    <a:lnT w="12700" cmpd="sng">
                      <a:solidFill>
                        <a:srgbClr val="C9C8C4"/>
                      </a:solidFill>
                      <a:prstDash val="solid"/>
                    </a:lnT>
                    <a:lnB w="12700" cmpd="sng">
                      <a:solidFill>
                        <a:srgbClr val="C9C8C4"/>
                      </a:solidFill>
                      <a:prstDash val="solid"/>
                    </a:lnB>
                  </a:tcPr>
                </a:tc>
                <a:tc>
                  <a:txBody>
                    <a:bodyPr/>
                    <a:lstStyle/>
                    <a:p>
                      <a:pPr marL="0" indent="0">
                        <a:lnSpc>
                          <a:spcPts val="1680"/>
                        </a:lnSpc>
                        <a:buNone/>
                      </a:pPr>
                      <a:r>
                        <a:rPr sz="1200">
                          <a:solidFill>
                            <a:srgbClr val="1C3540"/>
                          </a:solidFill>
                          <a:latin typeface="Arial"/>
                          <a:ea typeface="Arial"/>
                          <a:cs typeface="Arial"/>
                        </a:rPr>
                        <a:t>Use for case analysis; compare methods on outcome-unselected cohorts.</a:t>
                      </a:r>
                    </a:p>
                  </a:txBody>
                  <a:tcPr marL="53340" marR="53340" marT="53340" marB="53340" anchor="t">
                    <a:lnL w="12700" cmpd="sng">
                      <a:solidFill>
                        <a:srgbClr val="C9C8C4"/>
                      </a:solidFill>
                      <a:prstDash val="solid"/>
                    </a:lnL>
                    <a:lnR w="12700" cmpd="sng">
                      <a:solidFill>
                        <a:srgbClr val="C9C8C4"/>
                      </a:solidFill>
                      <a:prstDash val="solid"/>
                    </a:lnR>
                    <a:lnT w="12700" cmpd="sng">
                      <a:solidFill>
                        <a:srgbClr val="C9C8C4"/>
                      </a:solidFill>
                      <a:prstDash val="solid"/>
                    </a:lnT>
                    <a:lnB w="12700" cmpd="sng">
                      <a:solidFill>
                        <a:srgbClr val="C9C8C4"/>
                      </a:solidFill>
                      <a:prstDash val="solid"/>
                    </a:lnB>
                  </a:tcPr>
                </a:tc>
                <a:tc>
                  <a:txBody>
                    <a:bodyPr/>
                    <a:lstStyle/>
                    <a:p>
                      <a:pPr marL="0" indent="0">
                        <a:lnSpc>
                          <a:spcPts val="1680"/>
                        </a:lnSpc>
                        <a:buNone/>
                      </a:pPr>
                      <a:r>
                        <a:rPr sz="1200">
                          <a:solidFill>
                            <a:srgbClr val="7A5A00"/>
                          </a:solidFill>
                          <a:latin typeface="Arial"/>
                          <a:ea typeface="Arial"/>
                          <a:cs typeface="Arial"/>
                        </a:rPr>
                        <a:t>Limited scope</a:t>
                      </a:r>
                    </a:p>
                  </a:txBody>
                  <a:tcPr marL="53340" marR="53340" marT="53340" marB="53340" anchor="t">
                    <a:lnL w="12700" cmpd="sng">
                      <a:solidFill>
                        <a:srgbClr val="C9C8C4"/>
                      </a:solidFill>
                      <a:prstDash val="solid"/>
                    </a:lnL>
                    <a:lnR w="12700" cmpd="sng">
                      <a:solidFill>
                        <a:srgbClr val="C9C8C4"/>
                      </a:solidFill>
                      <a:prstDash val="solid"/>
                    </a:lnR>
                    <a:lnT w="12700" cmpd="sng">
                      <a:solidFill>
                        <a:srgbClr val="C9C8C4"/>
                      </a:solidFill>
                      <a:prstDash val="solid"/>
                    </a:lnT>
                    <a:lnB w="12700" cmpd="sng">
                      <a:solidFill>
                        <a:srgbClr val="C9C8C4"/>
                      </a:solidFill>
                      <a:prstDash val="solid"/>
                    </a:lnB>
                  </a:tcPr>
                </a:tc>
              </a:tr>
              <a:tr h="546043">
                <a:tc>
                  <a:txBody>
                    <a:bodyPr/>
                    <a:lstStyle/>
                    <a:p>
                      <a:pPr marL="0" indent="0">
                        <a:lnSpc>
                          <a:spcPts val="1680"/>
                        </a:lnSpc>
                        <a:buNone/>
                      </a:pPr>
                      <a:r>
                        <a:rPr sz="1200">
                          <a:solidFill>
                            <a:srgbClr val="1C3540"/>
                          </a:solidFill>
                          <a:latin typeface="Arial"/>
                          <a:ea typeface="Arial"/>
                          <a:cs typeface="Arial"/>
                        </a:rPr>
                        <a:t>Planning risk</a:t>
                      </a:r>
                    </a:p>
                  </a:txBody>
                  <a:tcPr marL="53340" marR="53340" marT="53340" marB="53340" anchor="t">
                    <a:lnL w="0" cmpd="sng">
                      <a:noFill/>
                    </a:lnL>
                    <a:lnR w="12700" cmpd="sng">
                      <a:solidFill>
                        <a:srgbClr val="C9C8C4"/>
                      </a:solidFill>
                      <a:prstDash val="solid"/>
                    </a:lnR>
                    <a:lnT w="12700" cmpd="sng">
                      <a:solidFill>
                        <a:srgbClr val="C9C8C4"/>
                      </a:solidFill>
                      <a:prstDash val="solid"/>
                    </a:lnT>
                    <a:lnB w="12700" cmpd="sng">
                      <a:solidFill>
                        <a:srgbClr val="C9C8C4"/>
                      </a:solidFill>
                      <a:prstDash val="solid"/>
                    </a:lnB>
                  </a:tcPr>
                </a:tc>
                <a:tc>
                  <a:txBody>
                    <a:bodyPr/>
                    <a:lstStyle/>
                    <a:p>
                      <a:pPr marL="0" indent="0">
                        <a:lnSpc>
                          <a:spcPts val="1680"/>
                        </a:lnSpc>
                        <a:buNone/>
                      </a:pPr>
                      <a:r>
                        <a:rPr sz="1200">
                          <a:solidFill>
                            <a:srgbClr val="1C3540"/>
                          </a:solidFill>
                          <a:latin typeface="Arial"/>
                          <a:ea typeface="Arial"/>
                          <a:cs typeface="Arial"/>
                        </a:rPr>
                        <a:t>Component attribution remains open.</a:t>
                      </a:r>
                    </a:p>
                  </a:txBody>
                  <a:tcPr marL="53340" marR="53340" marT="53340" marB="53340" anchor="t">
                    <a:lnL w="12700" cmpd="sng">
                      <a:solidFill>
                        <a:srgbClr val="C9C8C4"/>
                      </a:solidFill>
                      <a:prstDash val="solid"/>
                    </a:lnL>
                    <a:lnR w="12700" cmpd="sng">
                      <a:solidFill>
                        <a:srgbClr val="C9C8C4"/>
                      </a:solidFill>
                      <a:prstDash val="solid"/>
                    </a:lnR>
                    <a:lnT w="12700" cmpd="sng">
                      <a:solidFill>
                        <a:srgbClr val="C9C8C4"/>
                      </a:solidFill>
                      <a:prstDash val="solid"/>
                    </a:lnT>
                    <a:lnB w="12700" cmpd="sng">
                      <a:solidFill>
                        <a:srgbClr val="C9C8C4"/>
                      </a:solidFill>
                      <a:prstDash val="solid"/>
                    </a:lnB>
                  </a:tcPr>
                </a:tc>
                <a:tc>
                  <a:txBody>
                    <a:bodyPr/>
                    <a:lstStyle/>
                    <a:p>
                      <a:pPr marL="0" indent="0">
                        <a:lnSpc>
                          <a:spcPts val="1680"/>
                        </a:lnSpc>
                        <a:buNone/>
                      </a:pPr>
                      <a:r>
                        <a:rPr sz="1200">
                          <a:solidFill>
                            <a:srgbClr val="1C3540"/>
                          </a:solidFill>
                          <a:latin typeface="Arial"/>
                          <a:ea typeface="Arial"/>
                          <a:cs typeface="Arial"/>
                        </a:rPr>
                        <a:t>One controlled comparison; negative results also count.</a:t>
                      </a:r>
                    </a:p>
                  </a:txBody>
                  <a:tcPr marL="53340" marR="53340" marT="53340" marB="53340" anchor="t">
                    <a:lnL w="12700" cmpd="sng">
                      <a:solidFill>
                        <a:srgbClr val="C9C8C4"/>
                      </a:solidFill>
                      <a:prstDash val="solid"/>
                    </a:lnL>
                    <a:lnR w="12700" cmpd="sng">
                      <a:solidFill>
                        <a:srgbClr val="C9C8C4"/>
                      </a:solidFill>
                      <a:prstDash val="solid"/>
                    </a:lnR>
                    <a:lnT w="12700" cmpd="sng">
                      <a:solidFill>
                        <a:srgbClr val="C9C8C4"/>
                      </a:solidFill>
                      <a:prstDash val="solid"/>
                    </a:lnT>
                    <a:lnB w="12700" cmpd="sng">
                      <a:solidFill>
                        <a:srgbClr val="C9C8C4"/>
                      </a:solidFill>
                      <a:prstDash val="solid"/>
                    </a:lnB>
                  </a:tcPr>
                </a:tc>
                <a:tc>
                  <a:txBody>
                    <a:bodyPr/>
                    <a:lstStyle/>
                    <a:p>
                      <a:pPr marL="0" indent="0">
                        <a:lnSpc>
                          <a:spcPts val="1680"/>
                        </a:lnSpc>
                        <a:buNone/>
                      </a:pPr>
                      <a:r>
                        <a:rPr sz="1200">
                          <a:solidFill>
                            <a:srgbClr val="7A5A00"/>
                          </a:solidFill>
                          <a:latin typeface="Arial"/>
                          <a:ea typeface="Arial"/>
                          <a:cs typeface="Arial"/>
                        </a:rPr>
                        <a:t>Open</a:t>
                      </a:r>
                    </a:p>
                  </a:txBody>
                  <a:tcPr marL="53340" marR="53340" marT="53340" marB="53340" anchor="t">
                    <a:lnL w="12700" cmpd="sng">
                      <a:solidFill>
                        <a:srgbClr val="C9C8C4"/>
                      </a:solidFill>
                      <a:prstDash val="solid"/>
                    </a:lnL>
                    <a:lnR w="12700" cmpd="sng">
                      <a:solidFill>
                        <a:srgbClr val="C9C8C4"/>
                      </a:solidFill>
                      <a:prstDash val="solid"/>
                    </a:lnR>
                    <a:lnT w="12700" cmpd="sng">
                      <a:solidFill>
                        <a:srgbClr val="C9C8C4"/>
                      </a:solidFill>
                      <a:prstDash val="solid"/>
                    </a:lnT>
                    <a:lnB w="12700" cmpd="sng">
                      <a:solidFill>
                        <a:srgbClr val="C9C8C4"/>
                      </a:solidFill>
                      <a:prstDash val="solid"/>
                    </a:lnB>
                  </a:tcPr>
                </a:tc>
              </a:tr>
            </a:tbl>
          </a:graphicData>
        </a:graphic>
      </p:graphicFrame>
      <p:sp>
        <p:nvSpPr>
          <p:cNvPr id="7" name="Text 4">
            <a:extLst xmlns:a="http://schemas.openxmlformats.org/drawingml/2006/main">
              <a:ext uri="{FF2B5EF4-FFF2-40B4-BE49-F238E27FC236}">
                <a16:creationId xmlns:a16="http://schemas.microsoft.com/office/drawing/2014/main" id="{00886127-2CE4-4319-820F-874AB8FF097F}"/>
              </a:ext>
            </a:extLst>
          </p:cNvPr>
          <p:cNvSpPr>
            <a:spLocks xmlns:a="http://schemas.openxmlformats.org/drawingml/2006/main" noGrp="1"/>
          </p:cNvSpPr>
          <p:nvPr/>
        </p:nvSpPr>
        <p:spPr>
          <a:xfrm xmlns:a="http://schemas.openxmlformats.org/drawingml/2006/main">
            <a:off x="812800" y="6238250"/>
            <a:ext cx="10883393" cy="238749"/>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1680"/>
              </a:lnSpc>
              <a:buNone/>
              <a:defRPr sz="1200" b="0" i="0">
                <a:solidFill>
                  <a:srgbClr val="6B7D84"/>
                </a:solidFill>
                <a:latin typeface="Arial"/>
                <a:ea typeface="Arial"/>
                <a:cs typeface="Arial"/>
              </a:defRPr>
            </a:pPr>
            <a:r>
              <a:rPr sz="1200" b="0" i="0">
                <a:solidFill>
                  <a:srgbClr val="6B7D84"/>
                </a:solidFill>
                <a:latin typeface="Arial"/>
                <a:ea typeface="Arial"/>
                <a:cs typeface="Arial"/>
              </a:rPr>
              <a:t>FP16 accumulation is a candidate explanation, not a confirmed root cause. Fixed-feature replay and fresh-run repeatability are different checks. · 4 / 5</a:t>
            </a:r>
          </a:p>
        </p:txBody>
      </p:sp>
    </p:spTree>
    <p:extLst>
      <p:ext uri="{BB962C8B-B14F-4D97-AF65-F5344CB8AC3E}">
        <p14:creationId xmlns:p14="http://schemas.microsoft.com/office/powerpoint/2010/main" val="1617706787"/>
      </p:ext>
    </p:extLst>
  </p:cSld>
</p:sld>
</file>

<file path=ppt/slides/slide5.xml><?xml version="1.0" encoding="utf-8"?>
<p:sld xmlns:p="http://schemas.openxmlformats.org/presentationml/2006/main">
  <p:cSld>
    <p:bg>
      <p:bgPr>
        <a:solidFill xmlns:a="http://schemas.openxmlformats.org/drawingml/2006/main">
          <a:srgbClr val="0F4C5C"/>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6FC44C55-6167-47A7-9365-47F79AD414BE}"/>
              </a:ext>
            </a:extLst>
          </p:cNvPr>
          <p:cNvSpPr>
            <a:spLocks xmlns:a="http://schemas.openxmlformats.org/drawingml/2006/main" noGrp="1"/>
          </p:cNvSpPr>
          <p:nvPr>
            <p:ph type="title" idx="0"/>
          </p:nvPr>
        </p:nvSpPr>
        <p:spPr>
          <a:xfrm xmlns:a="http://schemas.openxmlformats.org/drawingml/2006/main">
            <a:off x="812800" y="812800"/>
            <a:ext cx="10883393" cy="472423"/>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3520"/>
              </a:lnSpc>
              <a:buNone/>
              <a:defRPr sz="3200" b="1" i="0">
                <a:solidFill>
                  <a:srgbClr val="F7F4EA"/>
                </a:solidFill>
                <a:latin typeface="Georgia"/>
                <a:ea typeface="Georgia"/>
                <a:cs typeface="Georgia"/>
              </a:defRPr>
            </a:pPr>
            <a:r>
              <a:rPr sz="3200" b="1" i="0">
                <a:solidFill>
                  <a:srgbClr val="F7F4EA"/>
                </a:solidFill>
                <a:latin typeface="Georgia"/>
                <a:ea typeface="Georgia"/>
                <a:cs typeface="Georgia"/>
              </a:rPr>
              <a:t>Next steps: explain first, then explore</a:t>
            </a:r>
          </a:p>
        </p:txBody>
      </p:sp>
      <p:sp>
        <p:nvSpPr>
          <p:cNvPr id="3" name="Shape 1">
            <a:extLst xmlns:a="http://schemas.openxmlformats.org/drawingml/2006/main">
              <a:ext uri="{FF2B5EF4-FFF2-40B4-BE49-F238E27FC236}">
                <a16:creationId xmlns:a16="http://schemas.microsoft.com/office/drawing/2014/main" id="{E0A36BE2-8C49-4058-B1AB-B27B77D195F0}"/>
              </a:ext>
            </a:extLst>
          </p:cNvPr>
          <p:cNvSpPr>
            <a:spLocks xmlns:a="http://schemas.openxmlformats.org/drawingml/2006/main" noGrp="1"/>
          </p:cNvSpPr>
          <p:nvPr/>
        </p:nvSpPr>
        <p:spPr>
          <a:xfrm xmlns:a="http://schemas.openxmlformats.org/drawingml/2006/main">
            <a:off x="812800" y="1437624"/>
            <a:ext cx="3420524" cy="1946190"/>
          </a:xfrm>
          <a:prstGeom xmlns:a="http://schemas.openxmlformats.org/drawingml/2006/main" prst="roundRect">
            <a:avLst>
              <a:gd name="adj" fmla="val 3915"/>
            </a:avLst>
          </a:prstGeom>
          <a:solidFill xmlns:a="http://schemas.openxmlformats.org/drawingml/2006/main">
            <a:srgbClr val="175E6E"/>
          </a:solidFill>
        </p:spPr>
      </p:sp>
      <p:sp>
        <p:nvSpPr>
          <p:cNvPr id="4" name="Text 2">
            <a:extLst xmlns:a="http://schemas.openxmlformats.org/drawingml/2006/main">
              <a:ext uri="{FF2B5EF4-FFF2-40B4-BE49-F238E27FC236}">
                <a16:creationId xmlns:a16="http://schemas.microsoft.com/office/drawing/2014/main" id="{E70AA8E2-CB55-447A-9982-ACFF3A3A13B1}"/>
              </a:ext>
            </a:extLst>
          </p:cNvPr>
          <p:cNvSpPr>
            <a:spLocks xmlns:a="http://schemas.openxmlformats.org/drawingml/2006/main" noGrp="1"/>
          </p:cNvSpPr>
          <p:nvPr/>
        </p:nvSpPr>
        <p:spPr>
          <a:xfrm xmlns:a="http://schemas.openxmlformats.org/drawingml/2006/main">
            <a:off x="1016000" y="1640824"/>
            <a:ext cx="3104548" cy="256523"/>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1820"/>
              </a:lnSpc>
              <a:buNone/>
              <a:defRPr sz="1300" b="1" i="0">
                <a:solidFill>
                  <a:srgbClr val="E9B949"/>
                </a:solidFill>
                <a:latin typeface="Arial"/>
                <a:ea typeface="Arial"/>
                <a:cs typeface="Arial"/>
              </a:defRPr>
            </a:pPr>
            <a:r>
              <a:rPr sz="1300" b="1" i="0">
                <a:solidFill>
                  <a:srgbClr val="E9B949"/>
                </a:solidFill>
                <a:latin typeface="Arial"/>
                <a:ea typeface="Arial"/>
                <a:cs typeface="Arial"/>
              </a:rPr>
              <a:t>01 · Separate the components</a:t>
            </a:r>
          </a:p>
        </p:txBody>
      </p:sp>
      <p:sp>
        <p:nvSpPr>
          <p:cNvPr id="5" name="Text 3">
            <a:extLst xmlns:a="http://schemas.openxmlformats.org/drawingml/2006/main">
              <a:ext uri="{FF2B5EF4-FFF2-40B4-BE49-F238E27FC236}">
                <a16:creationId xmlns:a16="http://schemas.microsoft.com/office/drawing/2014/main" id="{0D3E79BF-0F5F-4EA6-98A5-69BD5D12D96E}"/>
              </a:ext>
            </a:extLst>
          </p:cNvPr>
          <p:cNvSpPr>
            <a:spLocks xmlns:a="http://schemas.openxmlformats.org/drawingml/2006/main" noGrp="1"/>
          </p:cNvSpPr>
          <p:nvPr/>
        </p:nvSpPr>
        <p:spPr>
          <a:xfrm xmlns:a="http://schemas.openxmlformats.org/drawingml/2006/main">
            <a:off x="1016000" y="1948148"/>
            <a:ext cx="3104548" cy="269177"/>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1920"/>
              </a:lnSpc>
              <a:buNone/>
              <a:defRPr sz="1600" b="1" i="0">
                <a:solidFill>
                  <a:srgbClr val="F7F4EA"/>
                </a:solidFill>
                <a:latin typeface="Arial"/>
                <a:ea typeface="Arial"/>
                <a:cs typeface="Arial"/>
              </a:defRPr>
            </a:pPr>
            <a:r>
              <a:rPr sz="1600" b="1" i="0">
                <a:solidFill>
                  <a:srgbClr val="F7F4EA"/>
                </a:solidFill>
                <a:latin typeface="Arial"/>
                <a:ea typeface="Arial"/>
                <a:cs typeface="Arial"/>
              </a:rPr>
              <a:t>Which operation helps?</a:t>
            </a:r>
          </a:p>
        </p:txBody>
      </p:sp>
      <p:sp>
        <p:nvSpPr>
          <p:cNvPr id="6" name="Text 4">
            <a:extLst xmlns:a="http://schemas.openxmlformats.org/drawingml/2006/main">
              <a:ext uri="{FF2B5EF4-FFF2-40B4-BE49-F238E27FC236}">
                <a16:creationId xmlns:a16="http://schemas.microsoft.com/office/drawing/2014/main" id="{84FBF97A-81A3-4C45-AB44-933FB19C93FB}"/>
              </a:ext>
            </a:extLst>
          </p:cNvPr>
          <p:cNvSpPr>
            <a:spLocks xmlns:a="http://schemas.openxmlformats.org/drawingml/2006/main" noGrp="1"/>
          </p:cNvSpPr>
          <p:nvPr/>
        </p:nvSpPr>
        <p:spPr>
          <a:xfrm xmlns:a="http://schemas.openxmlformats.org/drawingml/2006/main">
            <a:off x="1016000" y="2324100"/>
            <a:ext cx="3104579"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1755"/>
              </a:lnSpc>
              <a:buNone/>
              <a:defRPr sz="1300" b="0" i="0">
                <a:solidFill>
                  <a:srgbClr val="CFE3E1"/>
                </a:solidFill>
                <a:latin typeface="Arial"/>
                <a:ea typeface="Arial"/>
                <a:cs typeface="Arial"/>
              </a:defRPr>
            </a:pPr>
            <a:r>
              <a:rPr sz="1300" b="0" i="0">
                <a:solidFill>
                  <a:srgbClr val="CFE3E1"/>
                </a:solidFill>
                <a:latin typeface="Arial"/>
                <a:ea typeface="Arial"/>
                <a:cs typeface="Arial"/>
              </a:rPr>
              <a:t>E vs. random: basis + merge rule fixed.</a:t>
            </a:r>
          </a:p>
          <a:p xmlns:a="http://schemas.openxmlformats.org/drawingml/2006/main">
            <a:pPr marL="0" indent="0" algn="l">
              <a:lnSpc>
                <a:spcPts val="1755"/>
              </a:lnSpc>
              <a:buNone/>
              <a:defRPr sz="1300" b="0" i="0">
                <a:solidFill>
                  <a:srgbClr val="CFE3E1"/>
                </a:solidFill>
                <a:latin typeface="Arial"/>
                <a:ea typeface="Arial"/>
                <a:cs typeface="Arial"/>
              </a:defRPr>
            </a:pPr>
            <a:r>
              <a:rPr sz="1300" b="0" i="0">
                <a:solidFill>
                  <a:srgbClr val="CFE3E1"/>
                </a:solidFill>
                <a:latin typeface="Arial"/>
                <a:ea typeface="Arial"/>
                <a:cs typeface="Arial"/>
              </a:rPr>
              <a:t>Merge vs. drop: selection fixed.</a:t>
            </a:r>
          </a:p>
          <a:p xmlns:a="http://schemas.openxmlformats.org/drawingml/2006/main">
            <a:pPr marL="0" indent="0" algn="l">
              <a:lnSpc>
                <a:spcPts val="1755"/>
              </a:lnSpc>
              <a:buNone/>
              <a:defRPr sz="1300" b="0" i="0">
                <a:solidFill>
                  <a:srgbClr val="CFE3E1"/>
                </a:solidFill>
                <a:latin typeface="Arial"/>
                <a:ea typeface="Arial"/>
                <a:cs typeface="Arial"/>
              </a:defRPr>
            </a:pPr>
            <a:r>
              <a:rPr sz="1300" b="0" i="0">
                <a:solidFill>
                  <a:srgbClr val="CFE3E1"/>
                </a:solidFill>
                <a:latin typeface="Arial"/>
                <a:ea typeface="Arial"/>
                <a:cs typeface="Arial"/>
              </a:rPr>
              <a:t>Use an outcome-unselected cohort.</a:t>
            </a:r>
          </a:p>
        </p:txBody>
      </p:sp>
      <p:sp>
        <p:nvSpPr>
          <p:cNvPr id="7" name="Shape 5">
            <a:extLst xmlns:a="http://schemas.openxmlformats.org/drawingml/2006/main">
              <a:ext uri="{FF2B5EF4-FFF2-40B4-BE49-F238E27FC236}">
                <a16:creationId xmlns:a16="http://schemas.microsoft.com/office/drawing/2014/main" id="{0012A8B2-4512-47B3-AF9A-CB1A86EFC9ED}"/>
              </a:ext>
            </a:extLst>
          </p:cNvPr>
          <p:cNvSpPr>
            <a:spLocks xmlns:a="http://schemas.openxmlformats.org/drawingml/2006/main" noGrp="1"/>
          </p:cNvSpPr>
          <p:nvPr/>
        </p:nvSpPr>
        <p:spPr>
          <a:xfrm xmlns:a="http://schemas.openxmlformats.org/drawingml/2006/main">
            <a:off x="4385724" y="1437624"/>
            <a:ext cx="3420552" cy="1946190"/>
          </a:xfrm>
          <a:prstGeom xmlns:a="http://schemas.openxmlformats.org/drawingml/2006/main" prst="roundRect">
            <a:avLst>
              <a:gd name="adj" fmla="val 3915"/>
            </a:avLst>
          </a:prstGeom>
          <a:solidFill xmlns:a="http://schemas.openxmlformats.org/drawingml/2006/main">
            <a:srgbClr val="175E6E"/>
          </a:solidFill>
        </p:spPr>
      </p:sp>
      <p:sp>
        <p:nvSpPr>
          <p:cNvPr id="8" name="Text 6">
            <a:extLst xmlns:a="http://schemas.openxmlformats.org/drawingml/2006/main">
              <a:ext uri="{FF2B5EF4-FFF2-40B4-BE49-F238E27FC236}">
                <a16:creationId xmlns:a16="http://schemas.microsoft.com/office/drawing/2014/main" id="{988488BB-1322-4AF6-8460-8D1B8177D0C6}"/>
              </a:ext>
            </a:extLst>
          </p:cNvPr>
          <p:cNvSpPr>
            <a:spLocks xmlns:a="http://schemas.openxmlformats.org/drawingml/2006/main" noGrp="1"/>
          </p:cNvSpPr>
          <p:nvPr/>
        </p:nvSpPr>
        <p:spPr>
          <a:xfrm xmlns:a="http://schemas.openxmlformats.org/drawingml/2006/main">
            <a:off x="4588924" y="1640824"/>
            <a:ext cx="3104577" cy="256523"/>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1820"/>
              </a:lnSpc>
              <a:buNone/>
              <a:defRPr sz="1300" b="1" i="0">
                <a:solidFill>
                  <a:srgbClr val="E9B949"/>
                </a:solidFill>
                <a:latin typeface="Arial"/>
                <a:ea typeface="Arial"/>
                <a:cs typeface="Arial"/>
              </a:defRPr>
            </a:pPr>
            <a:r>
              <a:rPr sz="1300" b="1" i="0">
                <a:solidFill>
                  <a:srgbClr val="E9B949"/>
                </a:solidFill>
                <a:latin typeface="Arial"/>
                <a:ea typeface="Arial"/>
                <a:cs typeface="Arial"/>
              </a:rPr>
              <a:t>02 · Roles of retained tokens</a:t>
            </a:r>
          </a:p>
        </p:txBody>
      </p:sp>
      <p:sp>
        <p:nvSpPr>
          <p:cNvPr id="9" name="Text 7">
            <a:extLst xmlns:a="http://schemas.openxmlformats.org/drawingml/2006/main">
              <a:ext uri="{FF2B5EF4-FFF2-40B4-BE49-F238E27FC236}">
                <a16:creationId xmlns:a16="http://schemas.microsoft.com/office/drawing/2014/main" id="{2712EC99-9BCB-416B-8E22-91ECAB0D880D}"/>
              </a:ext>
            </a:extLst>
          </p:cNvPr>
          <p:cNvSpPr>
            <a:spLocks xmlns:a="http://schemas.openxmlformats.org/drawingml/2006/main" noGrp="1"/>
          </p:cNvSpPr>
          <p:nvPr/>
        </p:nvSpPr>
        <p:spPr>
          <a:xfrm xmlns:a="http://schemas.openxmlformats.org/drawingml/2006/main">
            <a:off x="4588924" y="1948148"/>
            <a:ext cx="3104577" cy="269177"/>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1920"/>
              </a:lnSpc>
              <a:buNone/>
              <a:defRPr sz="1600" b="1" i="0">
                <a:solidFill>
                  <a:srgbClr val="F7F4EA"/>
                </a:solidFill>
                <a:latin typeface="Arial"/>
                <a:ea typeface="Arial"/>
                <a:cs typeface="Arial"/>
              </a:defRPr>
            </a:pPr>
            <a:r>
              <a:rPr sz="1600" b="1" i="0">
                <a:solidFill>
                  <a:srgbClr val="F7F4EA"/>
                </a:solidFill>
                <a:latin typeface="Arial"/>
                <a:ea typeface="Arial"/>
                <a:cs typeface="Arial"/>
              </a:rPr>
              <a:t>Who collects information?</a:t>
            </a:r>
          </a:p>
        </p:txBody>
      </p:sp>
      <p:sp>
        <p:nvSpPr>
          <p:cNvPr id="10" name="Text 8">
            <a:extLst xmlns:a="http://schemas.openxmlformats.org/drawingml/2006/main">
              <a:ext uri="{FF2B5EF4-FFF2-40B4-BE49-F238E27FC236}">
                <a16:creationId xmlns:a16="http://schemas.microsoft.com/office/drawing/2014/main" id="{E58074A2-9A22-4BE8-88E8-71154C826525}"/>
              </a:ext>
            </a:extLst>
          </p:cNvPr>
          <p:cNvSpPr>
            <a:spLocks xmlns:a="http://schemas.openxmlformats.org/drawingml/2006/main" noGrp="1"/>
          </p:cNvSpPr>
          <p:nvPr/>
        </p:nvSpPr>
        <p:spPr>
          <a:xfrm xmlns:a="http://schemas.openxmlformats.org/drawingml/2006/main">
            <a:off x="4588924" y="2324100"/>
            <a:ext cx="3104579"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755"/>
              </a:lnSpc>
              <a:buNone/>
              <a:defRPr sz="1300" b="0" i="0">
                <a:solidFill>
                  <a:srgbClr val="CFE3E1"/>
                </a:solidFill>
                <a:latin typeface="Arial"/>
                <a:ea typeface="Arial"/>
                <a:cs typeface="Arial"/>
              </a:defRPr>
            </a:pPr>
            <a:r>
              <a:rPr sz="1300" b="0" i="0">
                <a:solidFill>
                  <a:srgbClr val="CFE3E1"/>
                </a:solidFill>
                <a:latin typeface="Arial"/>
                <a:ea typeface="Arial"/>
                <a:cs typeface="Arial"/>
              </a:rPr>
              <a:t>Study merge loads and feature changes alongside answer turnover. Compare retained-token roles across stages and tasks.</a:t>
            </a:r>
          </a:p>
        </p:txBody>
      </p:sp>
      <p:sp>
        <p:nvSpPr>
          <p:cNvPr id="11" name="Shape 9">
            <a:extLst xmlns:a="http://schemas.openxmlformats.org/drawingml/2006/main">
              <a:ext uri="{FF2B5EF4-FFF2-40B4-BE49-F238E27FC236}">
                <a16:creationId xmlns:a16="http://schemas.microsoft.com/office/drawing/2014/main" id="{8514EC76-1D65-4CA8-8FEC-EABCE2946DFB}"/>
              </a:ext>
            </a:extLst>
          </p:cNvPr>
          <p:cNvSpPr>
            <a:spLocks xmlns:a="http://schemas.openxmlformats.org/drawingml/2006/main" noGrp="1"/>
          </p:cNvSpPr>
          <p:nvPr/>
        </p:nvSpPr>
        <p:spPr>
          <a:xfrm xmlns:a="http://schemas.openxmlformats.org/drawingml/2006/main">
            <a:off x="7958676" y="1437624"/>
            <a:ext cx="3420524" cy="1946190"/>
          </a:xfrm>
          <a:prstGeom xmlns:a="http://schemas.openxmlformats.org/drawingml/2006/main" prst="roundRect">
            <a:avLst>
              <a:gd name="adj" fmla="val 3915"/>
            </a:avLst>
          </a:prstGeom>
          <a:solidFill xmlns:a="http://schemas.openxmlformats.org/drawingml/2006/main">
            <a:srgbClr val="175E6E"/>
          </a:solidFill>
        </p:spPr>
      </p:sp>
      <p:sp>
        <p:nvSpPr>
          <p:cNvPr id="12" name="Text 10">
            <a:extLst xmlns:a="http://schemas.openxmlformats.org/drawingml/2006/main">
              <a:ext uri="{FF2B5EF4-FFF2-40B4-BE49-F238E27FC236}">
                <a16:creationId xmlns:a16="http://schemas.microsoft.com/office/drawing/2014/main" id="{3C993625-C4B4-4BE0-9EC7-B1C89DFBFCC0}"/>
              </a:ext>
            </a:extLst>
          </p:cNvPr>
          <p:cNvSpPr>
            <a:spLocks xmlns:a="http://schemas.openxmlformats.org/drawingml/2006/main" noGrp="1"/>
          </p:cNvSpPr>
          <p:nvPr/>
        </p:nvSpPr>
        <p:spPr>
          <a:xfrm xmlns:a="http://schemas.openxmlformats.org/drawingml/2006/main">
            <a:off x="8161876" y="1640824"/>
            <a:ext cx="3104548" cy="256523"/>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820"/>
              </a:lnSpc>
              <a:buNone/>
              <a:defRPr sz="1300" b="1" i="0">
                <a:solidFill>
                  <a:srgbClr val="E9B949"/>
                </a:solidFill>
                <a:latin typeface="Arial"/>
                <a:ea typeface="Arial"/>
                <a:cs typeface="Arial"/>
              </a:defRPr>
            </a:pPr>
            <a:r>
              <a:rPr sz="1300" b="1" i="0">
                <a:solidFill>
                  <a:srgbClr val="E9B949"/>
                </a:solidFill>
                <a:latin typeface="Arial"/>
                <a:ea typeface="Arial"/>
                <a:cs typeface="Arial"/>
              </a:rPr>
              <a:t>03 · RQ3 exploration</a:t>
            </a:r>
          </a:p>
        </p:txBody>
      </p:sp>
      <p:sp>
        <p:nvSpPr>
          <p:cNvPr id="13" name="Text 11">
            <a:extLst xmlns:a="http://schemas.openxmlformats.org/drawingml/2006/main">
              <a:ext uri="{FF2B5EF4-FFF2-40B4-BE49-F238E27FC236}">
                <a16:creationId xmlns:a16="http://schemas.microsoft.com/office/drawing/2014/main" id="{43A4F100-BB34-40D5-A186-7023C789C3A5}"/>
              </a:ext>
            </a:extLst>
          </p:cNvPr>
          <p:cNvSpPr>
            <a:spLocks xmlns:a="http://schemas.openxmlformats.org/drawingml/2006/main" noGrp="1"/>
          </p:cNvSpPr>
          <p:nvPr/>
        </p:nvSpPr>
        <p:spPr>
          <a:xfrm xmlns:a="http://schemas.openxmlformats.org/drawingml/2006/main">
            <a:off x="8161876" y="1948148"/>
            <a:ext cx="3104548" cy="269177"/>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920"/>
              </a:lnSpc>
              <a:buNone/>
              <a:defRPr sz="1600" b="1" i="0">
                <a:solidFill>
                  <a:srgbClr val="F7F4EA"/>
                </a:solidFill>
                <a:latin typeface="Arial"/>
                <a:ea typeface="Arial"/>
                <a:cs typeface="Arial"/>
              </a:defRPr>
            </a:pPr>
            <a:r>
              <a:rPr sz="1600" b="1" i="0">
                <a:solidFill>
                  <a:srgbClr val="F7F4EA"/>
                </a:solidFill>
                <a:latin typeface="Arial"/>
                <a:ea typeface="Arial"/>
                <a:cs typeface="Arial"/>
              </a:rPr>
              <a:t>A small improvement?</a:t>
            </a:r>
          </a:p>
        </p:txBody>
      </p:sp>
      <p:sp>
        <p:nvSpPr>
          <p:cNvPr id="14" name="Text 12">
            <a:extLst xmlns:a="http://schemas.openxmlformats.org/drawingml/2006/main">
              <a:ext uri="{FF2B5EF4-FFF2-40B4-BE49-F238E27FC236}">
                <a16:creationId xmlns:a16="http://schemas.microsoft.com/office/drawing/2014/main" id="{D292EDB5-52A0-4A23-8533-2272F257431D}"/>
              </a:ext>
            </a:extLst>
          </p:cNvPr>
          <p:cNvSpPr>
            <a:spLocks xmlns:a="http://schemas.openxmlformats.org/drawingml/2006/main" noGrp="1"/>
          </p:cNvSpPr>
          <p:nvPr/>
        </p:nvSpPr>
        <p:spPr>
          <a:xfrm xmlns:a="http://schemas.openxmlformats.org/drawingml/2006/main">
            <a:off x="8161876" y="2324100"/>
            <a:ext cx="3104579"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noAutofit/>
          </a:bodyPr>
          <a:lstStyle xmlns:a="http://schemas.openxmlformats.org/drawingml/2006/main"/>
          <a:p xmlns:a="http://schemas.openxmlformats.org/drawingml/2006/main">
            <a:pPr marL="0" indent="0" algn="l">
              <a:lnSpc>
                <a:spcPts val="1755"/>
              </a:lnSpc>
              <a:buNone/>
              <a:defRPr sz="1300" b="0" i="0">
                <a:solidFill>
                  <a:srgbClr val="CFE3E1"/>
                </a:solidFill>
                <a:latin typeface="Arial"/>
                <a:ea typeface="Arial"/>
                <a:cs typeface="Arial"/>
              </a:defRPr>
            </a:pPr>
            <a:r>
              <a:rPr sz="1300" b="0" i="0">
                <a:solidFill>
                  <a:srgbClr val="CFE3E1"/>
                </a:solidFill>
                <a:latin typeface="Arial"/>
                <a:ea typeface="Arial"/>
                <a:cs typeface="Arial"/>
              </a:rPr>
              <a:t>No fixed direction yet. Use RQ1/RQ2 evidence to choose and evaluate one modest change, if justified.</a:t>
            </a:r>
          </a:p>
        </p:txBody>
      </p:sp>
      <p:sp>
        <p:nvSpPr>
          <p:cNvPr id="15" name="Shape 13">
            <a:extLst xmlns:a="http://schemas.openxmlformats.org/drawingml/2006/main">
              <a:ext uri="{FF2B5EF4-FFF2-40B4-BE49-F238E27FC236}">
                <a16:creationId xmlns:a16="http://schemas.microsoft.com/office/drawing/2014/main" id="{F3003F1E-0C12-4E5E-8585-7206AB49B192}"/>
              </a:ext>
            </a:extLst>
          </p:cNvPr>
          <p:cNvSpPr>
            <a:spLocks xmlns:a="http://schemas.openxmlformats.org/drawingml/2006/main" noGrp="1"/>
          </p:cNvSpPr>
          <p:nvPr/>
        </p:nvSpPr>
        <p:spPr>
          <a:xfrm xmlns:a="http://schemas.openxmlformats.org/drawingml/2006/main">
            <a:off x="812800" y="3561615"/>
            <a:ext cx="10566401" cy="1146799"/>
          </a:xfrm>
          <a:prstGeom xmlns:a="http://schemas.openxmlformats.org/drawingml/2006/main" prst="roundRect">
            <a:avLst>
              <a:gd name="adj" fmla="val 6645"/>
            </a:avLst>
          </a:prstGeom>
          <a:solidFill xmlns:a="http://schemas.openxmlformats.org/drawingml/2006/main">
            <a:srgbClr val="E9B949"/>
          </a:solidFill>
        </p:spPr>
      </p:sp>
      <p:sp>
        <p:nvSpPr>
          <p:cNvPr id="16" name="Text 14">
            <a:extLst xmlns:a="http://schemas.openxmlformats.org/drawingml/2006/main">
              <a:ext uri="{FF2B5EF4-FFF2-40B4-BE49-F238E27FC236}">
                <a16:creationId xmlns:a16="http://schemas.microsoft.com/office/drawing/2014/main" id="{D2E2A0FA-55F7-4FE4-ACE3-A96B893A4113}"/>
              </a:ext>
            </a:extLst>
          </p:cNvPr>
          <p:cNvSpPr>
            <a:spLocks xmlns:a="http://schemas.openxmlformats.org/drawingml/2006/main" noGrp="1"/>
          </p:cNvSpPr>
          <p:nvPr/>
        </p:nvSpPr>
        <p:spPr>
          <a:xfrm xmlns:a="http://schemas.openxmlformats.org/drawingml/2006/main">
            <a:off x="1041400" y="3739415"/>
            <a:ext cx="10412477" cy="238749"/>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1680"/>
              </a:lnSpc>
              <a:buNone/>
              <a:defRPr sz="1200" b="1" i="0">
                <a:solidFill>
                  <a:srgbClr val="0F4C5C"/>
                </a:solidFill>
                <a:latin typeface="Arial"/>
                <a:ea typeface="Arial"/>
                <a:cs typeface="Arial"/>
              </a:defRPr>
            </a:pPr>
            <a:r>
              <a:rPr sz="1200" b="1" i="0">
                <a:solidFill>
                  <a:srgbClr val="0F4C5C"/>
                </a:solidFill>
                <a:latin typeface="Arial"/>
                <a:ea typeface="Arial"/>
                <a:cs typeface="Arial"/>
              </a:rPr>
              <a:t>SUCCESS CRITERION · RQ3 REMAINS CONDITIONAL</a:t>
            </a:r>
          </a:p>
        </p:txBody>
      </p:sp>
      <p:sp>
        <p:nvSpPr>
          <p:cNvPr id="17" name="Text 15">
            <a:extLst xmlns:a="http://schemas.openxmlformats.org/drawingml/2006/main">
              <a:ext uri="{FF2B5EF4-FFF2-40B4-BE49-F238E27FC236}">
                <a16:creationId xmlns:a16="http://schemas.microsoft.com/office/drawing/2014/main" id="{C7C620EF-04E2-4103-83E8-ADBCD3311976}"/>
              </a:ext>
            </a:extLst>
          </p:cNvPr>
          <p:cNvSpPr>
            <a:spLocks xmlns:a="http://schemas.openxmlformats.org/drawingml/2006/main" noGrp="1"/>
          </p:cNvSpPr>
          <p:nvPr/>
        </p:nvSpPr>
        <p:spPr>
          <a:xfrm xmlns:a="http://schemas.openxmlformats.org/drawingml/2006/main">
            <a:off x="1041400" y="4016263"/>
            <a:ext cx="10412477" cy="53975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gn="l">
              <a:lnSpc>
                <a:spcPts val="2025"/>
              </a:lnSpc>
              <a:buNone/>
              <a:defRPr sz="1500" b="0" i="0">
                <a:solidFill>
                  <a:srgbClr val="12343B"/>
                </a:solidFill>
                <a:latin typeface="Arial"/>
                <a:ea typeface="Arial"/>
                <a:cs typeface="Arial"/>
              </a:defRPr>
            </a:pPr>
            <a:r>
              <a:rPr sz="1500" b="0" i="0">
                <a:solidFill>
                  <a:srgbClr val="12343B"/>
                </a:solidFill>
                <a:latin typeface="Arial"/>
                <a:ea typeface="Arial"/>
                <a:cs typeface="Arial"/>
              </a:rPr>
              <a:t>One controlled comparison on ≥100 outcome-unselected questions: matched budgets, 3 random seeds and paired intervals. Negative results count; a small improvement is optional.</a:t>
            </a:r>
          </a:p>
        </p:txBody>
      </p:sp>
      <p:sp>
        <p:nvSpPr>
          <p:cNvPr id="18" name="Text 16">
            <a:extLst xmlns:a="http://schemas.openxmlformats.org/drawingml/2006/main">
              <a:ext uri="{FF2B5EF4-FFF2-40B4-BE49-F238E27FC236}">
                <a16:creationId xmlns:a16="http://schemas.microsoft.com/office/drawing/2014/main" id="{DE9E8758-0E40-49F2-B0C0-E917BF2A6341}"/>
              </a:ext>
            </a:extLst>
          </p:cNvPr>
          <p:cNvSpPr>
            <a:spLocks xmlns:a="http://schemas.openxmlformats.org/drawingml/2006/main" noGrp="1"/>
          </p:cNvSpPr>
          <p:nvPr/>
        </p:nvSpPr>
        <p:spPr>
          <a:xfrm xmlns:a="http://schemas.openxmlformats.org/drawingml/2006/main">
            <a:off x="812800" y="6238252"/>
            <a:ext cx="10883393" cy="238749"/>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a:bodyPr>
          <a:lstStyle xmlns:a="http://schemas.openxmlformats.org/drawingml/2006/main"/>
          <a:p xmlns:a="http://schemas.openxmlformats.org/drawingml/2006/main">
            <a:pPr marL="0" indent="0" algn="l">
              <a:lnSpc>
                <a:spcPts val="1680"/>
              </a:lnSpc>
              <a:buNone/>
            </a:pPr>
            <a:r>
              <a:rPr sz="1200">
                <a:solidFill>
                  <a:srgbClr val="CFE3E1"/>
                </a:solidFill>
                <a:latin typeface="Arial"/>
                <a:ea typeface="Arial"/>
                <a:cs typeface="Arial"/>
              </a:rPr>
              <a:t>Protocol Nov 6 · pilot Nov 13 · main run Nov 20 · RQ3 go/no-go Nov 24 · final Dec 15 · 5 / 5</a:t>
            </a:r>
          </a:p>
        </p:txBody>
      </p:sp>
    </p:spTree>
    <p:extLst>
      <p:ext uri="{BB962C8B-B14F-4D97-AF65-F5344CB8AC3E}">
        <p14:creationId xmlns:p14="http://schemas.microsoft.com/office/powerpoint/2010/main" val="621488111"/>
      </p:ext>
    </p:extLst>
  </p:cSld>
</p:sld>
</file>

<file path=ppt/theme/theme1.xml><?xml version="1.0" encoding="utf-8"?>
<a:theme xmlns:a="http://schemas.openxmlformats.org/drawingml/2006/main" name="ApET Midterm — 5 Slides">
  <a:themeElements>
    <a:clrScheme name="ApET Midterm — 5 Slides">
      <a:dk1>
        <a:srgbClr val="0F4C5C"/>
      </a:dk1>
      <a:lt1>
        <a:srgbClr val="F7F4EA"/>
      </a:lt1>
      <a:dk2>
        <a:srgbClr val="265D6A"/>
      </a:dk2>
      <a:lt2>
        <a:srgbClr val="BDCAC7"/>
      </a:lt2>
      <a:accent1>
        <a:srgbClr val="E9B949"/>
      </a:accent1>
      <a:accent2>
        <a:srgbClr val="5C4300"/>
      </a:accent2>
      <a:accent3>
        <a:srgbClr val="F6E3A8"/>
      </a:accent3>
      <a:accent4>
        <a:srgbClr val="D9A62B"/>
      </a:accent4>
      <a:accent5>
        <a:srgbClr val="0F6B6E"/>
      </a:accent5>
      <a:accent6>
        <a:srgbClr val="12343B"/>
      </a:accent6>
      <a:hlink>
        <a:srgbClr val="0563C1"/>
      </a:hlink>
      <a:folHlink>
        <a:srgbClr val="954F72"/>
      </a:folHlink>
    </a:clrScheme>
    <a:fontScheme name="ApET Midterm — 5 Slide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ApET Midterm — 5 Slide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2026-10-30T14:57:10.6930000Z</dcterms:created>
  <dcterms:modified xsi:type="dcterms:W3CDTF">2026-10-30T14:57:10.6930000Z</dcterms:modified>
</coreProperties>
</file>